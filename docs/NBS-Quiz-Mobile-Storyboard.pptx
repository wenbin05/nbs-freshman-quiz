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e42c40ff034b4b" /><Relationship Type="http://schemas.openxmlformats.org/officeDocument/2006/relationships/extended-properties" Target="/docProps/app.xml" Id="R1dcd19cfe86247b1" /><Relationship Type="http://schemas.openxmlformats.org/officeDocument/2006/relationships/officeDocument" Target="/ppt/presentation.xml" Id="R56dec6e282ee41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b7d379291e4cfb"/>
  </p:sldMasterIdLst>
  <p:notesMasterIdLst>
    <p:notesMasterId xmlns:r="http://schemas.openxmlformats.org/officeDocument/2006/relationships" r:id="R12d6e276cc7840aa"/>
  </p:notesMasterIdLst>
  <p:sldIdLst>
    <p:sldId xmlns:r="http://schemas.openxmlformats.org/officeDocument/2006/relationships" id="256" r:id="R106f4cd64dc946b1"/>
    <p:sldId xmlns:r="http://schemas.openxmlformats.org/officeDocument/2006/relationships" id="257" r:id="R90d9d8da6f954829"/>
    <p:sldId xmlns:r="http://schemas.openxmlformats.org/officeDocument/2006/relationships" id="258" r:id="R0463dd92e5084d02"/>
    <p:sldId xmlns:r="http://schemas.openxmlformats.org/officeDocument/2006/relationships" id="259" r:id="R20c897b0e4444dd3"/>
    <p:sldId xmlns:r="http://schemas.openxmlformats.org/officeDocument/2006/relationships" id="260" r:id="Rc8cd3f3aa87140f1"/>
    <p:sldId xmlns:r="http://schemas.openxmlformats.org/officeDocument/2006/relationships" id="261" r:id="Rcf4c45aaf3814b1b"/>
    <p:sldId xmlns:r="http://schemas.openxmlformats.org/officeDocument/2006/relationships" id="262" r:id="R316abefbc7b84034"/>
    <p:sldId xmlns:r="http://schemas.openxmlformats.org/officeDocument/2006/relationships" id="263" r:id="Rada36dfc800a4b40"/>
    <p:sldId xmlns:r="http://schemas.openxmlformats.org/officeDocument/2006/relationships" id="264" r:id="Rc17f17e2a4f3473d"/>
    <p:sldId xmlns:r="http://schemas.openxmlformats.org/officeDocument/2006/relationships" id="265" r:id="Rbbe1cf2689c44524"/>
    <p:sldId xmlns:r="http://schemas.openxmlformats.org/officeDocument/2006/relationships" id="266" r:id="R195c103231ff4fd6"/>
    <p:sldId xmlns:r="http://schemas.openxmlformats.org/officeDocument/2006/relationships" id="267" r:id="Ra0bea0303dfa489e"/>
    <p:sldId xmlns:r="http://schemas.openxmlformats.org/officeDocument/2006/relationships" id="268" r:id="Rb31d18d66b554007"/>
    <p:sldId xmlns:r="http://schemas.openxmlformats.org/officeDocument/2006/relationships" id="269" r:id="R4dfe390fe3f146fe"/>
    <p:sldId xmlns:r="http://schemas.openxmlformats.org/officeDocument/2006/relationships" id="270" r:id="R9eea139453424a4f"/>
    <p:sldId xmlns:r="http://schemas.openxmlformats.org/officeDocument/2006/relationships" id="271" r:id="Rcfddf2f0fc0e4f92"/>
    <p:sldId xmlns:r="http://schemas.openxmlformats.org/officeDocument/2006/relationships" id="272" r:id="Rdb77b68e9776427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cd768916e04fc3" /><Relationship Type="http://schemas.openxmlformats.org/officeDocument/2006/relationships/slideMaster" Target="/ppt/slideMasters/slideMaster1.xml" Id="R70b7d379291e4cfb" /><Relationship Type="http://schemas.openxmlformats.org/officeDocument/2006/relationships/notesMaster" Target="/ppt/notesMasters/notesMaster1.xml" Id="R12d6e276cc7840aa" /><Relationship Type="http://schemas.openxmlformats.org/officeDocument/2006/relationships/presProps" Target="/ppt/presProps.xml" Id="Rd989921e950a426b" /><Relationship Type="http://schemas.openxmlformats.org/officeDocument/2006/relationships/viewProps" Target="/ppt/viewProps.xml" Id="R6c4ecaefc0064879" /><Relationship Type="http://schemas.openxmlformats.org/officeDocument/2006/relationships/tableStyles" Target="/ppt/tableStyles.xml" Id="R6d3a3f8c56d24824" /><Relationship Type="http://schemas.openxmlformats.org/officeDocument/2006/relationships/slide" Target="/ppt/slides/slide1.xml" Id="R106f4cd64dc946b1" /><Relationship Type="http://schemas.openxmlformats.org/officeDocument/2006/relationships/slide" Target="/ppt/slides/slide2.xml" Id="R90d9d8da6f954829" /><Relationship Type="http://schemas.openxmlformats.org/officeDocument/2006/relationships/slide" Target="/ppt/slides/slide3.xml" Id="R0463dd92e5084d02" /><Relationship Type="http://schemas.openxmlformats.org/officeDocument/2006/relationships/slide" Target="/ppt/slides/slide4.xml" Id="R20c897b0e4444dd3" /><Relationship Type="http://schemas.openxmlformats.org/officeDocument/2006/relationships/slide" Target="/ppt/slides/slide5.xml" Id="Rc8cd3f3aa87140f1" /><Relationship Type="http://schemas.openxmlformats.org/officeDocument/2006/relationships/slide" Target="/ppt/slides/slide6.xml" Id="Rcf4c45aaf3814b1b" /><Relationship Type="http://schemas.openxmlformats.org/officeDocument/2006/relationships/slide" Target="/ppt/slides/slide7.xml" Id="R316abefbc7b84034" /><Relationship Type="http://schemas.openxmlformats.org/officeDocument/2006/relationships/slide" Target="/ppt/slides/slide8.xml" Id="Rada36dfc800a4b40" /><Relationship Type="http://schemas.openxmlformats.org/officeDocument/2006/relationships/slide" Target="/ppt/slides/slide9.xml" Id="Rc17f17e2a4f3473d" /><Relationship Type="http://schemas.openxmlformats.org/officeDocument/2006/relationships/slide" Target="/ppt/slides/slide10.xml" Id="Rbbe1cf2689c44524" /><Relationship Type="http://schemas.openxmlformats.org/officeDocument/2006/relationships/slide" Target="/ppt/slides/slide11.xml" Id="R195c103231ff4fd6" /><Relationship Type="http://schemas.openxmlformats.org/officeDocument/2006/relationships/slide" Target="/ppt/slides/slide12.xml" Id="Ra0bea0303dfa489e" /><Relationship Type="http://schemas.openxmlformats.org/officeDocument/2006/relationships/slide" Target="/ppt/slides/slide13.xml" Id="Rb31d18d66b554007" /><Relationship Type="http://schemas.openxmlformats.org/officeDocument/2006/relationships/slide" Target="/ppt/slides/slide14.xml" Id="R4dfe390fe3f146fe" /><Relationship Type="http://schemas.openxmlformats.org/officeDocument/2006/relationships/slide" Target="/ppt/slides/slide15.xml" Id="R9eea139453424a4f" /><Relationship Type="http://schemas.openxmlformats.org/officeDocument/2006/relationships/slide" Target="/ppt/slides/slide16.xml" Id="Rcfddf2f0fc0e4f92" /><Relationship Type="http://schemas.openxmlformats.org/officeDocument/2006/relationships/slide" Target="/ppt/slides/slide17.xml" Id="Rdb77b68e977642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bba036fb5845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21dba6e2e146df" /><Relationship Type="http://schemas.openxmlformats.org/officeDocument/2006/relationships/notesMaster" Target="/ppt/notesMasters/notesMaster1.xml" Id="Rec7722e3f95c48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3da4b701fc4d1d" /><Relationship Type="http://schemas.openxmlformats.org/officeDocument/2006/relationships/notesMaster" Target="/ppt/notesMasters/notesMaster1.xml" Id="R53221d01f83c4c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479adb7d5f4fce" /><Relationship Type="http://schemas.openxmlformats.org/officeDocument/2006/relationships/notesMaster" Target="/ppt/notesMasters/notesMaster1.xml" Id="Rdfedb9d163f647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57e36cb69c4bba" /><Relationship Type="http://schemas.openxmlformats.org/officeDocument/2006/relationships/notesMaster" Target="/ppt/notesMasters/notesMaster1.xml" Id="R402f084f778046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39386ebeb14b8f" /><Relationship Type="http://schemas.openxmlformats.org/officeDocument/2006/relationships/notesMaster" Target="/ppt/notesMasters/notesMaster1.xml" Id="Rfec6064a6a3342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50ab8b76874e70" /><Relationship Type="http://schemas.openxmlformats.org/officeDocument/2006/relationships/notesMaster" Target="/ppt/notesMasters/notesMaster1.xml" Id="R8fe0d352c7d24c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f6888e3f7e42a8" /><Relationship Type="http://schemas.openxmlformats.org/officeDocument/2006/relationships/notesMaster" Target="/ppt/notesMasters/notesMaster1.xml" Id="Re2bf750fcb8141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81dad32a324211" /><Relationship Type="http://schemas.openxmlformats.org/officeDocument/2006/relationships/notesMaster" Target="/ppt/notesMasters/notesMaster1.xml" Id="R866c6ec7bdee47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353170c9c74dfb" /><Relationship Type="http://schemas.openxmlformats.org/officeDocument/2006/relationships/notesMaster" Target="/ppt/notesMasters/notesMaster1.xml" Id="R19292431d5dd42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b624cd79894dd2" /><Relationship Type="http://schemas.openxmlformats.org/officeDocument/2006/relationships/notesMaster" Target="/ppt/notesMasters/notesMaster1.xml" Id="R14313cfe52b7492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ef8bec3a3f4790" /><Relationship Type="http://schemas.openxmlformats.org/officeDocument/2006/relationships/notesMaster" Target="/ppt/notesMasters/notesMaster1.xml" Id="Ra6faad0669244c7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1998ef154f4aaa" /><Relationship Type="http://schemas.openxmlformats.org/officeDocument/2006/relationships/notesMaster" Target="/ppt/notesMasters/notesMaster1.xml" Id="Re83d36a8bf3348d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8b080e057cc4ed0" /><Relationship Type="http://schemas.openxmlformats.org/officeDocument/2006/relationships/notesMaster" Target="/ppt/notesMasters/notesMaster1.xml" Id="R3e706ea683af4e5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56c7de8e56427c" /><Relationship Type="http://schemas.openxmlformats.org/officeDocument/2006/relationships/notesMaster" Target="/ppt/notesMasters/notesMaster1.xml" Id="R6fed84d602284c3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b75a0e4a3434c9a" /><Relationship Type="http://schemas.openxmlformats.org/officeDocument/2006/relationships/notesMaster" Target="/ppt/notesMasters/notesMaster1.xml" Id="R59a48bc5bc9c4ea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1e98dd736494d26" /><Relationship Type="http://schemas.openxmlformats.org/officeDocument/2006/relationships/notesMaster" Target="/ppt/notesMasters/notesMaster1.xml" Id="Rfa25930c64e9498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9fc9581cc274cb3" /><Relationship Type="http://schemas.openxmlformats.org/officeDocument/2006/relationships/notesMaster" Target="/ppt/notesMasters/notesMaster1.xml" Id="R7694d841017145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ce2a9ab3ff45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7f9a67f21b4af4" /><Relationship Type="http://schemas.openxmlformats.org/officeDocument/2006/relationships/slideLayout" Target="/ppt/slideLayouts/slideLayout1.xml" Id="R83ddf77c3fde42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ddf77c3fde42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db9840c46e44dd" /><Relationship Type="http://schemas.openxmlformats.org/officeDocument/2006/relationships/notesSlide" Target="/ppt/notesSlides/notesSlide1.xml" Id="Rc4d90732170f4b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c998f07174e4a" /><Relationship Type="http://schemas.openxmlformats.org/officeDocument/2006/relationships/notesSlide" Target="/ppt/notesSlides/notesSlide2.xml" Id="R1504a9f22efb42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da11e8a314408" /><Relationship Type="http://schemas.openxmlformats.org/officeDocument/2006/relationships/notesSlide" Target="/ppt/notesSlides/notesSlide3.xml" Id="R0508bbabd1de48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91da1422d54406" /><Relationship Type="http://schemas.openxmlformats.org/officeDocument/2006/relationships/notesSlide" Target="/ppt/notesSlides/notesSlide4.xml" Id="Re1050f82527847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056730a31488e" /><Relationship Type="http://schemas.openxmlformats.org/officeDocument/2006/relationships/notesSlide" Target="/ppt/notesSlides/notesSlide5.xml" Id="Rafe6bafe55aa40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fd7ea0d024a8a" /><Relationship Type="http://schemas.openxmlformats.org/officeDocument/2006/relationships/notesSlide" Target="/ppt/notesSlides/notesSlide6.xml" Id="Ra5b9a3ae6eec44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db090cb5c4b14" /><Relationship Type="http://schemas.openxmlformats.org/officeDocument/2006/relationships/notesSlide" Target="/ppt/notesSlides/notesSlide7.xml" Id="R59a738d204544b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a9943599b4d7f" /><Relationship Type="http://schemas.openxmlformats.org/officeDocument/2006/relationships/notesSlide" Target="/ppt/notesSlides/notesSlide8.xml" Id="R7bdf442becb54f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6a0957bf1f479f" /><Relationship Type="http://schemas.openxmlformats.org/officeDocument/2006/relationships/notesSlide" Target="/ppt/notesSlides/notesSlide9.xml" Id="R81705ea14fb54f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9eb5d4b7f44c4" /><Relationship Type="http://schemas.openxmlformats.org/officeDocument/2006/relationships/notesSlide" Target="/ppt/notesSlides/notesSlide10.xml" Id="R1c9455a6796243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ee0e2ac9f4517" /><Relationship Type="http://schemas.openxmlformats.org/officeDocument/2006/relationships/notesSlide" Target="/ppt/notesSlides/notesSlide11.xml" Id="R2e04e1bf31ad42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24f07eca94ddc" /><Relationship Type="http://schemas.openxmlformats.org/officeDocument/2006/relationships/notesSlide" Target="/ppt/notesSlides/notesSlide12.xml" Id="Rd22aa25f41e5428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044ffb668407b" /><Relationship Type="http://schemas.openxmlformats.org/officeDocument/2006/relationships/notesSlide" Target="/ppt/notesSlides/notesSlide13.xml" Id="R7ef66b1cc2b64ef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0f2cb71e94383" /><Relationship Type="http://schemas.openxmlformats.org/officeDocument/2006/relationships/notesSlide" Target="/ppt/notesSlides/notesSlide14.xml" Id="R3450ef6ef88c4bd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cff303b344a48" /><Relationship Type="http://schemas.openxmlformats.org/officeDocument/2006/relationships/notesSlide" Target="/ppt/notesSlides/notesSlide15.xml" Id="R7b2ba4f549f8440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e142912414a6c" /><Relationship Type="http://schemas.openxmlformats.org/officeDocument/2006/relationships/notesSlide" Target="/ppt/notesSlides/notesSlide16.xml" Id="R70fb5d1d879b440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1e89499b6452b" /><Relationship Type="http://schemas.openxmlformats.org/officeDocument/2006/relationships/notesSlide" Target="/ppt/notesSlides/notesSlide17.xml" Id="R4e4f7a1efaf549c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4C8181-A69D-491A-9F2E-754ACC7C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5"/>
          </a:solidFill>
          <a:ln xmlns:a="http://schemas.openxmlformats.org/drawingml/2006/main" w="0">
            <a:solidFill>
              <a:srgbClr val="08152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B1B35-A744-4840-80C0-07C18E9F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MOBILE STORYBOARD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C7B31-7BF8-4678-A082-BD986716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770B24-E0FB-47A2-9FF7-C7C56A66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942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What NBS Freshman Are You?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DEF95-A8A2-45CF-ADA3-6BD4838F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C0C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C0CE"/>
                </a:solidFill>
                <a:latin typeface="Aptos"/>
                <a:ea typeface="Aptos"/>
                <a:cs typeface="Aptos"/>
              </a:rPr>
              <a:t>Clean quiz flow for mobile play, supervisor review, and designer handoff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73D4B7-87B1-4231-8DE8-72CD893E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24000"/>
            <a:ext cx="2095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70D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E73410-3A57-412E-A42D-72575E6D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62150"/>
            <a:ext cx="1752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B"/>
          </a:solidFill>
          <a:ln xmlns:a="http://schemas.openxmlformats.org/drawingml/2006/main" w="11430">
            <a:solidFill>
              <a:srgbClr val="244B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565E9B-0505-4D17-80B1-943F8996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86100"/>
            <a:ext cx="1752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AF04F-8F89-4687-A902-D7B02722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6720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E2B7C9-B4E2-4294-A28F-6756A53F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6720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19AFFD-0D17-48B1-8EC8-C212B974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672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AFC471-F092-4392-B56F-232552DD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6672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D536A2-FE59-4A95-875D-0FD2D717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571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0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This version focuses only on what matters for review: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F9AB07-D9C2-41E3-872C-2F81E555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4953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1. Mobile page mockup</a:t>
            </a:r>
          </a:p>
          <a:p xmlns:a="http://schemas.openxmlformats.org/drawingml/2006/main">
            <a:pPr algn="l">
              <a:defRPr sz="1950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2. What the player does</a:t>
            </a:r>
          </a:p>
          <a:p xmlns:a="http://schemas.openxmlformats.org/drawingml/2006/main">
            <a:pPr algn="l">
              <a:defRPr sz="1950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3. What happens next</a:t>
            </a:r>
          </a:p>
          <a:p xmlns:a="http://schemas.openxmlformats.org/drawingml/2006/main">
            <a:pPr algn="l">
              <a:defRPr sz="1950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4. Required designed assets</a:t>
            </a:r>
          </a:p>
          <a:p xmlns:a="http://schemas.openxmlformats.org/drawingml/2006/main">
            <a:pPr algn="l">
              <a:defRPr sz="1950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5. Detailed scoring logic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439183-DBD7-40E7-9599-794531C9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7483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E7483"/>
                </a:solidFill>
                <a:latin typeface="Aptos Mono"/>
                <a:ea typeface="Aptos Mono"/>
                <a:cs typeface="Aptos Mono"/>
              </a:rPr>
              <a:t>Mobile-first storyboard - NBS Freshman Quiz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7BD66B-CEE5-4338-B7AD-3B48B4C8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8588467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A52018-88A7-4B74-87CE-AB9E12DC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5"/>
          </a:solidFill>
          <a:ln xmlns:a="http://schemas.openxmlformats.org/drawingml/2006/main" w="0">
            <a:solidFill>
              <a:srgbClr val="08152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030321-38AB-4731-870D-15681B08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MOBILE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5D6A27-F8AC-45A4-88F7-22DC9C1C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CA69F-1DA9-4F63-8832-A7F1DDC2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942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One quiz page should be readable on a phone.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1F551-9EC6-4AD5-8642-10484F9E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C0C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C0CE"/>
                </a:solidFill>
                <a:latin typeface="Aptos"/>
                <a:ea typeface="Aptos"/>
                <a:cs typeface="Aptos"/>
              </a:rPr>
              <a:t>Repeated page structure for most of the game.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F7939-DAA8-49CC-9CDE-0C7C6A67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95450"/>
            <a:ext cx="30099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70D"/>
          </a:solidFill>
          <a:ln xmlns:a="http://schemas.openxmlformats.org/drawingml/2006/main" w="11430">
            <a:solidFill>
              <a:srgbClr val="486B8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7CD2B8-C6BB-4CA7-B0CD-21155924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4614" y="1809750"/>
            <a:ext cx="842772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0">
            <a:solidFill>
              <a:srgbClr val="2637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9AD6A5-769D-474E-980A-1BB564BB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19300"/>
            <a:ext cx="266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C373A-68DC-4EC9-A384-4FEA33FE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43125"/>
            <a:ext cx="2438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Q1 CHARACTER SPAWN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248FE2-B43A-4EA4-AE92-9DBBBF11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33650"/>
            <a:ext cx="2667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B"/>
          </a:solidFill>
          <a:ln xmlns:a="http://schemas.openxmlformats.org/drawingml/2006/main" w="11430">
            <a:solidFill>
              <a:srgbClr val="244B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1F996D-8895-4695-AFFB-298924C7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86050"/>
            <a:ext cx="2362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5E7483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5E7483"/>
                </a:solidFill>
                <a:latin typeface="Aptos Mono"/>
                <a:ea typeface="Aptos Mono"/>
                <a:cs typeface="Aptos Mono"/>
              </a:rPr>
              <a:t>BACKGROUND ART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286EA9-7F2E-4828-9CA7-BBA10E7E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05250"/>
            <a:ext cx="2667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21BC4D-6F5F-4814-BA90-9CB32C33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95750"/>
            <a:ext cx="2362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4 starter packs materialise.</a:t>
            </a:r>
          </a:p>
          <a:p xmlns:a="http://schemas.openxmlformats.org/drawingml/2006/main">
            <a:pPr algn="l">
              <a:def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Which do you pick?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8811BC-4F07-455A-9EA6-62250252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05400"/>
            <a:ext cx="1285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08F71A-3FBE-4EE9-8E04-A821B3F7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911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6E2C11-F892-4896-992F-45E5457C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19112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074F16-621D-402C-864E-104E2BC6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105400"/>
            <a:ext cx="1285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10C9D3-86C1-432B-BDB8-1911CEA9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911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F8D0F8-E4C4-4823-BA48-E14A2C9D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9112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97C965-4EC4-4753-9E53-2A805A20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24500"/>
            <a:ext cx="1285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4E5218-58DC-49A7-B40C-DE14667C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6102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4690EA-F303-4485-A62C-0DB83524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61022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7D1BA1-5604-4867-9916-63119FB0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524500"/>
            <a:ext cx="1285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A880E2-8B9F-45A6-92FF-24EF260D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6102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8B4295-3BDB-4DBC-8B9A-43E11B4C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1022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38CF4A-687D-43DF-9066-05BB2CC3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B8F9B4-05BD-4051-9ECE-D1BF53F5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PERSISTENT UI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1A1450-680C-4165-8BF7-4E9D9BE4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2800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Quest progress, SFX toggle, dialogue box, option grid, and occasional artifact token.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17F70C-4580-4983-862F-05AC675A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52650"/>
            <a:ext cx="31432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245F5A-05E5-4930-8068-FBB1AB6D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05050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TEMPORARY UI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54BC2D-8F12-410C-AAD6-B5BE52D8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09850"/>
            <a:ext cx="28003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system toast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warning banner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artifact popup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scene transition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calculation screen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63D41A-F2E5-47AB-AE98-7A452A88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7483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E7483"/>
                </a:solidFill>
                <a:latin typeface="Aptos Mono"/>
                <a:ea typeface="Aptos Mono"/>
                <a:cs typeface="Aptos Mono"/>
              </a:rPr>
              <a:t>Mobile-first storyboard - NBS Freshman Quiz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AACA71-91CB-4FC2-9FF4-D15265E9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5638630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0F96C8-825F-45BF-AFD1-7480B83B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5"/>
          </a:solidFill>
          <a:ln xmlns:a="http://schemas.openxmlformats.org/drawingml/2006/main" w="0">
            <a:solidFill>
              <a:srgbClr val="08152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F3080-146F-4BAA-8B9A-00613505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FLOW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E645D2-91CC-44CE-835F-8B397893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F35F5-26AF-4E29-BAE9-0B8D4DF0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942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The player follows one clean story path; scoring branches stay hidden.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B1739F-9E92-4E51-8D7F-F760A092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C0C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C0CE"/>
                </a:solidFill>
                <a:latin typeface="Aptos"/>
                <a:ea typeface="Aptos"/>
                <a:cs typeface="Aptos"/>
              </a:rPr>
              <a:t>Story beat -&gt; system event if needed -&gt; options -&gt; hidden score update.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B3342E-2DDB-4645-A9B1-611FAA8E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455B8-B8E0-447B-A45A-B299EDD5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Start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C3FD1-0561-4FD1-ACF2-33C2591C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24790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B18E2E-17C2-4448-8EBD-9C79BF85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1935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Prelude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00F124-02B3-4582-9B14-EFED7F0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4790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824533-357C-44A0-B394-843ED764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1935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Q1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81CE18-E03D-4B73-AEFD-272302A8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4790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7E4359-313A-4896-86C4-EA7B880C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1935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Q2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CDDC40-BA12-4DBA-9162-379DA4C5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4790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1CACD2-7117-4FB4-A24B-42B4419D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1935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Q3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90219D-DF12-445A-913C-A48603E0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4790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5A8030-1876-43F7-8ECB-2E86A4DC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1935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Q4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41C2A7-C837-496B-8F7B-8374AC5E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916FBC-BB63-42D2-9FC7-EA554C78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Q5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F37532-DD8F-4CE7-8102-5A91189C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235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FF4D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A21696-BE35-4924-9904-E7CA85FF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338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Q6 Boss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16FE8B-108A-45E7-B12A-2FD4BD62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6235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092614-6EEA-4AC4-9A23-037D275E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338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Q7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273A69-8255-4115-959F-85BB59C3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6235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4B4A7D-38D6-4705-ADB3-D1B3DC7A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338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Q8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331AB5-D1C1-440B-B871-2F156FF4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6235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088A8D-360F-4419-88DB-EBB379FE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338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Calculate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F894DB-58CC-47A1-992D-E4AC5993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6235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9DFFB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5A2465-A316-44B0-9CC7-7DBDD708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7338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D9F3DF-433F-4297-B6B8-359C71A6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482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0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Hidden branch per question: A/B/C/D changes score buckets, but the player only sees story progression.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DE1B22-C27F-4973-9058-18F832E6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7483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E7483"/>
                </a:solidFill>
                <a:latin typeface="Aptos Mono"/>
                <a:ea typeface="Aptos Mono"/>
                <a:cs typeface="Aptos Mono"/>
              </a:rPr>
              <a:t>Mobile-first storyboard - NBS Freshman Quiz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E64D0E-914A-4723-99F2-73351AB4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7716562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F80D25-6ED4-40BE-AAB5-CCB04FC1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5"/>
          </a:solidFill>
          <a:ln xmlns:a="http://schemas.openxmlformats.org/drawingml/2006/main" w="0">
            <a:solidFill>
              <a:srgbClr val="08152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4EACE-8CEE-4FBE-AE34-E9F7FA7D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START + PRELUDE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4F8B8-79EF-4A0F-B130-87F351CB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6ED80A-C507-4181-B260-AE2C2AE8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942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Player enters the Freshman Arc.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340309-4E80-4DE2-B843-63649F11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C0C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C0CE"/>
                </a:solidFill>
                <a:latin typeface="Aptos"/>
                <a:ea typeface="Aptos"/>
                <a:cs typeface="Aptos"/>
              </a:rPr>
              <a:t>Mobile page mockup plus key outcome and asset needs.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BD080-9A6B-4A8A-97D1-381CD3C2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28765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70D"/>
          </a:solidFill>
          <a:ln xmlns:a="http://schemas.openxmlformats.org/drawingml/2006/main" w="11430">
            <a:solidFill>
              <a:srgbClr val="486B8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94B936-56D8-4F53-B2E1-B2864BAB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6608" y="1981200"/>
            <a:ext cx="805434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0">
            <a:solidFill>
              <a:srgbClr val="2637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47E43D-6897-48FD-9D69-827264FE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533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B90648-3799-4201-9717-B1E1BF09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14575"/>
            <a:ext cx="2305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TITLE / PRELUDE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BC3081-011F-44FC-8D14-CFDF491F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25336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B"/>
          </a:solidFill>
          <a:ln xmlns:a="http://schemas.openxmlformats.org/drawingml/2006/main" w="11430">
            <a:solidFill>
              <a:srgbClr val="244B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EA3AC4-1C05-4231-AC4D-1BE2F0F7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2228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5E7483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5E7483"/>
                </a:solidFill>
                <a:latin typeface="Aptos Mono"/>
                <a:ea typeface="Aptos Mono"/>
                <a:cs typeface="Aptos Mono"/>
              </a:rPr>
              <a:t>BACKGROUND ART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702849-AF08-4430-9CA0-29478CC1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522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55B583-455F-44F3-9CC5-672F4C97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81350"/>
            <a:ext cx="1962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Quest Log Updated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0EC28E-EE4E-4D7E-B076-5C521C43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25336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CC01FE-97B4-4A21-89AD-9C3D182A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67200"/>
            <a:ext cx="2228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System update in progress.</a:t>
            </a:r>
          </a:p>
          <a:p xmlns:a="http://schemas.openxmlformats.org/drawingml/2006/main">
            <a:pPr algn="l">
              <a:def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Welcome, Player.</a:t>
            </a:r>
          </a:p>
          <a:p xmlns:a="http://schemas.openxmlformats.org/drawingml/2006/main">
            <a:pPr algn="l">
              <a:def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The plaza glitches out.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5370F1-7F70-41D0-AC39-8B0790E3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685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6A16BD-BE2D-438E-94C0-284C18F0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625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6F6557-63A9-48C2-BAF4-59F0AE18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36257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A63A3C-73C9-4941-9091-47C53F11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27685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C51AF5-EE93-45C6-8046-E6A30577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3625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3F2AB7-8F25-426A-A67B-0C2F1B8D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36257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935028-CA2C-4EE7-9932-4ED777D4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9595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FDB336-A011-404C-B68F-83E676D1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816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FF825-7404-4482-A512-18CB9410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78167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E32ACE-09D7-4508-A9FD-19B2CF62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69595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095F2C-8FCD-4924-86B0-86D248D3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7816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C9E478-CC63-46B5-897E-05D7F178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78167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880EB3-26A5-4C23-A641-9FF1944B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00250"/>
            <a:ext cx="32194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44E750-993B-4790-BF72-7583C712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52650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PLAYER ACTION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16FA2D-4F0B-4780-AB33-A2DD981D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38400"/>
            <a:ext cx="2876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Tap PRESS START, then read/skip intro dialogue.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22C947-9E34-460F-857D-546A7FAE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05200"/>
            <a:ext cx="32194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9DFFB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B38D27-72DF-4915-9EA7-3E5D900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57600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DFFB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DFFB0"/>
                </a:solidFill>
                <a:latin typeface="Aptos Mono"/>
                <a:ea typeface="Aptos Mono"/>
                <a:cs typeface="Aptos Mono"/>
              </a:rPr>
              <a:t>PAGE OUTCOME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E245C3-F750-4893-A9B8-B788D142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43350"/>
            <a:ext cx="28765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Player is transported into WCY Plaza. Objective unlocks. App moves to Q1.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7DFE9D-AFE5-4F67-B69A-63E1956F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00250"/>
            <a:ext cx="33337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0BA85A-F45B-4924-A79B-CFABD096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52650"/>
            <a:ext cx="2990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DESIGNED ASSETS NEEDED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18BFB1-B8D9-4AC6-A6CB-E52CD325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57450"/>
            <a:ext cx="2990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title screen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WCY Plaza background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system HUD toast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dialogue frame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PRESS START prompt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2D2259-8808-4C19-A3A0-8205DB7E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7483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E7483"/>
                </a:solidFill>
                <a:latin typeface="Aptos Mono"/>
                <a:ea typeface="Aptos Mono"/>
                <a:cs typeface="Aptos Mono"/>
              </a:rPr>
              <a:t>Mobile-first storyboard - NBS Freshman Quiz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DEEABD-7350-42EC-9D4D-067D7C24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309421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31C456-3A97-49E6-B476-799E523F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5"/>
          </a:solidFill>
          <a:ln xmlns:a="http://schemas.openxmlformats.org/drawingml/2006/main" w="0">
            <a:solidFill>
              <a:srgbClr val="08152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5451E-7741-4545-97D6-0A8D682B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Q1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54795-CC25-4997-A9E0-6C8BE744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46DE2-4C21-4B74-AA4D-919296C1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942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Character Spawn sets the first personality signal.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7EC99-23F8-49FE-8186-18FCD1C4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C0C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C0CE"/>
                </a:solidFill>
                <a:latin typeface="Aptos"/>
                <a:ea typeface="Aptos"/>
                <a:cs typeface="Aptos"/>
              </a:rPr>
              <a:t>Mobile page mockup plus key outcome and asset needs.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1C9BF-1560-4249-9631-8B498B30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28765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70D"/>
          </a:solidFill>
          <a:ln xmlns:a="http://schemas.openxmlformats.org/drawingml/2006/main" w="11430">
            <a:solidFill>
              <a:srgbClr val="486B8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DB92D6-5A5F-4605-B8C8-A40AB988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6608" y="1981200"/>
            <a:ext cx="805434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0">
            <a:solidFill>
              <a:srgbClr val="2637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6041E0-9CA4-4B74-86F7-DF07BB30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533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0731DD-3B49-4334-9FA0-5C4FB3FD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14575"/>
            <a:ext cx="2305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Q1 CHARACTER SPAWN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2093BE-0348-4FB5-BDE4-06CC4819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25336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B"/>
          </a:solidFill>
          <a:ln xmlns:a="http://schemas.openxmlformats.org/drawingml/2006/main" w="11430">
            <a:solidFill>
              <a:srgbClr val="244B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026675-78A5-451D-A83C-D2C055F7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2228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5E7483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5E7483"/>
                </a:solidFill>
                <a:latin typeface="Aptos Mono"/>
                <a:ea typeface="Aptos Mono"/>
                <a:cs typeface="Aptos Mono"/>
              </a:rPr>
              <a:t>BACKGROUND ART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4B0708-4A2C-45BD-9DC3-E0AC33AD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25336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2D3CC0-3F93-424A-86B7-21D47440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67200"/>
            <a:ext cx="2228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4 starter packs materialise.</a:t>
            </a:r>
          </a:p>
          <a:p xmlns:a="http://schemas.openxmlformats.org/drawingml/2006/main">
            <a:pPr algn="l">
              <a:def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Which do you pick?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E3EE14-4F8A-4B04-9FD8-875908FD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685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40DE09-CF3D-46FA-8285-5D051728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625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65EFF6-0833-474A-9D61-9CC8B145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36257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D925EE-3744-45F5-976D-81E5D59C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27685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D7C6B3-A626-4BA0-9748-3D4D4357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3625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178B87-3973-444F-A3A1-EF0A967B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36257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5501F9-3FA1-4CFF-B210-FF9364E8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9595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62BEBA-881C-447E-AF95-D1AC2AE0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816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F5DE99-69EB-4314-BC32-8C311B2F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78167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8060DE-2387-4287-BBF8-36061E96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69595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7952CE-46D2-4BF4-9770-95A0583B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7816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AFF984-0778-46F0-A7D7-C384A374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78167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AA91B6-DF1A-4845-81BA-6F50D5CB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00250"/>
            <a:ext cx="32194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142E2A-F12B-42B5-B0FA-20AA9326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52650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PLAYER ACTION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36761E-AE82-4F2C-BC49-2026142F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38400"/>
            <a:ext cx="2876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Choose one of four starter loadouts.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1A4C43-59BA-4F62-AD0C-C5F587BC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05200"/>
            <a:ext cx="32194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9DFFB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E71C7B-F029-4D66-967D-0679541C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57600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DFFB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DFFB0"/>
                </a:solidFill>
                <a:latin typeface="Aptos Mono"/>
                <a:ea typeface="Aptos Mono"/>
                <a:cs typeface="Aptos Mono"/>
              </a:rPr>
              <a:t>PAGE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DBB2BB-B3BA-48ED-8DC1-151CD57D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43350"/>
            <a:ext cx="28765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Hidden weighted score updates. Quest Updated interstitial appears, then Q2.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4D0218-6C95-4CAB-A2FC-9CA1769D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00250"/>
            <a:ext cx="33337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4871C0-56B9-46B0-86BF-A83E16BF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52650"/>
            <a:ext cx="2990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DESIGNED ASSETS NEEDED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F40C10-A62F-4E66-8A5C-1F57C2F9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57450"/>
            <a:ext cx="2990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WCY Plaza background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starter pack visual hints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option buttons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quest updated interstitial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A796F5-17FE-4A41-A7EF-192A144E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7483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E7483"/>
                </a:solidFill>
                <a:latin typeface="Aptos Mono"/>
                <a:ea typeface="Aptos Mono"/>
                <a:cs typeface="Aptos Mono"/>
              </a:rPr>
              <a:t>Mobile-first storyboard - NBS Freshman Quiz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5F792F-8F49-4112-894A-EB88542C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4722554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238977-3326-416F-8CC5-3119669B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5"/>
          </a:solidFill>
          <a:ln xmlns:a="http://schemas.openxmlformats.org/drawingml/2006/main" w="0">
            <a:solidFill>
              <a:srgbClr val="08152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419576-3022-421D-9E78-2A6E1E82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Q2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C3D1D-418E-4610-9A15-8DD38A00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03CC0-F032-4663-850E-B508D535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942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Orientation tests how the player handles social chaos.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DEB502-FB5B-4148-B3E4-61067C45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C0C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C0CE"/>
                </a:solidFill>
                <a:latin typeface="Aptos"/>
                <a:ea typeface="Aptos"/>
                <a:cs typeface="Aptos"/>
              </a:rPr>
              <a:t>Mobile page mockup plus key outcome and asset needs.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8B4FFC-3F21-47C4-BA99-C30FF494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28765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70D"/>
          </a:solidFill>
          <a:ln xmlns:a="http://schemas.openxmlformats.org/drawingml/2006/main" w="11430">
            <a:solidFill>
              <a:srgbClr val="486B8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5F7BE5-1911-4678-8F0F-D2A8674B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6608" y="1981200"/>
            <a:ext cx="805434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0">
            <a:solidFill>
              <a:srgbClr val="2637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6CC8E-6CFA-4F54-9C04-CDD351AB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533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3CD161-F6F9-40C1-B28F-40C11206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14575"/>
            <a:ext cx="2305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Q2 ORIENTATION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76BBB-65D8-4B95-BF10-A7F691B9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25336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B"/>
          </a:solidFill>
          <a:ln xmlns:a="http://schemas.openxmlformats.org/drawingml/2006/main" w="11430">
            <a:solidFill>
              <a:srgbClr val="244B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DD548F-4260-4EAF-AD96-1DE313D1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2228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5E7483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5E7483"/>
                </a:solidFill>
                <a:latin typeface="Aptos Mono"/>
                <a:ea typeface="Aptos Mono"/>
                <a:cs typeface="Aptos Mono"/>
              </a:rPr>
              <a:t>BACKGROUND ART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26F6E0-F3E4-4603-A77C-B4F34385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522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52B12F-6660-4853-A5AB-169605D5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81350"/>
            <a:ext cx="1962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Event: The Orientation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EB93AD-88F8-4628-A10C-A5E9FA85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25336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E53B2D-8D58-475B-96B4-E5714590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67200"/>
            <a:ext cx="2228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Loud cheers.</a:t>
            </a:r>
          </a:p>
          <a:p xmlns:a="http://schemas.openxmlformats.org/drawingml/2006/main">
            <a:pPr algn="l">
              <a:def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Seniors hyping the crowd.</a:t>
            </a:r>
          </a:p>
          <a:p xmlns:a="http://schemas.openxmlformats.org/drawingml/2006/main">
            <a:pPr algn="l">
              <a:def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Friend groups forming.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7AF159-E106-4D38-ADC5-D1ACCE2C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685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44C9D1-6D2A-41EF-892F-6205B508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625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151232-E2FB-468D-95BC-846746C4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36257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A44F7D-CAB6-4897-B83E-3952A59C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27685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9D2A55-E1DF-4AD4-935F-62FA821B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3625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1BB2B2-98C1-4C2D-8721-2C589A1C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36257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600ACE-3F32-4E92-A089-F736673C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9595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AE94E0-42C1-48BB-8D53-C60C4DEB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816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8BC9D4-BA49-4C51-89CF-331F5C52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78167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8176D9-2A75-4B02-941D-53AC6673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69595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92A541-FA4F-448B-8D5E-973F5BA8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7816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7EC005-C722-411A-9AE2-CC15857C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78167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3F2419-64D4-40D1-AA36-73DCD6E3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00250"/>
            <a:ext cx="32194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AB2257-9A40-4CCE-9FAC-8B207EC2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52650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PLAYER ACTION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BD60C8-177A-4FDF-84B6-D374322E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38400"/>
            <a:ext cx="2876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Read observation sequence, then choose one response.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178788-6BD3-4AF8-BA6F-7F0A3C81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05200"/>
            <a:ext cx="32194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9DFFB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CAD858-D8AD-4EE9-8012-1FC9E4B1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57600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DFFB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DFFB0"/>
                </a:solidFill>
                <a:latin typeface="Aptos Mono"/>
                <a:ea typeface="Aptos Mono"/>
                <a:cs typeface="Aptos Mono"/>
              </a:rPr>
              <a:t>PAGE OUTCOME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FF15CB-4B3C-40BB-A8F4-E2999CF1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43350"/>
            <a:ext cx="28765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Orientation event is logged. Hidden score updates. Transition to Q3.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25A987-E6E4-4079-9CAB-F75FC8AE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00250"/>
            <a:ext cx="33337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89A0FD-3187-4318-A160-6C94CF3B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52650"/>
            <a:ext cx="2990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DESIGNED ASSETS NEEDED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FC76E4-DCC7-4384-B5FE-D348898B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57450"/>
            <a:ext cx="2990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orientation background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crowd/stage details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event toast frame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ambient crowd effects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92D8DD-0DCC-4BFE-9521-EF3EE517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7483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E7483"/>
                </a:solidFill>
                <a:latin typeface="Aptos Mono"/>
                <a:ea typeface="Aptos Mono"/>
                <a:cs typeface="Aptos Mono"/>
              </a:rPr>
              <a:t>Mobile-first storyboard - NBS Freshman Quiz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896AFB-C996-4D33-BDE9-2FEEECE5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408865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A2B0E0-00E5-4351-A17D-691CADD6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5"/>
          </a:solidFill>
          <a:ln xmlns:a="http://schemas.openxmlformats.org/drawingml/2006/main" w="0">
            <a:solidFill>
              <a:srgbClr val="08152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5EDF71-4459-4C71-A9C6-91A59202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Q3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52487-8526-4F5A-B326-5702B5A2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2AB87-DE2E-476C-A986-09D1C48C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942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Finding Your Class introduces the navigation challenge.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345712-1A6F-4346-B75B-F2EA2D4A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C0C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C0CE"/>
                </a:solidFill>
                <a:latin typeface="Aptos"/>
                <a:ea typeface="Aptos"/>
                <a:cs typeface="Aptos"/>
              </a:rPr>
              <a:t>Mobile page mockup plus key outcome and asset needs.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0ECDB7-95C1-45CF-A1A0-CD2AA1ED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28765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70D"/>
          </a:solidFill>
          <a:ln xmlns:a="http://schemas.openxmlformats.org/drawingml/2006/main" w="11430">
            <a:solidFill>
              <a:srgbClr val="486B8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D4E8F5-DB8C-4C58-89F9-712AC631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6608" y="1981200"/>
            <a:ext cx="805434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0">
            <a:solidFill>
              <a:srgbClr val="2637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9C7085-492B-4E22-A037-2E1CB1BF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533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392A09-C529-4311-9C89-D5E4C583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14575"/>
            <a:ext cx="2305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Q3 FINDING CLASS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9848FC-D112-46E2-B051-E4874C03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25336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B"/>
          </a:solidFill>
          <a:ln xmlns:a="http://schemas.openxmlformats.org/drawingml/2006/main" w="11430">
            <a:solidFill>
              <a:srgbClr val="244B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54E136-CBA7-4AEB-9122-ED0D2293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2228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5E7483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5E7483"/>
                </a:solidFill>
                <a:latin typeface="Aptos Mono"/>
                <a:ea typeface="Aptos Mono"/>
                <a:cs typeface="Aptos Mono"/>
              </a:rPr>
              <a:t>BACKGROUND ART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55E5AD-E921-4060-9733-C4C4B3AC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522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74B602-184B-48FB-BBE3-91412050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81350"/>
            <a:ext cx="1962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Navigation Challenge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B6FAFA-E70D-43B9-828B-9A2577AE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25336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3C6CED-B4E6-41A9-ACB3-8D4A1AD2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67200"/>
            <a:ext cx="2228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Few Days Later.</a:t>
            </a:r>
          </a:p>
          <a:p xmlns:a="http://schemas.openxmlformats.org/drawingml/2006/main">
            <a:pPr algn="l">
              <a:def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You cannot find your class.</a:t>
            </a:r>
          </a:p>
          <a:p xmlns:a="http://schemas.openxmlformats.org/drawingml/2006/main">
            <a:pPr algn="l">
              <a:def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What is your next move?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B18804-7C8C-4CB7-B77A-1E94341D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685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87B805-4267-480D-94F4-E150293A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625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B54F18-E963-49CB-8E40-B0F243FD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36257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D7AB62-5ABC-4BA8-ADCD-7BB2C316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27685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87BF82-08F3-45E6-B734-CBFA0288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3625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5151D8-6941-4A75-9EFD-537E216B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36257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01B230-4D63-4FB1-913A-75002995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9595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FBD83A-7491-4C83-9FF3-F5B94669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816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85DE87-67FD-4517-B89D-DEB064E0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78167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89C6EA-2E48-494D-8389-905A03EC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69595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8450AC-B87A-4AC5-9B9E-834A4220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7816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E21452-1C12-4927-88C5-CACDAB65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78167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260715-33BE-411C-91C5-D480D50F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00250"/>
            <a:ext cx="32194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A90BB9-F71F-44A2-80F1-B5D67250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52650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PLAYER ACTION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E9A7C9-BD11-4C4D-84C9-28BEECB7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38400"/>
            <a:ext cx="2876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Tap through Few Days Later, then choose a navigation response.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482EA1-D128-4695-A798-3D7670D3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05200"/>
            <a:ext cx="32194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9DFFB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1FAF99-4CC3-4028-9159-0D251206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57600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DFFB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DFFB0"/>
                </a:solidFill>
                <a:latin typeface="Aptos Mono"/>
                <a:ea typeface="Aptos Mono"/>
                <a:cs typeface="Aptos Mono"/>
              </a:rPr>
              <a:t>PAGE OUTCOME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DB7071-57FC-4188-9886-1C959CEF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43350"/>
            <a:ext cx="28765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Objective and navigation toasts appear. Hidden score updates. Transition to Q4.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1147FC-E7F7-408F-BC3E-2697D3B0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00250"/>
            <a:ext cx="33337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F557C6-0721-439E-81DC-8333A234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52650"/>
            <a:ext cx="2990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DESIGNED ASSETS NEEDED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65CDCD-1232-4C68-89F3-1AD6FD56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57450"/>
            <a:ext cx="2990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WCY/corridor background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Few Days Later scene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navigation toast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pathfinding effect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D95906-A663-45A3-A901-8DB4BE9E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7483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E7483"/>
                </a:solidFill>
                <a:latin typeface="Aptos Mono"/>
                <a:ea typeface="Aptos Mono"/>
                <a:cs typeface="Aptos Mono"/>
              </a:rPr>
              <a:t>Mobile-first storyboard - NBS Freshman Quiz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80B03A-0C77-4DE0-AA81-BCC99A04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5380825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CBF845-A6B3-4307-AEA0-6E5ECDA0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5"/>
          </a:solidFill>
          <a:ln xmlns:a="http://schemas.openxmlformats.org/drawingml/2006/main" w="0">
            <a:solidFill>
              <a:srgbClr val="08152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8A311F-6F39-4BAA-BF76-9563EED7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Q4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1A6B4-8C99-441F-9DA1-85BB2C8D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F52C5-177F-463D-BEE7-5A999EFB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942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Group Project uses a popup artifact instead of plain text.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5D3170-CE7B-4D89-ACA9-90445901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C0C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C0CE"/>
                </a:solidFill>
                <a:latin typeface="Aptos"/>
                <a:ea typeface="Aptos"/>
                <a:cs typeface="Aptos"/>
              </a:rPr>
              <a:t>Mobile page mockup plus key outcome and asset needs.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6DF27B-C8CB-4F2C-9AF7-C31400B5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28765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70D"/>
          </a:solidFill>
          <a:ln xmlns:a="http://schemas.openxmlformats.org/drawingml/2006/main" w="11430">
            <a:solidFill>
              <a:srgbClr val="486B8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D9DD6-D1E2-4F8C-ADEE-A64B55F7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6608" y="1981200"/>
            <a:ext cx="805434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0">
            <a:solidFill>
              <a:srgbClr val="2637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4B664C-C565-4279-910B-B951FA19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533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A1544F-3DE4-4F4B-8F88-56D90D59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14575"/>
            <a:ext cx="2305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Q4 GROUP PROJECT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C2056D-41C2-40A8-B297-5016E5D4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25336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B"/>
          </a:solidFill>
          <a:ln xmlns:a="http://schemas.openxmlformats.org/drawingml/2006/main" w="11430">
            <a:solidFill>
              <a:srgbClr val="244B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F5E56F-3D45-453F-8922-AF6E14BA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2228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5E7483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5E7483"/>
                </a:solidFill>
                <a:latin typeface="Aptos Mono"/>
                <a:ea typeface="Aptos Mono"/>
                <a:cs typeface="Aptos Mono"/>
              </a:rPr>
              <a:t>BACKGROUND ART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9D5622-5341-4CBF-9613-CB78630F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522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56A34A-B934-4D34-916E-27B6025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81350"/>
            <a:ext cx="1962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Event: Group Project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9C1DA9-7C78-4C17-900B-DC496B5F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25336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BB6795-8735-4851-BEB4-14E10B40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67200"/>
            <a:ext cx="2228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The prof says: Form groups.</a:t>
            </a:r>
          </a:p>
          <a:p xmlns:a="http://schemas.openxmlformats.org/drawingml/2006/main">
            <a:pPr algn="l">
              <a:def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You are in a group chat now.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60E1AA-6A06-4DFB-A272-8E7CEC5A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685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A51884-07F5-467D-8961-67A81D5A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625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B1B091-C625-42F3-AEBA-50CC800C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36257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B3CE48-19D0-423B-B029-94B4191A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27685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FBD9FE-05B0-4B55-A53C-3B61FE68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3625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EC91A3-FE97-4FCD-916C-B5FA4FD1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36257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6F1948-7EBA-4C2C-8947-59308B10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9595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2D9077-3E50-4009-BBD1-E53FAF98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816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8083B3-DC0B-4BA6-AE51-C0D56F19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78167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90EC2C-374E-4B57-AA6E-B2B25D1C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69595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D699DA-4625-4718-9F48-71F3BF71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7816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B1C41F-673A-4943-BEA2-9B1CD522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78167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771AD2-5D71-4F54-A456-BA0B0C26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00250"/>
            <a:ext cx="32194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02922F-C3F1-4D7A-A963-37CF1821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52650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PLAYER ACTION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916276-9778-468F-8A19-F5B74853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38400"/>
            <a:ext cx="2876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Open the group chat popup, return to scene, then choose a response.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E9B63E-18E5-4657-B66C-9AE38C2C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05200"/>
            <a:ext cx="32194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9DFFB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B2A73B-3A76-4611-97DC-D6386453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57600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DFFB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DFFB0"/>
                </a:solidFill>
                <a:latin typeface="Aptos Mono"/>
                <a:ea typeface="Aptos Mono"/>
                <a:cs typeface="Aptos Mono"/>
              </a:rPr>
              <a:t>PAGE OUTCOME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94F07B-75EE-41E0-BDF2-5FCD266D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43350"/>
            <a:ext cx="28765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Group chat token remains available. Hidden score updates. Transition to Q5.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7B3B3B-42A1-4741-88D9-7EB46742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00250"/>
            <a:ext cx="33337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5EF079-2C52-4D83-AE76-1C0207B2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52650"/>
            <a:ext cx="2990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DESIGNED ASSETS NEEDED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53A89E-3A55-4D5A-9E82-916EDD56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57450"/>
            <a:ext cx="2990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classroom background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Biz Case grp 3 popup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small chat token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group project toast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3179B6-B2A8-4E22-91C6-5EF06014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7483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E7483"/>
                </a:solidFill>
                <a:latin typeface="Aptos Mono"/>
                <a:ea typeface="Aptos Mono"/>
                <a:cs typeface="Aptos Mono"/>
              </a:rPr>
              <a:t>Mobile-first storyboard - NBS Freshman Quiz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0023D8-DB41-421D-B129-2150B793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4626311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2270EE-C734-4074-AAD4-6F1527DB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5"/>
          </a:solidFill>
          <a:ln xmlns:a="http://schemas.openxmlformats.org/drawingml/2006/main" w="0">
            <a:solidFill>
              <a:srgbClr val="08152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F29BA-A0A2-4046-A32C-50CE9227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Q5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42D96C-C711-44A4-AF5E-29875D1D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41D23C-8F20-440A-B300-83EDF5E4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942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The CCA Fair reroutes the player into side-quest pressure.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C5253-71A3-44A4-A0E0-207B3BD1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C0C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C0CE"/>
                </a:solidFill>
                <a:latin typeface="Aptos"/>
                <a:ea typeface="Aptos"/>
                <a:cs typeface="Aptos"/>
              </a:rPr>
              <a:t>Mobile page mockup plus key outcome and asset needs.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149D70-6DEE-47CF-A546-753F3ABA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28765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70D"/>
          </a:solidFill>
          <a:ln xmlns:a="http://schemas.openxmlformats.org/drawingml/2006/main" w="11430">
            <a:solidFill>
              <a:srgbClr val="486B8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4FC75-4B84-4BA6-86D8-2FC27B9C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6608" y="1981200"/>
            <a:ext cx="805434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0">
            <a:solidFill>
              <a:srgbClr val="2637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1918C-9C09-4336-9E3D-582AEE7C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533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7EF6AE-D727-4D62-82C4-CA2C9D6C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14575"/>
            <a:ext cx="2305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Q5 CCA FAIR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4B52C9-223A-4FA8-B4AD-2DDCA7E5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25336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B"/>
          </a:solidFill>
          <a:ln xmlns:a="http://schemas.openxmlformats.org/drawingml/2006/main" w="11430">
            <a:solidFill>
              <a:srgbClr val="244B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AF9FAB-E0FE-4AB2-9643-0AA9225C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2228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5E7483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5E7483"/>
                </a:solidFill>
                <a:latin typeface="Aptos Mono"/>
                <a:ea typeface="Aptos Mono"/>
                <a:cs typeface="Aptos Mono"/>
              </a:rPr>
              <a:t>BACKGROUND ART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9B070E-66F5-4A85-B06F-FDC4D406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522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A6FC23-18D9-41CD-9B5D-49BBDF80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81350"/>
            <a:ext cx="1962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Event: The CCA Fair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207560-9887-4950-9900-69B7D563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25336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79DC71-A271-45D2-BB38-8706A155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67200"/>
            <a:ext cx="2228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You try to leave campus.</a:t>
            </a:r>
          </a:p>
          <a:p xmlns:a="http://schemas.openxmlformats.org/drawingml/2006/main">
            <a:pPr algn="l">
              <a:def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the game: lol no</a:t>
            </a:r>
          </a:p>
          <a:p xmlns:a="http://schemas.openxmlformats.org/drawingml/2006/main">
            <a:pPr algn="l">
              <a:def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Your path reroutes.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B2B345-25E8-4FA5-BCD3-45954572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685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3F5DDB-21C2-4F5A-B999-92CCBE02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625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230459-6C68-4844-94E0-CBA7B4CD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36257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F22ED3-FAB6-4817-B0CF-7689E90E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27685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6A9A60-DB7F-42D7-A164-54ADD0B9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3625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17E859-A63C-41D4-B8BA-00D3631C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36257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71A0C8-62E5-425A-93D4-9556F2F9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9595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0371FE-5D1B-417B-B422-E58BBFCC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816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012895-CFB4-432A-A3AC-0179CB33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78167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9DD4E1-80D7-451A-9396-BC10A9C3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69595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B01B02-FE7C-4630-B4D8-C95DB7CC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7816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6A0C13-5356-4261-8192-A07B05BA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78167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FC703E-87F1-4DAA-90D9-C8F3BD0D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00250"/>
            <a:ext cx="32194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67DFFD-0A54-46F9-A626-7CAD3EBA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52650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PLAYER ACTION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8561D0-70DD-4A64-BE24-FC9E472A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38400"/>
            <a:ext cx="2876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Tap through reroute beats, then choose how to handle the fair.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738E9F-20AF-4500-94D7-9D82BCAA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05200"/>
            <a:ext cx="32194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9DFFB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E4CCB2-597A-423F-9FCC-D9BF4B75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57600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DFFB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DFFB0"/>
                </a:solidFill>
                <a:latin typeface="Aptos Mono"/>
                <a:ea typeface="Aptos Mono"/>
                <a:cs typeface="Aptos Mono"/>
              </a:rPr>
              <a:t>PAGE OUTCOME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D0D349-8231-46E5-AC8F-D71AA38D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43350"/>
            <a:ext cx="28765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Route update and CCA event are shown. Hidden score updates. Transition to Q6.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1E27EC-C5D0-4622-97DA-05A6BD17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00250"/>
            <a:ext cx="33337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F121BF-864E-49FF-995D-0C1658CB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52650"/>
            <a:ext cx="2990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DESIGNED ASSETS NEEDED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60BCA0-0A96-48C0-8534-49032754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57450"/>
            <a:ext cx="2990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CCA fair background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booth/banner/tote details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reroute glitch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route/event toast frames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B1C165-368E-4BED-9979-E0D425D7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7483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E7483"/>
                </a:solidFill>
                <a:latin typeface="Aptos Mono"/>
                <a:ea typeface="Aptos Mono"/>
                <a:cs typeface="Aptos Mono"/>
              </a:rPr>
              <a:t>Mobile-first storyboard - NBS Freshman Quiz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B714D0-D81F-4044-85E3-6EF2DBD0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5803544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CE32A9-44BE-4BDF-B45A-10B24A87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5"/>
          </a:solidFill>
          <a:ln xmlns:a="http://schemas.openxmlformats.org/drawingml/2006/main" w="0">
            <a:solidFill>
              <a:srgbClr val="08152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38A47-C718-4934-8F55-D163AD77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Q6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0253E-2476-4EDD-BB7B-EE0849F0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564724-533A-4F34-B509-A3F7A296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942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Burnout Monster is the main boss encounter.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52E766-1E16-4932-ACEC-E55E4C63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C0C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C0CE"/>
                </a:solidFill>
                <a:latin typeface="Aptos"/>
                <a:ea typeface="Aptos"/>
                <a:cs typeface="Aptos"/>
              </a:rPr>
              <a:t>Mobile page mockup plus key outcome and asset needs.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27DD0-95BB-459E-B347-F2ADAB40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28765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70D"/>
          </a:solidFill>
          <a:ln xmlns:a="http://schemas.openxmlformats.org/drawingml/2006/main" w="11430">
            <a:solidFill>
              <a:srgbClr val="486B8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E29AB-3A55-4E22-8A3F-98891176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6608" y="1981200"/>
            <a:ext cx="805434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0">
            <a:solidFill>
              <a:srgbClr val="2637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8F7A1-770F-403A-9BD1-05C2137F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533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8D608C-B4E2-4461-BAD2-EBEAFFC6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14575"/>
            <a:ext cx="2305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Q6 BURNOUT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10658E-5702-4F01-BD74-155CCD80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25336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B"/>
          </a:solidFill>
          <a:ln xmlns:a="http://schemas.openxmlformats.org/drawingml/2006/main" w="11430">
            <a:solidFill>
              <a:srgbClr val="244B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11BEBB-388D-437D-8003-A9740C3E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2228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5E7483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5E7483"/>
                </a:solidFill>
                <a:latin typeface="Aptos Mono"/>
                <a:ea typeface="Aptos Mono"/>
                <a:cs typeface="Aptos Mono"/>
              </a:rPr>
              <a:t>BACKGROUND ART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BFD32B-D600-4F3C-B207-A446D28D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522"/>
          </a:solidFill>
          <a:ln xmlns:a="http://schemas.openxmlformats.org/drawingml/2006/main" w="11430">
            <a:solidFill>
              <a:srgbClr val="FF4D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22FDC-C4C7-42EE-86FE-C9242614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81350"/>
            <a:ext cx="1962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4D6D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FF4D6D"/>
                </a:solidFill>
                <a:latin typeface="Aptos Mono"/>
                <a:ea typeface="Aptos Mono"/>
                <a:cs typeface="Aptos Mono"/>
              </a:rPr>
              <a:t>WARNING: SYSTEM OVERLOAD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FC1D3F-099B-42A7-8D9B-22720AF8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25336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8E1E0B-C8C1-4C71-BC73-D82B65BB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67200"/>
            <a:ext cx="2228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The environment darkens.</a:t>
            </a:r>
          </a:p>
          <a:p xmlns:a="http://schemas.openxmlformats.org/drawingml/2006/main">
            <a:pPr algn="l">
              <a:def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Notifications stack.</a:t>
            </a:r>
          </a:p>
          <a:p xmlns:a="http://schemas.openxmlformats.org/drawingml/2006/main">
            <a:pPr algn="l">
              <a:def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A figure forms.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5AFB7F-90AE-414C-9FD6-4AC4A754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685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7DFE80-FBEF-42C7-AFE7-3C737FA9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625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C47F5F-DC2C-4D02-B5A7-ABD67FF4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36257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9E9651-2CC9-417E-B6B6-3485E47F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27685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67D335-FE4E-444C-97F7-D4BAFBD9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3625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801828-A21A-4AF7-9504-35FACFDA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36257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67D5BA-E459-421D-A205-C15C2667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9595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8495A0-5FAA-4D8C-BCEA-CCEC21F1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816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3EE486-6500-46B1-9CFF-98C88E94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78167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963E06-DA56-44EA-BF80-C21D5EEF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69595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805A94-5CA5-4CE7-9EF5-3C6F642A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7816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98BC16-806F-48E5-8E30-E02AA390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78167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DD22D8-21A9-4365-A4AE-1E2E2FE3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00250"/>
            <a:ext cx="32194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4AD01D-F3AD-4F2A-8F0F-803902ED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52650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PLAYER ACTION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B9F6D2-52F1-42C2-BC57-16B2EDD1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38400"/>
            <a:ext cx="2876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Watch notification attack, close monster popup, then choose a strategy.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372230-0075-4974-9712-A97D1B51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05200"/>
            <a:ext cx="32194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9DFFB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32A0CC-6376-48DD-8B0B-68C5F70F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57600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DFFB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DFFB0"/>
                </a:solidFill>
                <a:latin typeface="Aptos Mono"/>
                <a:ea typeface="Aptos Mono"/>
                <a:cs typeface="Aptos Mono"/>
              </a:rPr>
              <a:t>PAGE OUTCOME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2CEC3F-24F5-40BF-AF11-CE6B2CE9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43350"/>
            <a:ext cx="28765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Monster token remains. After answer, Silence Returns popup plays, then Q7 begins.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14E6B3-8714-404D-8A7F-33E94335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00250"/>
            <a:ext cx="33337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0DE2DF-DA59-44E7-A325-89CE55D0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52650"/>
            <a:ext cx="2990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DESIGNED ASSETS NEEDED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807BED-5EB2-4445-8459-E73B9016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57450"/>
            <a:ext cx="2990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burnout lair background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notification badges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warning HUD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Burnout Monster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monster disappear art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F0737D-9DB0-4385-A846-96849875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7483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E7483"/>
                </a:solidFill>
                <a:latin typeface="Aptos Mono"/>
                <a:ea typeface="Aptos Mono"/>
                <a:cs typeface="Aptos Mono"/>
              </a:rPr>
              <a:t>Mobile-first storyboard - NBS Freshman Quiz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82809A-92C5-41A6-93A9-99434A56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5889686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8113D5-3E78-4BA5-93A9-29379963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5"/>
          </a:solidFill>
          <a:ln xmlns:a="http://schemas.openxmlformats.org/drawingml/2006/main" w="0">
            <a:solidFill>
              <a:srgbClr val="08152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036822-5BCE-47E8-AF20-4EBEF48C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Q7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CFE8B-915D-4D02-9AE1-0E589471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91A4AE-042C-4F9F-9B9E-EBF447F0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942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Finals Mode creates one last crisis beat.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AD31C-5BC4-4483-BA00-7496F577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C0C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C0CE"/>
                </a:solidFill>
                <a:latin typeface="Aptos"/>
                <a:ea typeface="Aptos"/>
                <a:cs typeface="Aptos"/>
              </a:rPr>
              <a:t>Mobile page mockup plus key outcome and asset needs.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36B9F1-3B71-4B52-AA94-4BD5ABB5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28765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70D"/>
          </a:solidFill>
          <a:ln xmlns:a="http://schemas.openxmlformats.org/drawingml/2006/main" w="11430">
            <a:solidFill>
              <a:srgbClr val="486B8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B9D23-5E95-435B-9D96-2A64CE4C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6608" y="1981200"/>
            <a:ext cx="805434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0">
            <a:solidFill>
              <a:srgbClr val="2637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7A6AA-A0C4-4527-B820-2E139017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533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E5944A-F1B9-46E4-B63E-4F48FA88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14575"/>
            <a:ext cx="2305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Q7 FINALS MODE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CEA138-45C1-4DB7-AC95-450E16A6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25336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B"/>
          </a:solidFill>
          <a:ln xmlns:a="http://schemas.openxmlformats.org/drawingml/2006/main" w="11430">
            <a:solidFill>
              <a:srgbClr val="244B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AAF822-3210-48E1-AACA-71C7E97F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2228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5E7483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5E7483"/>
                </a:solidFill>
                <a:latin typeface="Aptos Mono"/>
                <a:ea typeface="Aptos Mono"/>
                <a:cs typeface="Aptos Mono"/>
              </a:rPr>
              <a:t>BACKGROUND ART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DCAF6D-B1ED-4728-827D-D15B2CE9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522"/>
          </a:solidFill>
          <a:ln xmlns:a="http://schemas.openxmlformats.org/drawingml/2006/main" w="11430">
            <a:solidFill>
              <a:srgbClr val="FF4D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5FDA82-FA4D-41B0-8EE2-70808838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81350"/>
            <a:ext cx="1962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4D6D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FF4D6D"/>
                </a:solidFill>
                <a:latin typeface="Aptos Mono"/>
                <a:ea typeface="Aptos Mono"/>
                <a:cs typeface="Aptos Mono"/>
              </a:rPr>
              <a:t>FINALS IN 14 DAYS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5BCE05-3794-4936-9E50-EE074706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25336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0C2C78-67AA-47B1-8696-12ECAA5E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67200"/>
            <a:ext cx="2228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Silence. Then...</a:t>
            </a:r>
          </a:p>
          <a:p xmlns:a="http://schemas.openxmlformats.org/drawingml/2006/main">
            <a:pPr algn="l">
              <a:def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FINALS IN 14 DAYS.</a:t>
            </a:r>
          </a:p>
          <a:p xmlns:a="http://schemas.openxmlformats.org/drawingml/2006/main">
            <a:pPr algn="l">
              <a:def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What now?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3C78CD-9D74-456C-AFC8-27121A4A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685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BB16DE-9534-4764-9484-F1760B4D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625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3748D6-D4AA-437B-8746-366A8671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36257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406D11-0F23-4652-B2B2-3F4574CC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27685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DF61AB-CDF1-414E-877B-859B361F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3625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2E4C63-868F-4B2F-9B96-0BE6B396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36257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4BF237-0FF1-4D6A-9072-C5A27356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9595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416E55-8BF9-48A8-8432-757512D7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816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970038-5BE9-4CF8-A3C8-126B69D0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78167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03F395-1524-46CF-8C17-833C5EA9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69595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F36FB8-9F47-4446-9E1F-32FF4C3A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7816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8A5926-9262-4A61-86BC-9C9274FC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78167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AE0285-0391-4580-BCDF-91E00889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00250"/>
            <a:ext cx="32194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807ABD-C6E5-44AF-B146-3E7D3F34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52650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PLAYER ACTION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9A9440-CCD0-483F-9834-9717B941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38400"/>
            <a:ext cx="2876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Read warning, then choose study/social/delay/spiral response.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68787C-8D75-413D-A5AF-025CC827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05200"/>
            <a:ext cx="32194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9DFFB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E440D1-850B-44FF-A8B2-36DF8819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57600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DFFB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DFFB0"/>
                </a:solidFill>
                <a:latin typeface="Aptos Mono"/>
                <a:ea typeface="Aptos Mono"/>
                <a:cs typeface="Aptos Mono"/>
              </a:rPr>
              <a:t>PAGE OUTCOME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F3E086-ECC4-4BD6-B69D-A3A5E9A0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43350"/>
            <a:ext cx="28765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Hidden score updates. Quest Updated interstitial appears, then Q8.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9958BD-9CE5-4F01-BF4B-90D80A9C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00250"/>
            <a:ext cx="33337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8DCEC0-374C-4E02-A9C5-4C1215B1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52650"/>
            <a:ext cx="2990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DESIGNED ASSETS NEEDED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2020FD-A2CF-49FE-9FD6-438BC5B5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57450"/>
            <a:ext cx="2990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finals warning banner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burnout/finals background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countdown effect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warning SFX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54BF08-307C-4773-A781-330BA883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7483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E7483"/>
                </a:solidFill>
                <a:latin typeface="Aptos Mono"/>
                <a:ea typeface="Aptos Mono"/>
                <a:cs typeface="Aptos Mono"/>
              </a:rPr>
              <a:t>Mobile-first storyboard - NBS Freshman Quiz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E1D4CD-48C5-4E40-9E85-71F5D7BA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5198033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498CA7-A780-418A-917E-CB9675A0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5"/>
          </a:solidFill>
          <a:ln xmlns:a="http://schemas.openxmlformats.org/drawingml/2006/main" w="0">
            <a:solidFill>
              <a:srgbClr val="08152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B4C45D-AAB1-4953-8827-23023807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Q8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26E35-1702-4D38-98C9-E64287C4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2639AA-633E-4A9C-A719-9801604B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942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Weekend Portal asks how the player allocates recovery 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98CD6-7374-45FB-92AF-4C359F02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C0C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C0CE"/>
                </a:solidFill>
                <a:latin typeface="Aptos"/>
                <a:ea typeface="Aptos"/>
                <a:cs typeface="Aptos"/>
              </a:rPr>
              <a:t>Mobile page mockup plus key outcome and asset needs.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4B55D-A632-4B61-8DA5-E9DDEDCD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28765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70D"/>
          </a:solidFill>
          <a:ln xmlns:a="http://schemas.openxmlformats.org/drawingml/2006/main" w="11430">
            <a:solidFill>
              <a:srgbClr val="486B8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9F630-6427-45AF-A4E3-84E3662B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6608" y="1981200"/>
            <a:ext cx="805434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0">
            <a:solidFill>
              <a:srgbClr val="2637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FEE57-5020-4E7D-89F6-F242840B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533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C3C8D7-4E94-4DCC-9D81-E20AA3F6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14575"/>
            <a:ext cx="2305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Q8 WEEKEND PORTAL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FFE91D-750E-4413-9C0D-B142FB83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25336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B"/>
          </a:solidFill>
          <a:ln xmlns:a="http://schemas.openxmlformats.org/drawingml/2006/main" w="11430">
            <a:solidFill>
              <a:srgbClr val="244B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61BF28-490C-4C30-A300-CA22922F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2228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5E7483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5E7483"/>
                </a:solidFill>
                <a:latin typeface="Aptos Mono"/>
                <a:ea typeface="Aptos Mono"/>
                <a:cs typeface="Aptos Mono"/>
              </a:rPr>
              <a:t>BACKGROUND ART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90E155-6BE9-408F-917C-F0BBA6AA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522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41F39C-32F6-4809-BE57-20B8B2CC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81350"/>
            <a:ext cx="1962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Weekend Instance Available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A66D98-CEFB-4017-84B7-3DC89507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25336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B24B82-0AAA-49CC-8422-3CDB98C6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67200"/>
            <a:ext cx="2228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A glowing portal opens.</a:t>
            </a:r>
          </a:p>
          <a:p xmlns:a="http://schemas.openxmlformats.org/drawingml/2006/main">
            <a:pPr algn="l">
              <a:def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What do you do?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FA52C2-C1EB-45BA-9DA6-915CD561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685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8687EE-2251-4655-8C28-D63468A6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625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F00EE1-D4DC-40F0-993B-702700E7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36257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6E3A89-5882-40F9-A374-8C640CBC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27685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100DD8-5682-4E74-AA0D-EF50F5E6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3625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CC4BB5-DC69-4398-8373-8A7ABA31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36257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7B35C9-E19F-41BC-A3AA-39247C4A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9595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AD0FCA-F8EE-409A-AAB4-EC745693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816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887B54-B125-4D19-8D67-A2D1CC93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78167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3BC178-38C4-4483-883E-A3F92CF7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69595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F1D3B9-5C8C-43E3-8E04-1F9F6EDD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7816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DBB9DF-0248-40E3-9C99-B0BC248B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78167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EB89DD-C662-402B-8AD1-538E194D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00250"/>
            <a:ext cx="32194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B2F4E6-282E-4657-AA4F-C2EA35ED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52650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PLAYER ACTION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DB6AB9-2CFC-4DE4-97DA-C83DCBB8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38400"/>
            <a:ext cx="2876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Open portal popup, return to scene, then choose weekend allocation.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EF99D9-F43D-405C-B4A3-A46E565C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05200"/>
            <a:ext cx="32194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9DFFB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B0E3C9-959B-4289-97F7-8B8C917B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57600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DFFB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DFFB0"/>
                </a:solidFill>
                <a:latin typeface="Aptos Mono"/>
                <a:ea typeface="Aptos Mono"/>
                <a:cs typeface="Aptos Mono"/>
              </a:rPr>
              <a:t>PAGE OUTCOME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BC7288-44BA-4527-BDAD-9D882C49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43350"/>
            <a:ext cx="28765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Final hidden score updates. App shows Calculating Build, then Result page.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89D4A3-C4EE-4A85-A763-2D552176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00250"/>
            <a:ext cx="33337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9F0061-3519-4001-9CE8-49A1400C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52650"/>
            <a:ext cx="2990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DESIGNED ASSETS NEEDED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1BDA38-545F-4ED0-999B-A41E4FFB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57450"/>
            <a:ext cx="2990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portal dimension background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foreground portal popup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portal token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instance toast frames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143C0E-336E-41D2-A1AD-9B6F4808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7483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E7483"/>
                </a:solidFill>
                <a:latin typeface="Aptos Mono"/>
                <a:ea typeface="Aptos Mono"/>
                <a:cs typeface="Aptos Mono"/>
              </a:rPr>
              <a:t>Mobile-first storyboard - NBS Freshman Quiz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9E324E-14B6-42B9-9E10-B39226DB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9274233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F929A9-47F3-472F-BA97-3930C23E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5"/>
          </a:solidFill>
          <a:ln xmlns:a="http://schemas.openxmlformats.org/drawingml/2006/main" w="0">
            <a:solidFill>
              <a:srgbClr val="08152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81FBB-C6D3-4C5A-8F86-15673A35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9E9CA-F912-4202-BF59-D13BCDD4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A625B-4EEF-4D02-BE02-F1D49550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942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Result page reveals the winning freshman build.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EFF93-8283-4C46-887A-5363D3CA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C0C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C0CE"/>
                </a:solidFill>
                <a:latin typeface="Aptos"/>
                <a:ea typeface="Aptos"/>
                <a:cs typeface="Aptos"/>
              </a:rPr>
              <a:t>Mobile page mockup plus key outcome and asset needs.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9A032A-F0A5-40C5-AED7-FB8596A2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28765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70D"/>
          </a:solidFill>
          <a:ln xmlns:a="http://schemas.openxmlformats.org/drawingml/2006/main" w="11430">
            <a:solidFill>
              <a:srgbClr val="486B8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8C6DCD-C504-48D9-B26E-0F3A1B8C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6608" y="1981200"/>
            <a:ext cx="805434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0">
            <a:solidFill>
              <a:srgbClr val="2637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872A1C-2E4F-43F9-A059-0810A5C4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533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65BCAC-6D40-4CCE-8735-87B08593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14575"/>
            <a:ext cx="2305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RESULT REVEAL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7F6DDA-E6EA-46DF-889B-9528EBE3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25336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B"/>
          </a:solidFill>
          <a:ln xmlns:a="http://schemas.openxmlformats.org/drawingml/2006/main" w="11430">
            <a:solidFill>
              <a:srgbClr val="244B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96CDFE-AD38-4F6B-8827-84AF405C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2228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5E7483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5E7483"/>
                </a:solidFill>
                <a:latin typeface="Aptos Mono"/>
                <a:ea typeface="Aptos Mono"/>
                <a:cs typeface="Aptos Mono"/>
              </a:rPr>
              <a:t>BACKGROUND ART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7C5873-3756-45CB-A846-5EB0976A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25336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28F230-9860-4F6D-92CB-64E517E2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67200"/>
            <a:ext cx="2228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Freshman Type Revealed.</a:t>
            </a:r>
          </a:p>
          <a:p xmlns:a="http://schemas.openxmlformats.org/drawingml/2006/main">
            <a:pPr algn="l">
              <a:def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Motto, traits, tags, profile, tips.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EEF5D1-D4B1-40AF-B4AF-FD47E1DC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685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A67526-F0C5-4455-B755-3404ACFA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625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1AFAD5-704A-4DB2-A805-3DE3E448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36257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130CA5-2A2B-4282-8D88-2D1923EA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27685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14194F-E977-40A4-BAA3-D2550237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3625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96E066-2BEF-4FBA-B84B-E8283BA5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36257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5329B1-2444-442B-81EF-6CBB89F4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9595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138214-B5FB-47CD-A705-43CB2313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816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EF1780-B31E-45C6-895E-3748ADB2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78167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FE5769-63D7-4A5C-8911-23EE0C3B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69595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8E5FF1-B6D0-4516-B39D-06DAB376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7816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38ABD1-9F66-44D5-968E-F1C4D692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781675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A9C0CE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168888-CEDD-4FE8-AED9-8E892C97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00250"/>
            <a:ext cx="32194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0D5B54-244F-4276-82C7-D161D2C7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52650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PLAYER ACTION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B066C7-538E-4A17-83A5-DB65174A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38400"/>
            <a:ext cx="2876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Player reads profile or taps Replay Arc.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F32131-DB4D-4FF2-8595-1D8E3C5B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05200"/>
            <a:ext cx="32194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9DFFB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B7EE10-0FA9-4A31-8736-07A2BA1F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57600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DFFB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DFFB0"/>
                </a:solidFill>
                <a:latin typeface="Aptos Mono"/>
                <a:ea typeface="Aptos Mono"/>
                <a:cs typeface="Aptos Mono"/>
              </a:rPr>
              <a:t>PAGE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C246B5-AF4B-4633-AD23-46BB26A1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43350"/>
            <a:ext cx="28765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One of six result profiles is shown. Replay resets the quiz.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F41994-B80C-47BA-8B61-A68E1155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00250"/>
            <a:ext cx="33337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ED5FDC-1E77-4659-BD38-7E9F97E9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52650"/>
            <a:ext cx="2990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DESIGNED ASSETS NEEDED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2DBC0F-F806-4637-984F-D0395192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57450"/>
            <a:ext cx="2990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result profile card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six optional avatars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result reveal effect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Replay Arc button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97D4A4-DB5C-4DE1-B917-4ACD4BFA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7483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E7483"/>
                </a:solidFill>
                <a:latin typeface="Aptos Mono"/>
                <a:ea typeface="Aptos Mono"/>
                <a:cs typeface="Aptos Mono"/>
              </a:rPr>
              <a:t>Mobile-first storyboard - NBS Freshman Quiz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C22E2E-8AE4-4259-A130-192372B7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504141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AF2120-46FF-4813-9931-44E2314C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5"/>
          </a:solidFill>
          <a:ln xmlns:a="http://schemas.openxmlformats.org/drawingml/2006/main" w="0">
            <a:solidFill>
              <a:srgbClr val="08152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B5774-513F-4251-A27C-2011DE9A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DESIGNED ASSETS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02A076-EAC2-48DC-AA8B-F0D9098C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2E4AF-63AF-40A4-91C9-7B24C661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942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What the student designer needs to produce.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017DC2-B027-422B-8573-A56D0EC4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C0C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C0CE"/>
                </a:solidFill>
                <a:latin typeface="Aptos"/>
                <a:ea typeface="Aptos"/>
                <a:cs typeface="Aptos"/>
              </a:rPr>
              <a:t>Ignore current placeholder graphics; these are the production asset groups.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16C6EC-A11F-4BCD-9E03-1FE04E34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31813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2FA099-4005-4C67-B2A5-7744284F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838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BACKGROUNDS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9DDD2E-77B5-45E9-ADE5-F67171E3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28384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title screen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WCY Plaza gate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orientation arena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classroom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CCA fair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burnout lair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weekend portal dimension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result reveal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D2C438-E4CB-4746-B443-003F1DAD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38350"/>
            <a:ext cx="31813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714F96-A06D-4EF2-B43B-DE4EF44B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90750"/>
            <a:ext cx="2838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FOREGROUND STORY ASSETS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223183-1844-40F3-90DC-F7F6C58F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95550"/>
            <a:ext cx="28384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Biz Case grp 3 chat popup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Burnout Monster idle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Burnout Monster disappear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Weekend Portal foreground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deadline notification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meeting notification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unread notification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are-you-free notification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D6BF51-F67B-49CB-A3F6-370E4597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38350"/>
            <a:ext cx="31813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9DFFB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128C81-4712-4A8F-82E0-7FA9E100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2838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DFFB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DFFB0"/>
                </a:solidFill>
                <a:latin typeface="Aptos Mono"/>
                <a:ea typeface="Aptos Mono"/>
                <a:cs typeface="Aptos Mono"/>
              </a:rPr>
              <a:t>REUSABLE UI ASSETS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2F0A31-B133-4BD2-A85A-0A62A4CA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95550"/>
            <a:ext cx="28384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dialogue frame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info/event/warning toast frames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mobile option buttons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artifact tokens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quest archive modal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result profile card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Replay Arc button</a:t>
            </a:r>
          </a:p>
          <a:p xmlns:a="http://schemas.openxmlformats.org/drawingml/2006/main">
            <a:pPr algn="l">
              <a:defRPr sz="121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- SFX toggle states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2037C6-1A0A-4383-BC62-24F61391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57850"/>
            <a:ext cx="899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0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Priority: backgrounds first, then Q4/Q6/Q8 foreground popups, then reusable HUD frames.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1B5221-7C98-44F0-8DDA-4337EC46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7483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E7483"/>
                </a:solidFill>
                <a:latin typeface="Aptos Mono"/>
                <a:ea typeface="Aptos Mono"/>
                <a:cs typeface="Aptos Mono"/>
              </a:rPr>
              <a:t>Mobile-first storyboard - NBS Freshman Quiz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27FC95-5A7F-4281-90AF-3E3CE672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3761361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AA2FD1-7C7D-4CAB-A3BB-6CDE25E7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5"/>
          </a:solidFill>
          <a:ln xmlns:a="http://schemas.openxmlformats.org/drawingml/2006/main" w="0">
            <a:solidFill>
              <a:srgbClr val="08152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585C1B-16D6-47B5-AC78-0F0855FD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SCORING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2E126D-7159-4411-91B7-9C0ED18A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3141E-CC6F-4C2E-BB8F-D6364A40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942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Final result is calculated by hidden weighted buckets.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7D4EE-3635-4DE9-BE9B-842284F2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C0C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C0CE"/>
                </a:solidFill>
                <a:latin typeface="Aptos"/>
                <a:ea typeface="Aptos"/>
                <a:cs typeface="Aptos"/>
              </a:rPr>
              <a:t>This is internal review only; players should not see scoring during the quiz.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7EA9B8-EADC-48BB-8A78-F0EE0E2D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3143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02D8F-98F9-4799-8B90-16EF3445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HOW IT WORKS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BF06D-5A8B-41FB-B70B-5D1E761C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2800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Six score buckets start at 0. Every answer adds points to one or more buckets. Highest total wins.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762994-38A1-4C71-BA7E-CD8A6AEF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059898-752D-470B-9084-0AF91370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TIE-BREAKERS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987730-F014-4834-A933-B35ED7CA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2800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If scores tie: compare primary answer counts, then most recent primary choice, then fallback order.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34E9E7-3B2F-49FA-988A-4DF7A32F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81200"/>
            <a:ext cx="65151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9DFFB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38530A-40FB-42D5-A714-69006C09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907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DFFB0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9DFFB0"/>
                </a:solidFill>
                <a:latin typeface="Aptos Mono"/>
                <a:ea typeface="Aptos Mono"/>
                <a:cs typeface="Aptos Mono"/>
              </a:rPr>
              <a:t>Primary outcome map by option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5D22BB-C273-41A0-BCEF-3A3FD949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09850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Page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6C6BE1-5EF8-462B-820F-B5B0E7C6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09850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ACEA77-0917-4393-AA7F-4CB3138A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73C2E3-CAC5-4175-AF89-95A8AF00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E386AB-75CD-467D-854B-3852B6A4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09850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B71B8D-0E87-4D0B-AF5C-31960A0C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1465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Q1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8CC637-6997-4078-B8AF-7F4D57BA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1465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Over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E65509-9EE7-463B-81DC-C81BD7D6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1465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Lost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C4040D-C7C4-4F76-A48A-406F6FBF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1465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Support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9F4EAE-8DE0-40A4-ADA5-C2F7A830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1465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WeBall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7AC2C7-0140-4040-B2C4-316E05A2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8135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Q2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C62BAD-9897-44BF-A965-DE4C4643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8135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Strat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E1A4A6-6293-4985-BA20-F286D2EB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18135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Social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EA0FCB-00AA-476C-B91D-9D358C86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8135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Support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971EF4-8B88-4372-BFF8-B6A9D0F8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18135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Lost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6AA47A-8DF4-4A8E-8004-CD06B922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4805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Q3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1F76A3-5DD7-4AAD-976E-35A0B407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4805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Strat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D7DC64-E12E-4589-8EEE-B78C015E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4805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Social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933A4D-CE35-42A3-8C15-0928A955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4805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Lost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D96049-AC24-4153-BC54-A62DB348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4805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WeBall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3C682F-1D50-416D-89DC-1ECCCDF8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1475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Q4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E12B5F-8EA9-46DA-AEF1-88F07ACE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1475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Over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D64873-8A07-43C3-8389-6A3408C6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1475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Social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DBCCF2-BF46-4F79-A4F0-9747DBAD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Support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792E58-097B-4C7C-BD97-A6E874D9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1475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WeBall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9FA55F-2203-442C-B95D-24A42BA7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8145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Q5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FD6976-D503-4EB4-9C0E-77554A06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8145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Strat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047C0D-6E19-4B2B-9305-1711C84A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8145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Social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7EC229-FF37-437D-9DCE-18D6909E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8145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Lost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0A65FE-BFFD-4204-9E01-B875DA57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98145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Support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6CCE16-DE4B-4607-AA9F-F8CA39B9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24815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Q6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1C39C41-AE15-40D3-8E5D-328AAAE0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24815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Over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2BF7953-EED3-4D5A-A4ED-5E09A22A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24815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Support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D0D8752-E327-483C-B4AB-26551A14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4815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Lost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65CD223-BB24-4E90-86DB-4C47EA79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24815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WeBall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7618CAD-986D-481E-A970-EC540737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51485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Q7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DF2E90C-ADA2-4538-B092-338BDC96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51485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Over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84E1522-0278-4A0E-A781-0B7C67AE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1485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Social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BE764C8-88AF-4259-BC3B-CDD79C07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1485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Lost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A9A447E-9B91-4400-9977-55987E6B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51485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WeBall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F2F0DE8-FFA5-49CD-A3DF-1A520300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78155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Q8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CD459AC-2E89-459D-B080-814DBA65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78155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Over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496757B-9072-4318-A154-855D62A0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8155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Social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184CAA1-3BA6-4ADF-808E-C7C64A6F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8155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Support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1950686-2C0A-4352-B91D-E84191BD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78155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Lost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50151E2-562D-42E5-ABE3-1876AC38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505450"/>
            <a:ext cx="6419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A9C0CE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A9C0CE"/>
                </a:solidFill>
                <a:latin typeface="Aptos"/>
                <a:ea typeface="Aptos"/>
                <a:cs typeface="Aptos"/>
              </a:rPr>
              <a:t>Abbrev: Over = Overachiever, Social = Social Butterfly, Lost = Lost but Vibing, Support = Soft Supporter, WeBall = We Ball Agent, Strat = Lowkey Strategist.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AD1994A-1342-44DB-92FB-EE6790B3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7483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E7483"/>
                </a:solidFill>
                <a:latin typeface="Aptos Mono"/>
                <a:ea typeface="Aptos Mono"/>
                <a:cs typeface="Aptos Mono"/>
              </a:rPr>
              <a:t>Mobile-first storyboard - NBS Freshman Quiz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0CD83EE-B5EF-4EB9-92E6-5C6E1D4A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3579631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08E899-DA9B-4A54-BE95-E1536F04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5"/>
          </a:solidFill>
          <a:ln xmlns:a="http://schemas.openxmlformats.org/drawingml/2006/main" w="0">
            <a:solidFill>
              <a:srgbClr val="08152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6F9865-D5EF-4F8C-A588-BD6EB3C5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DETAILED SCORING Q1-Q4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BDC791-4D13-4BF0-92A7-FB0C6BFA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30430-6E07-4E96-AE3F-AA87D667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942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Actual scoring uses weighted points, not just avatar mapping.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0C0141-F632-427B-AFEE-B24ADE03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C0C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C0CE"/>
                </a:solidFill>
                <a:latin typeface="Aptos"/>
                <a:ea typeface="Aptos"/>
                <a:cs typeface="Aptos"/>
              </a:rPr>
              <a:t>Each answer can add points to multiple hidden buckets.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71934-EC5F-4824-871A-7E5C8A65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4762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C48840-F9CA-45BF-BAB6-CE5BBCF6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445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Q1 Character Spawn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C86BB8-86F2-44BE-9226-014DCE16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81440A-6078-44BF-BDE0-64418AA2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95550"/>
            <a:ext cx="1200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410B03-E99B-420F-9D88-EA13D588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95550"/>
            <a:ext cx="2609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Actual score added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315360-7999-4D2E-9B73-EC381219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95575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3"/>
          </a:solidFill>
          <a:ln xmlns:a="http://schemas.openxmlformats.org/drawingml/2006/main" w="0">
            <a:solidFill>
              <a:srgbClr val="244B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8E6448-E8EE-4940-8D08-0709ECE6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225DB7-1771-4A32-B88B-1DAEE0B5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8130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Master Planner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CBAB48-E5F6-4D8B-9D4E-D548420F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81300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Overachiever +2, Strategist +1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AC267B-CE80-46D5-81A9-3D21B7FD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3"/>
          </a:solidFill>
          <a:ln xmlns:a="http://schemas.openxmlformats.org/drawingml/2006/main" w="0">
            <a:solidFill>
              <a:srgbClr val="244B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F042A1-76D4-493A-B8CB-EA8D0A5C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1467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A2850-421A-4BA9-9A92-1655E8F9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14675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Vibe Mode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2FECF8-1660-49B2-9B0F-09AECCFD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14675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Social +1, Lost +2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4C3168-C696-41C9-9919-DD54A5F4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62325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3"/>
          </a:solidFill>
          <a:ln xmlns:a="http://schemas.openxmlformats.org/drawingml/2006/main" w="0">
            <a:solidFill>
              <a:srgbClr val="244B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267E69-FACC-48CC-8816-00832384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AA68E4-F889-4A9F-A967-6B886CDA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4805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Comfort Kit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424428-F74F-47E8-A665-3D95D04A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48050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Supporter +2, Lost +1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1E8747-AB71-4F6D-8476-7FD11723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3"/>
          </a:solidFill>
          <a:ln xmlns:a="http://schemas.openxmlformats.org/drawingml/2006/main" w="0">
            <a:solidFill>
              <a:srgbClr val="244B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C9ABE2-D5FE-40E7-AEB8-333AAE2E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8142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5A7246-1F55-49D9-84C6-B601208E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81425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Mystery Loadout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4919A3-27CB-4175-AC84-97902524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81425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We Ball +2, Lost +1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22F811-7218-4D97-B992-421C97AA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4762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C342D5-018B-4434-A4BC-E6961B7D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445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Q2 Orientation Arena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7ACEB8-BC74-41E8-8F20-D73AF563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955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Input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EBB570-9AA8-494D-B2E8-ABE779E0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95550"/>
            <a:ext cx="1200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F07E88-C949-4931-8E57-517AEB47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95550"/>
            <a:ext cx="2609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Actual score added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DC4759-BD82-4C5F-B1BC-B3B15D2E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95575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3"/>
          </a:solidFill>
          <a:ln xmlns:a="http://schemas.openxmlformats.org/drawingml/2006/main" w="0">
            <a:solidFill>
              <a:srgbClr val="244B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3FAE1A-C9B1-41D4-B434-2392ACD6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813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4EEF77-CD2D-427B-913F-CC3239A3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Scan, Smile, Sync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0135E5-034A-478F-AFC7-38B6F3F0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Strategist +2, Overachiever +1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7DC66D-86A9-437A-A3E6-D8289E97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28950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3"/>
          </a:solidFill>
          <a:ln xmlns:a="http://schemas.openxmlformats.org/drawingml/2006/main" w="0">
            <a:solidFill>
              <a:srgbClr val="244B6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047087-BD3A-4251-9A1B-4E40F10B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1467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9E1CAC-108F-498A-AD9E-85B7C125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14675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Mass Friendship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69AC4A-8E60-45C4-9F01-AA1941A6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14675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Social +3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71F3C5-D5D4-4D36-ACF3-7BDA7E89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62325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3"/>
          </a:solidFill>
          <a:ln xmlns:a="http://schemas.openxmlformats.org/drawingml/2006/main" w="0">
            <a:solidFill>
              <a:srgbClr val="244B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4AF629F-3F48-4E9B-B688-06A87444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480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311530-4AC9-4179-B4DC-A749960D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4805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Small Party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21D883-EC55-44B5-8096-1B57D7FE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48050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Supporter +2, Strategist +1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198057-B3A5-4D3E-9917-C8F2BA02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95700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3"/>
          </a:solidFill>
          <a:ln xmlns:a="http://schemas.openxmlformats.org/drawingml/2006/main" w="0">
            <a:solidFill>
              <a:srgbClr val="244B6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40EFA45-37F2-4436-9944-C0806E82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8142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4AFD14-AEC3-4BF9-BE56-A1B13BED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81425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Party Invite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398097-D70C-48E9-BF00-CEC7CAC2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81425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Lost +2, Supporter +1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E59B860-2B61-4014-A02C-6BC6FC38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14800"/>
            <a:ext cx="4762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A1E939-B71D-47DD-B9A7-8BD07135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445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Q3 Finding Class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79BC619-7289-4EEB-A2E6-C507ACF0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Input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9D801E1-F0FA-40CD-BB24-1C23C3A0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72000"/>
            <a:ext cx="1200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Action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C9C6902-271F-4F85-9B39-96C678F1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72000"/>
            <a:ext cx="2609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Actual score added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F518D31-5240-4227-9853-DAF5ECCA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72025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3"/>
          </a:solidFill>
          <a:ln xmlns:a="http://schemas.openxmlformats.org/drawingml/2006/main" w="0">
            <a:solidFill>
              <a:srgbClr val="244B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438986A-BF9E-4973-9578-0850977C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25950C0-6385-4DDA-973A-17EA1971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5775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Triangulate Route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0AFA297-7C52-4E9B-BEEB-62F3A995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57750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Overachiever +1, Strategist +2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F607FE3-45B5-4D4C-8D78-60B9788A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5400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3"/>
          </a:solidFill>
          <a:ln xmlns:a="http://schemas.openxmlformats.org/drawingml/2006/main" w="0">
            <a:solidFill>
              <a:srgbClr val="244B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A7DD033-D2CD-4D42-80EB-A60548A6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9112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B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1F0351A-7279-4EFE-9105-F38877FC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91125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Senior Intel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776D792-8632-4021-BE6B-B32790C8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91125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Social +2, Supporter +1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F8F3886-8E75-4737-A8E0-09F205C8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38775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3"/>
          </a:solidFill>
          <a:ln xmlns:a="http://schemas.openxmlformats.org/drawingml/2006/main" w="0">
            <a:solidFill>
              <a:srgbClr val="244B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564237A-9225-4ADB-A2BA-3A1794F9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C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406D6F8-57E9-4C88-A865-84CF6AB7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52450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Main Character Walk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526DB6E-8694-4E70-A7EE-EB7F7C95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24500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Lost +2, Strategist +1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2354483-DAB1-4242-AE7A-4AA0697F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72150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3"/>
          </a:solidFill>
          <a:ln xmlns:a="http://schemas.openxmlformats.org/drawingml/2006/main" w="0">
            <a:solidFill>
              <a:srgbClr val="244B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1A731D6-1CF1-4707-A273-35B9B9B4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5787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D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320A1DF-51B1-47A0-8259-4180D090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857875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Abort Mission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E3194D2-BBCC-4A22-877A-CBCF970A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857875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We Ball +2, Lost +1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3384C3D-EDBE-4E76-AD72-226D86CB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14800"/>
            <a:ext cx="4762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00F97C4-B592-4DC0-B106-42C448EC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48150"/>
            <a:ext cx="445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Q4 Group Project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FCF0AFA-C867-437B-8D67-10F50FEC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Input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3984703-692B-4C63-876D-F1D64B09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72000"/>
            <a:ext cx="1200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Action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629A436-9A63-4658-AE51-63109335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72000"/>
            <a:ext cx="2609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Actual score added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CC4DDA9-A1FD-41BD-978A-177C69E6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72025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3"/>
          </a:solidFill>
          <a:ln xmlns:a="http://schemas.openxmlformats.org/drawingml/2006/main" w="0">
            <a:solidFill>
              <a:srgbClr val="244B6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9179675-98BB-4B10-BD6E-FA1FEC04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577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A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266E1B0-9669-4460-B806-03971A6C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5775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War Room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0A98C99-2745-4DD0-A51D-A44E1CF3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57750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Overachiever +2, Strategist +1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764728A-1BF2-4609-B8AF-61D0089C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05400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3"/>
          </a:solidFill>
          <a:ln xmlns:a="http://schemas.openxmlformats.org/drawingml/2006/main" w="0">
            <a:solidFill>
              <a:srgbClr val="244B63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45D5033-FD88-40CF-A064-785FD351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9112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B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5779094-D7D2-44EB-A6E6-CF634DC9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91125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Icebreaker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7F18E43-4FC6-4AC8-A37C-3427D340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91125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Social +2, Supporter +1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F6D22FD-BDAE-4593-B75B-BB73035A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38775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3"/>
          </a:solidFill>
          <a:ln xmlns:a="http://schemas.openxmlformats.org/drawingml/2006/main" w="0">
            <a:solidFill>
              <a:srgbClr val="244B63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2237D97-AF39-47C5-B969-FF8B2F26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245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C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6B47C7C-66C1-4BA7-959C-BBE81A07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2450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Take a Lane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A75DF59-12C6-42EE-8184-65134302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24500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Supporter +2, Strategist +1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906F29E-C98C-4CF0-AF32-AFA38AE6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772150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3"/>
          </a:solidFill>
          <a:ln xmlns:a="http://schemas.openxmlformats.org/drawingml/2006/main" w="0">
            <a:solidFill>
              <a:srgbClr val="244B63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E111617-049C-4D8D-96C4-9101168D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85787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D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B535A8F-4F1A-4CE0-827E-85B1A537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857875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Chaos Protocol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4D7863D-F8CD-49AF-A0FF-5BF11FE0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857875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We Ball +3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C97AA29-CBA9-4072-842E-64B9DE39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7483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E7483"/>
                </a:solidFill>
                <a:latin typeface="Aptos Mono"/>
                <a:ea typeface="Aptos Mono"/>
                <a:cs typeface="Aptos Mono"/>
              </a:rPr>
              <a:t>Mobile-first storyboard - NBS Freshman Quiz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86677D3-21B4-4842-B691-FA055EF1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1291733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A24412-1AF5-4750-9A9A-89B30BAB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5"/>
          </a:solidFill>
          <a:ln xmlns:a="http://schemas.openxmlformats.org/drawingml/2006/main" w="0">
            <a:solidFill>
              <a:srgbClr val="08152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09154-335A-478D-B955-4A30DEAD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DETAILED SCORING Q5-Q8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EBC2BB-C7DC-4011-AB36-9487C38A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1201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043E18-FD55-4D91-B41C-31501E24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942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Final result is the highest total bucket after all eight choices.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6BE37A-47C7-46C1-AEDB-51391914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C0C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C0CE"/>
                </a:solidFill>
                <a:latin typeface="Aptos"/>
                <a:ea typeface="Aptos"/>
                <a:cs typeface="Aptos"/>
              </a:rPr>
              <a:t>Primary outcome is only used as a tie-breaker.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9C708-FEBD-4A7B-B56C-764C7131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4762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19ECE9-7AD2-48C0-A4D8-6ED4B2BB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445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Q5 CCA Fair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839760-1809-4C2F-8CBB-FCEE8902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A5AF9F-5A48-48FF-B688-2612AEFE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95550"/>
            <a:ext cx="1200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00EEAB-83F1-48C8-8A06-3BFD96C7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95550"/>
            <a:ext cx="2609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Actual score added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58995E-7F43-4E91-A957-83CF1BF6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95575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3"/>
          </a:solidFill>
          <a:ln xmlns:a="http://schemas.openxmlformats.org/drawingml/2006/main" w="0">
            <a:solidFill>
              <a:srgbClr val="244B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6E72C1-C2C0-49E4-B4AB-5DBCA2F1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9B8373-CB63-4965-AAF7-93F229AA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8130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Audit Booths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C370B6-1DB2-4B6A-8AC4-4851EA6A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81300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Overachiever +1, Strategist +2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C2C7EB-6928-4ADE-ACD0-95B46879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3"/>
          </a:solidFill>
          <a:ln xmlns:a="http://schemas.openxmlformats.org/drawingml/2006/main" w="0">
            <a:solidFill>
              <a:srgbClr val="244B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9A751D-2628-47CB-873F-8681ECDA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1467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7DBD06-CA1C-4253-8B58-44467FBE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14675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All Side Quests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21A99D-2660-4E85-BA85-CBCB1399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14675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Social +2, We Ball +1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854268-882B-4264-926D-FDE27F75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62325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3"/>
          </a:solidFill>
          <a:ln xmlns:a="http://schemas.openxmlformats.org/drawingml/2006/main" w="0">
            <a:solidFill>
              <a:srgbClr val="244B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E163F4-B714-4013-9D9D-2935C31E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B4F84E-4923-4948-9C1E-4A01DB46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4805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Loot and Evade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F559CE-E966-41B1-8258-3FAE1362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48050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Lost +2, We Ball +1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AA84C2-C3DE-49E3-A1DE-8E5952FA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3"/>
          </a:solidFill>
          <a:ln xmlns:a="http://schemas.openxmlformats.org/drawingml/2006/main" w="0">
            <a:solidFill>
              <a:srgbClr val="244B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62B373-7A7A-4BB2-9FEF-22E75199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8142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848454-6F99-4302-8C6E-BAE0F062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81425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Follow Friend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71AF5D-E7FF-4402-9227-A60B78A7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81425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Supporter +2, Social +1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64F853-4D0F-4603-AC16-227B5619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4762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5DFF8A-02DD-445E-A6BE-A6D517BE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445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Q6 Burnout Monster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1D4955-1125-4C1E-B792-A39E5E2F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955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Input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3A6126-4709-476B-897A-D1DCB06D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95550"/>
            <a:ext cx="1200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FFAC96-8F10-4B37-87D9-D3A1C18F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95550"/>
            <a:ext cx="2609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Actual score added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D11C81-3C2B-448B-9898-3AB3838B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95575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3"/>
          </a:solidFill>
          <a:ln xmlns:a="http://schemas.openxmlformats.org/drawingml/2006/main" w="0">
            <a:solidFill>
              <a:srgbClr val="244B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51C58F-B4F6-4794-A40F-2C244172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813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337E5E-C13C-4694-95B3-A45E77E2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Focus Burst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685207-2FE3-4C68-A22D-8DA051E1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Overachiever +2, Strategist +1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94ACD4-9D07-4277-8447-5B07AFC1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28950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3"/>
          </a:solidFill>
          <a:ln xmlns:a="http://schemas.openxmlformats.org/drawingml/2006/main" w="0">
            <a:solidFill>
              <a:srgbClr val="244B6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5415F8-5D7A-4435-A67C-699CE7D2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1467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FAEA54-67C2-4182-9334-E3C9E3F9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14675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Call Backup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581F79-5C9E-4A8E-8E7B-C1D3CE62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14675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Social +1, Supporter +2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4B783C-E651-4334-A70A-7812795D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62325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3"/>
          </a:solidFill>
          <a:ln xmlns:a="http://schemas.openxmlformats.org/drawingml/2006/main" w="0">
            <a:solidFill>
              <a:srgbClr val="244B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79A2E5-336E-4221-8025-A074C057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480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DCFDFE7-3F7C-44C5-9463-2E621F8B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4805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Recovery Potion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760F311-0C0E-4450-B4BA-E760666B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48050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Lost +2, Supporter +1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45334F-772B-4F1E-A60F-A44F0B8D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95700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3"/>
          </a:solidFill>
          <a:ln xmlns:a="http://schemas.openxmlformats.org/drawingml/2006/main" w="0">
            <a:solidFill>
              <a:srgbClr val="244B6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E12F12F-EC5D-4E32-882E-C56FDF00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8142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7BA9C32-83A4-4CE6-8330-875CF00E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81425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Endurance Mode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D5DE5AA-CDB6-4C9A-93BD-8691BE85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81425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We Ball +2, Overachiever +1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D3FAB84-08FD-45D3-82C9-77A36AE8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14800"/>
            <a:ext cx="4762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0F41159-2E3E-4AE4-B522-45810040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445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Q7 Finals Mode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2EEEFC2-58D2-4652-9956-816C646B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Input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3A426EB-D466-4BB1-B2BE-FCFF2C70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72000"/>
            <a:ext cx="1200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Action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73491D9-8259-4AF2-A276-D2090A8D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72000"/>
            <a:ext cx="2609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Actual score added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F7C91ED-D31A-49E7-804B-F14AC704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72025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3"/>
          </a:solidFill>
          <a:ln xmlns:a="http://schemas.openxmlformats.org/drawingml/2006/main" w="0">
            <a:solidFill>
              <a:srgbClr val="244B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35CD5A6-6ECB-414B-B4C2-71908E3E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6F9397C-E9C0-4254-8EBD-4B7622DD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5775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Revision Plan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A78AA37-D7EF-4015-B290-4BAD85F2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57750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Overachiever +2, Strategist +1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44BCCC6-68C5-4B53-BFBC-7037D75A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5400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3"/>
          </a:solidFill>
          <a:ln xmlns:a="http://schemas.openxmlformats.org/drawingml/2006/main" w="0">
            <a:solidFill>
              <a:srgbClr val="244B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A96127A-F354-4FB2-B50E-92B56067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9112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B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7306AAD-A27F-49E0-9DE2-6F2D8D63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91125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Study + Side Quest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DEF6760-A146-462A-82C0-4273D614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91125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Social +2, Lost +1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9E8DF80-AE6C-41F6-98B2-2F59DD69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38775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3"/>
          </a:solidFill>
          <a:ln xmlns:a="http://schemas.openxmlformats.org/drawingml/2006/main" w="0">
            <a:solidFill>
              <a:srgbClr val="244B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D594727-E3D9-4B35-B50B-7450346F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C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5D45C3E-BB5F-4DD9-B942-89E2C1EF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52450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Delay Countdown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282A069-3C9F-4A0E-8A2E-338BD732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24500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Lost +2, We Ball +1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102A39E-5ACD-47E8-B25E-4C77F949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72150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3"/>
          </a:solidFill>
          <a:ln xmlns:a="http://schemas.openxmlformats.org/drawingml/2006/main" w="0">
            <a:solidFill>
              <a:srgbClr val="244B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EE1BA08-6733-488A-A6C9-F8F095E4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5787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D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AD1FAA5-E944-49B8-98F4-E6D1634A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857875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Spiral Cutscene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083DDCD-F6D8-4DE0-8B9E-9B91CC2D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857875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We Ball +2, Supporter +1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E8B4BF3-7535-40D2-B0BB-9A2E1C4D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14800"/>
            <a:ext cx="4762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A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3F3A631-30B2-44C4-B101-4B26E406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48150"/>
            <a:ext cx="445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Q8 Weekend Portal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151091B-1C5A-4D25-9AAA-BA8CC376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Input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4911159-0A31-4B84-A4B6-8CE2238B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72000"/>
            <a:ext cx="1200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Action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0C7B5B9-9718-4495-A5BC-EF29F8FD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72000"/>
            <a:ext cx="2609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Actual score added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B69EE97-728F-44D2-B8BE-3F956786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72025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3"/>
          </a:solidFill>
          <a:ln xmlns:a="http://schemas.openxmlformats.org/drawingml/2006/main" w="0">
            <a:solidFill>
              <a:srgbClr val="244B6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BAC69CF-C6F0-4A4A-B3D1-F365C9C2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577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A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445B731-33C3-4119-BC2D-96D40C9B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5775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Preload Week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FF6A43E-2A5B-40F3-BB17-8005723A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57750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Overachiever +2, Strategist +1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7ADA363-8B76-451D-A9A3-3FE73E00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05400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3"/>
          </a:solidFill>
          <a:ln xmlns:a="http://schemas.openxmlformats.org/drawingml/2006/main" w="0">
            <a:solidFill>
              <a:srgbClr val="244B63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DF253D8-C1D0-4B4C-9E55-A8A78F32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9112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B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9AE6814-8338-4CE7-8281-71C53BBE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91125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Social Free Roam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406F743-AA64-443E-A4C3-4194C9C2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91125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Social +2, We Ball +1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526F105-0A7F-4B62-B7A8-3752629C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38775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3"/>
          </a:solidFill>
          <a:ln xmlns:a="http://schemas.openxmlformats.org/drawingml/2006/main" w="0">
            <a:solidFill>
              <a:srgbClr val="244B63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A0906EF-ACB7-456E-8137-922D5F8F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245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C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ED1E70A-7A98-4E70-A588-CFC2FEC3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2450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Restore HP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2EEE8D2-75AD-4C66-AE10-D6E36E6C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24500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Supporter +2, Lost +1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0EF3DE5-B7D8-4F57-85AA-41B81248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772150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63"/>
          </a:solidFill>
          <a:ln xmlns:a="http://schemas.openxmlformats.org/drawingml/2006/main" w="0">
            <a:solidFill>
              <a:srgbClr val="244B63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4D6B553-37D2-446C-9FAE-762D8088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85787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D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EFE177C-36A7-484A-9997-5AE74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857875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Productivity Mirage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AA61C36-4D46-416F-A5A7-1288AD2B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857875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Lost +2, We Ball +1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09666DE-1403-46B7-83C3-47C0D183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7483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E7483"/>
                </a:solidFill>
                <a:latin typeface="Aptos Mono"/>
                <a:ea typeface="Aptos Mono"/>
                <a:cs typeface="Aptos Mono"/>
              </a:rPr>
              <a:t>Mobile-first storyboard - NBS Freshman Quiz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077C642-3A2C-4259-9D8E-CDB62008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092949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2026-06-11T14:03:40.2340000Z</dcterms:created>
  <dcterms:modified xsi:type="dcterms:W3CDTF">2026-06-11T14:03:40.2340000Z</dcterms:modified>
</coreProperties>
</file>