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531ba6a3d894448" /><Relationship Type="http://schemas.openxmlformats.org/officeDocument/2006/relationships/extended-properties" Target="/docProps/app.xml" Id="Rdb246dae9cde40b0" /><Relationship Type="http://schemas.openxmlformats.org/officeDocument/2006/relationships/officeDocument" Target="/ppt/presentation.xml" Id="R0aeb65927844429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94353c07d6e41f2"/>
  </p:sldMasterIdLst>
  <p:notesMasterIdLst>
    <p:notesMasterId xmlns:r="http://schemas.openxmlformats.org/officeDocument/2006/relationships" r:id="R6572ca85ba4c48dd"/>
  </p:notesMasterIdLst>
  <p:sldIdLst>
    <p:sldId xmlns:r="http://schemas.openxmlformats.org/officeDocument/2006/relationships" id="256" r:id="R91f36e2719934a3f"/>
    <p:sldId xmlns:r="http://schemas.openxmlformats.org/officeDocument/2006/relationships" id="257" r:id="R4ef0f12fed80403d"/>
    <p:sldId xmlns:r="http://schemas.openxmlformats.org/officeDocument/2006/relationships" id="258" r:id="R62f1fc06c84b4d0a"/>
    <p:sldId xmlns:r="http://schemas.openxmlformats.org/officeDocument/2006/relationships" id="259" r:id="R40d47454fa79486d"/>
    <p:sldId xmlns:r="http://schemas.openxmlformats.org/officeDocument/2006/relationships" id="260" r:id="R2b98e756558e4f4f"/>
    <p:sldId xmlns:r="http://schemas.openxmlformats.org/officeDocument/2006/relationships" id="261" r:id="R61b27f08fe274359"/>
    <p:sldId xmlns:r="http://schemas.openxmlformats.org/officeDocument/2006/relationships" id="262" r:id="R92efd30ba1a84159"/>
    <p:sldId xmlns:r="http://schemas.openxmlformats.org/officeDocument/2006/relationships" id="263" r:id="Rcb563c09e5eb45b9"/>
    <p:sldId xmlns:r="http://schemas.openxmlformats.org/officeDocument/2006/relationships" id="264" r:id="Rd65fa10acfea4bee"/>
    <p:sldId xmlns:r="http://schemas.openxmlformats.org/officeDocument/2006/relationships" id="265" r:id="R5e5f633eddb645c6"/>
    <p:sldId xmlns:r="http://schemas.openxmlformats.org/officeDocument/2006/relationships" id="266" r:id="R1b74022819794893"/>
    <p:sldId xmlns:r="http://schemas.openxmlformats.org/officeDocument/2006/relationships" id="267" r:id="R020d2b87d66445c5"/>
    <p:sldId xmlns:r="http://schemas.openxmlformats.org/officeDocument/2006/relationships" id="268" r:id="Rac5fc0fa2e2e4c1a"/>
    <p:sldId xmlns:r="http://schemas.openxmlformats.org/officeDocument/2006/relationships" id="269" r:id="Rcb27b6689a714206"/>
    <p:sldId xmlns:r="http://schemas.openxmlformats.org/officeDocument/2006/relationships" id="270" r:id="R3a1eb16ac604473f"/>
    <p:sldId xmlns:r="http://schemas.openxmlformats.org/officeDocument/2006/relationships" id="271" r:id="R1f561293728a49fc"/>
    <p:sldId xmlns:r="http://schemas.openxmlformats.org/officeDocument/2006/relationships" id="272" r:id="Ra91b2722c8344a5b"/>
    <p:sldId xmlns:r="http://schemas.openxmlformats.org/officeDocument/2006/relationships" id="273" r:id="R0243486f437443e7"/>
    <p:sldId xmlns:r="http://schemas.openxmlformats.org/officeDocument/2006/relationships" id="274" r:id="R9cc6f0f337ee4ef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b66ee8cd04f4373" /><Relationship Type="http://schemas.openxmlformats.org/officeDocument/2006/relationships/slideMaster" Target="/ppt/slideMasters/slideMaster1.xml" Id="R494353c07d6e41f2" /><Relationship Type="http://schemas.openxmlformats.org/officeDocument/2006/relationships/notesMaster" Target="/ppt/notesMasters/notesMaster1.xml" Id="R6572ca85ba4c48dd" /><Relationship Type="http://schemas.openxmlformats.org/officeDocument/2006/relationships/presProps" Target="/ppt/presProps.xml" Id="R9a677483d0804a37" /><Relationship Type="http://schemas.openxmlformats.org/officeDocument/2006/relationships/viewProps" Target="/ppt/viewProps.xml" Id="Rcc8a617a238e4e5d" /><Relationship Type="http://schemas.openxmlformats.org/officeDocument/2006/relationships/tableStyles" Target="/ppt/tableStyles.xml" Id="R4ce362430b76431c" /><Relationship Type="http://schemas.openxmlformats.org/officeDocument/2006/relationships/slide" Target="/ppt/slides/slide1.xml" Id="R91f36e2719934a3f" /><Relationship Type="http://schemas.openxmlformats.org/officeDocument/2006/relationships/slide" Target="/ppt/slides/slide2.xml" Id="R4ef0f12fed80403d" /><Relationship Type="http://schemas.openxmlformats.org/officeDocument/2006/relationships/slide" Target="/ppt/slides/slide3.xml" Id="R62f1fc06c84b4d0a" /><Relationship Type="http://schemas.openxmlformats.org/officeDocument/2006/relationships/slide" Target="/ppt/slides/slide4.xml" Id="R40d47454fa79486d" /><Relationship Type="http://schemas.openxmlformats.org/officeDocument/2006/relationships/slide" Target="/ppt/slides/slide5.xml" Id="R2b98e756558e4f4f" /><Relationship Type="http://schemas.openxmlformats.org/officeDocument/2006/relationships/slide" Target="/ppt/slides/slide6.xml" Id="R61b27f08fe274359" /><Relationship Type="http://schemas.openxmlformats.org/officeDocument/2006/relationships/slide" Target="/ppt/slides/slide7.xml" Id="R92efd30ba1a84159" /><Relationship Type="http://schemas.openxmlformats.org/officeDocument/2006/relationships/slide" Target="/ppt/slides/slide8.xml" Id="Rcb563c09e5eb45b9" /><Relationship Type="http://schemas.openxmlformats.org/officeDocument/2006/relationships/slide" Target="/ppt/slides/slide9.xml" Id="Rd65fa10acfea4bee" /><Relationship Type="http://schemas.openxmlformats.org/officeDocument/2006/relationships/slide" Target="/ppt/slides/slide10.xml" Id="R5e5f633eddb645c6" /><Relationship Type="http://schemas.openxmlformats.org/officeDocument/2006/relationships/slide" Target="/ppt/slides/slide11.xml" Id="R1b74022819794893" /><Relationship Type="http://schemas.openxmlformats.org/officeDocument/2006/relationships/slide" Target="/ppt/slides/slide12.xml" Id="R020d2b87d66445c5" /><Relationship Type="http://schemas.openxmlformats.org/officeDocument/2006/relationships/slide" Target="/ppt/slides/slide13.xml" Id="Rac5fc0fa2e2e4c1a" /><Relationship Type="http://schemas.openxmlformats.org/officeDocument/2006/relationships/slide" Target="/ppt/slides/slide14.xml" Id="Rcb27b6689a714206" /><Relationship Type="http://schemas.openxmlformats.org/officeDocument/2006/relationships/slide" Target="/ppt/slides/slide15.xml" Id="R3a1eb16ac604473f" /><Relationship Type="http://schemas.openxmlformats.org/officeDocument/2006/relationships/slide" Target="/ppt/slides/slide16.xml" Id="R1f561293728a49fc" /><Relationship Type="http://schemas.openxmlformats.org/officeDocument/2006/relationships/slide" Target="/ppt/slides/slide17.xml" Id="Ra91b2722c8344a5b" /><Relationship Type="http://schemas.openxmlformats.org/officeDocument/2006/relationships/slide" Target="/ppt/slides/slide18.xml" Id="R0243486f437443e7" /><Relationship Type="http://schemas.openxmlformats.org/officeDocument/2006/relationships/slide" Target="/ppt/slides/slide19.xml" Id="R9cc6f0f337ee4ef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e9f215c986d493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ec95529056b44fd" /><Relationship Type="http://schemas.openxmlformats.org/officeDocument/2006/relationships/notesMaster" Target="/ppt/notesMasters/notesMaster1.xml" Id="R68c92f1ee2b1416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19cd80f21b04c27" /><Relationship Type="http://schemas.openxmlformats.org/officeDocument/2006/relationships/notesMaster" Target="/ppt/notesMasters/notesMaster1.xml" Id="Rc71d2d7bd11743d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878adc0dd2f450c" /><Relationship Type="http://schemas.openxmlformats.org/officeDocument/2006/relationships/notesMaster" Target="/ppt/notesMasters/notesMaster1.xml" Id="R773ce0084b2b4dd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64098f858074d1e" /><Relationship Type="http://schemas.openxmlformats.org/officeDocument/2006/relationships/notesMaster" Target="/ppt/notesMasters/notesMaster1.xml" Id="Reca85252e67a422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8fd88ffa01d4645" /><Relationship Type="http://schemas.openxmlformats.org/officeDocument/2006/relationships/notesMaster" Target="/ppt/notesMasters/notesMaster1.xml" Id="Rbf4b6b56e0af4de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2b5aa393d7742f0" /><Relationship Type="http://schemas.openxmlformats.org/officeDocument/2006/relationships/notesMaster" Target="/ppt/notesMasters/notesMaster1.xml" Id="R3b41e33bde4743b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4a5359d75dd4ed8" /><Relationship Type="http://schemas.openxmlformats.org/officeDocument/2006/relationships/notesMaster" Target="/ppt/notesMasters/notesMaster1.xml" Id="R361be104404c4ea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390d84239084b67" /><Relationship Type="http://schemas.openxmlformats.org/officeDocument/2006/relationships/notesMaster" Target="/ppt/notesMasters/notesMaster1.xml" Id="Rb8f06df3fade411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9828555a84c4ba3" /><Relationship Type="http://schemas.openxmlformats.org/officeDocument/2006/relationships/notesMaster" Target="/ppt/notesMasters/notesMaster1.xml" Id="R3f6b390addf94ea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5e358ff48334f3c" /><Relationship Type="http://schemas.openxmlformats.org/officeDocument/2006/relationships/notesMaster" Target="/ppt/notesMasters/notesMaster1.xml" Id="R35eb3f9a38f64c4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a99465759e64342" /><Relationship Type="http://schemas.openxmlformats.org/officeDocument/2006/relationships/notesMaster" Target="/ppt/notesMasters/notesMaster1.xml" Id="R5f012230a59b4c0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829a1cbee044bf1" /><Relationship Type="http://schemas.openxmlformats.org/officeDocument/2006/relationships/notesMaster" Target="/ppt/notesMasters/notesMaster1.xml" Id="R9caf72d8d39542b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6057e828cfb4074" /><Relationship Type="http://schemas.openxmlformats.org/officeDocument/2006/relationships/notesMaster" Target="/ppt/notesMasters/notesMaster1.xml" Id="R11fdb55899ac44a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9330e0be547487c" /><Relationship Type="http://schemas.openxmlformats.org/officeDocument/2006/relationships/notesMaster" Target="/ppt/notesMasters/notesMaster1.xml" Id="R230caa7a061a40f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45e8ea259db41aa" /><Relationship Type="http://schemas.openxmlformats.org/officeDocument/2006/relationships/notesMaster" Target="/ppt/notesMasters/notesMaster1.xml" Id="R28ce77c034bc4c8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030e4a201c24c7a" /><Relationship Type="http://schemas.openxmlformats.org/officeDocument/2006/relationships/notesMaster" Target="/ppt/notesMasters/notesMaster1.xml" Id="R2416a2c91af14cd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7cd0d20956a4460" /><Relationship Type="http://schemas.openxmlformats.org/officeDocument/2006/relationships/notesMaster" Target="/ppt/notesMasters/notesMaster1.xml" Id="R3ea77686288647b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da569bb2aad423f" /><Relationship Type="http://schemas.openxmlformats.org/officeDocument/2006/relationships/notesMaster" Target="/ppt/notesMasters/notesMaster1.xml" Id="R683eaf7def5848f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4d0278344e240c3" /><Relationship Type="http://schemas.openxmlformats.org/officeDocument/2006/relationships/notesMaster" Target="/ppt/notesMasters/notesMaster1.xml" Id="Rc06581a7d68e4cd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44cf03924b463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9092bc9b5794041" /><Relationship Type="http://schemas.openxmlformats.org/officeDocument/2006/relationships/slideLayout" Target="/ppt/slideLayouts/slideLayout1.xml" Id="R598a64ec0190489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98a64ec0190489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d16b6f60414ccb" /><Relationship Type="http://schemas.openxmlformats.org/officeDocument/2006/relationships/notesSlide" Target="/ppt/notesSlides/notesSlide1.xml" Id="Rd52cec7792b24d5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aa24235528455a" /><Relationship Type="http://schemas.openxmlformats.org/officeDocument/2006/relationships/notesSlide" Target="/ppt/notesSlides/notesSlide2.xml" Id="Ra427ea90efd848d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f4f9cb04ec49d6" /><Relationship Type="http://schemas.openxmlformats.org/officeDocument/2006/relationships/notesSlide" Target="/ppt/notesSlides/notesSlide3.xml" Id="R874be1724000469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363a39ec804105" /><Relationship Type="http://schemas.openxmlformats.org/officeDocument/2006/relationships/notesSlide" Target="/ppt/notesSlides/notesSlide4.xml" Id="Rb0d0af4666eb488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0c60391c4e4aa8" /><Relationship Type="http://schemas.openxmlformats.org/officeDocument/2006/relationships/notesSlide" Target="/ppt/notesSlides/notesSlide5.xml" Id="R8fff7c3b96334c9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2019b008b448fa" /><Relationship Type="http://schemas.openxmlformats.org/officeDocument/2006/relationships/notesSlide" Target="/ppt/notesSlides/notesSlide6.xml" Id="R698ff2c534d740d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b17d4009114967" /><Relationship Type="http://schemas.openxmlformats.org/officeDocument/2006/relationships/notesSlide" Target="/ppt/notesSlides/notesSlide7.xml" Id="Ree100c27fda340d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a83697db3147d1" /><Relationship Type="http://schemas.openxmlformats.org/officeDocument/2006/relationships/notesSlide" Target="/ppt/notesSlides/notesSlide8.xml" Id="R79e2a7edf0014ba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174b4a0a0a494c" /><Relationship Type="http://schemas.openxmlformats.org/officeDocument/2006/relationships/notesSlide" Target="/ppt/notesSlides/notesSlide9.xml" Id="Rb5e968896fc640a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a9100d0d60431a" /><Relationship Type="http://schemas.openxmlformats.org/officeDocument/2006/relationships/notesSlide" Target="/ppt/notesSlides/notesSlide10.xml" Id="R1949a67141ef47c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b0ef0ea4c34617" /><Relationship Type="http://schemas.openxmlformats.org/officeDocument/2006/relationships/notesSlide" Target="/ppt/notesSlides/notesSlide11.xml" Id="R920d186aa6ff4f6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66a4b3c3394551" /><Relationship Type="http://schemas.openxmlformats.org/officeDocument/2006/relationships/notesSlide" Target="/ppt/notesSlides/notesSlide12.xml" Id="Rd9ba6e89f119491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ef58604be94052" /><Relationship Type="http://schemas.openxmlformats.org/officeDocument/2006/relationships/notesSlide" Target="/ppt/notesSlides/notesSlide13.xml" Id="Rd9d728b3a58a430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92578980ae46ca" /><Relationship Type="http://schemas.openxmlformats.org/officeDocument/2006/relationships/notesSlide" Target="/ppt/notesSlides/notesSlide14.xml" Id="Rb66a31506a7344c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0c013f6e3346f4" /><Relationship Type="http://schemas.openxmlformats.org/officeDocument/2006/relationships/notesSlide" Target="/ppt/notesSlides/notesSlide15.xml" Id="R4be1a2f7077f461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1b4ef81eb549ab" /><Relationship Type="http://schemas.openxmlformats.org/officeDocument/2006/relationships/notesSlide" Target="/ppt/notesSlides/notesSlide16.xml" Id="R7afd2de23b6a4b9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ccaa3e8a1e4378" /><Relationship Type="http://schemas.openxmlformats.org/officeDocument/2006/relationships/notesSlide" Target="/ppt/notesSlides/notesSlide17.xml" Id="R8b8b9595dd974fa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484a08dc3245ad" /><Relationship Type="http://schemas.openxmlformats.org/officeDocument/2006/relationships/notesSlide" Target="/ppt/notesSlides/notesSlide18.xml" Id="R131a62b1ca364a9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69023e4f7048a2" /><Relationship Type="http://schemas.openxmlformats.org/officeDocument/2006/relationships/notesSlide" Target="/ppt/notesSlides/notesSlide19.xml" Id="Rcabfa0a3db9e4ad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54544B3-6CD5-43B6-98E1-F2D577B20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6200E6-1540-4367-86D6-7CBC1D8B5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626"/>
          </a:solidFill>
          <a:ln xmlns:a="http://schemas.openxmlformats.org/drawingml/2006/main" w="0">
            <a:solidFill>
              <a:srgbClr val="0A162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05A8F6-90B1-4CA5-8CB2-B54F9B35C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0C37D0-0385-4DC9-A2FE-04DD89EEA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809EC4-AE31-47E2-A429-2539D7C0E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0EAD1A-861D-447B-9551-C47AE843F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7514E9-FC85-4485-97E9-D7CD1CF39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C75FEC-FBC3-4835-A6F3-7C206C966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1494D3-D30B-463F-BB2D-CD6B5961B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AC7DE8-7581-4A0E-82EE-72860DEC6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8E3001-25C9-46AB-810D-81620696D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B6F69F-9A96-49C2-B786-C0E84793D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F0E71B-0F8F-4E33-8F19-BC3BE136F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F3AA2C-D10A-4C7B-96CB-2D584090D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772FC3-2A22-4EDD-AAC3-7C8A8FB03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AD1D37-692A-4151-913E-40D0282B8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9FEA1A-E59A-4AB8-8EC9-325631173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1EBEEF-B7AD-4E80-8C1C-446F04D1E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4"/>
          </a:solidFill>
          <a:ln xmlns:a="http://schemas.openxmlformats.org/drawingml/2006/main" w="0">
            <a:solidFill>
              <a:srgbClr val="102D4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CFC3A2-0873-4727-B2E1-92278AE52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8288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4"/>
          </a:solidFill>
          <a:ln xmlns:a="http://schemas.openxmlformats.org/drawingml/2006/main" w="0">
            <a:solidFill>
              <a:srgbClr val="102D4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50308B-D230-480D-8908-BF2BD9EDF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5146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4"/>
          </a:solidFill>
          <a:ln xmlns:a="http://schemas.openxmlformats.org/drawingml/2006/main" w="0">
            <a:solidFill>
              <a:srgbClr val="102D4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3FE822-9B5C-4732-97EA-C6E6C8C7C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2004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4"/>
          </a:solidFill>
          <a:ln xmlns:a="http://schemas.openxmlformats.org/drawingml/2006/main" w="0">
            <a:solidFill>
              <a:srgbClr val="102D4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D415D2-7642-4656-9C0D-9E2622204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8862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4"/>
          </a:solidFill>
          <a:ln xmlns:a="http://schemas.openxmlformats.org/drawingml/2006/main" w="0">
            <a:solidFill>
              <a:srgbClr val="102D4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88CD75-FABF-42BC-B1F9-535D95194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5720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4"/>
          </a:solidFill>
          <a:ln xmlns:a="http://schemas.openxmlformats.org/drawingml/2006/main" w="0">
            <a:solidFill>
              <a:srgbClr val="102D4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FA113E-1B74-482B-B7D1-9F596E963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2578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4"/>
          </a:solidFill>
          <a:ln xmlns:a="http://schemas.openxmlformats.org/drawingml/2006/main" w="0">
            <a:solidFill>
              <a:srgbClr val="102D4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4DF716-7420-40B5-A523-CCEB5D22D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9436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4"/>
          </a:solidFill>
          <a:ln xmlns:a="http://schemas.openxmlformats.org/drawingml/2006/main" w="0">
            <a:solidFill>
              <a:srgbClr val="102D4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B92D20-B5B1-4A80-880A-36A68EEFF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STORYBOARD DECK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6C49C5-C226-41BD-A768-50B5403C6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7FF"/>
          </a:solidFill>
          <a:ln xmlns:a="http://schemas.openxmlformats.org/drawingml/2006/main" w="0">
            <a:solidFill>
              <a:srgbClr val="35E7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BD02CD9-38AE-45D4-A40E-76233172E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8191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FB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4FBFF"/>
                </a:solidFill>
                <a:latin typeface="Aptos Display"/>
                <a:ea typeface="Aptos Display"/>
                <a:cs typeface="Aptos Display"/>
              </a:rPr>
              <a:t>What NBS Freshman Are You?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368E43B-A922-4D37-9DE6-48BE84DC7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85900"/>
            <a:ext cx="838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BB7C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BB7C9"/>
                </a:solidFill>
                <a:latin typeface="Aptos"/>
                <a:ea typeface="Aptos"/>
                <a:cs typeface="Aptos"/>
              </a:rPr>
              <a:t>RPG quiz flow, state logic, outcomes, and designer asset brief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7E0BAC8-3AF2-41BA-A488-56E71283F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333500"/>
            <a:ext cx="40005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11F"/>
          </a:solidFill>
          <a:ln xmlns:a="http://schemas.openxmlformats.org/drawingml/2006/main" w="19050">
            <a:solidFill>
              <a:srgbClr val="35E7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053C833-7BA8-476B-83C1-7F587A352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6764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MOCKUP PURPOSE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A3FC212-80DC-4CDA-91EE-F303CF073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038350"/>
            <a:ext cx="3143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4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0">
                <a:solidFill>
                  <a:srgbClr val="F4FBFF"/>
                </a:solidFill>
                <a:latin typeface="Aptos Display"/>
                <a:ea typeface="Aptos Display"/>
                <a:cs typeface="Aptos Display"/>
              </a:rPr>
              <a:t>Show how the quiz behaves as a playable RPG engine: what the player sees, what they can do, what the system records, and what graphics are needed for production.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F8FF74F-A3C1-4DFD-BC20-086502623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65760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827"/>
          </a:solidFill>
          <a:ln xmlns:a="http://schemas.openxmlformats.org/drawingml/2006/main" w="9525">
            <a:solidFill>
              <a:srgbClr val="35E7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A425CD0-FD5A-44BA-96FC-1D3D56F52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724275"/>
            <a:ext cx="9525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STATE FLOW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C378A73-41BE-4BCC-B547-9E5C6A7DF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657600"/>
            <a:ext cx="1066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827"/>
          </a:solidFill>
          <a:ln xmlns:a="http://schemas.openxmlformats.org/drawingml/2006/main" w="9525">
            <a:solidFill>
              <a:srgbClr val="FFD16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378E10E-CDD7-4421-B66D-FF6FD295B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724275"/>
            <a:ext cx="8763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BRANCHES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B982A3C-F696-4801-BDBB-11FD160DC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657600"/>
            <a:ext cx="95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827"/>
          </a:solidFill>
          <a:ln xmlns:a="http://schemas.openxmlformats.org/drawingml/2006/main" w="9525">
            <a:solidFill>
              <a:srgbClr val="9DFFB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5741AC1-E957-423E-9ADE-B9E624E8F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724275"/>
            <a:ext cx="7620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9DFFB0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9DFFB0"/>
                </a:solidFill>
                <a:latin typeface="Aptos Mono"/>
                <a:ea typeface="Aptos Mono"/>
                <a:cs typeface="Aptos Mono"/>
              </a:rPr>
              <a:t>ASSETS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1D8A5CD-611E-411D-82EC-1C6122AA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10200"/>
            <a:ext cx="552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9BB7C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9BB7C9"/>
                </a:solidFill>
                <a:latin typeface="Aptos"/>
                <a:ea typeface="Aptos"/>
                <a:cs typeface="Aptos"/>
              </a:rPr>
              <a:t>First draft for supervisor and student designer review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1DD0651-E7D9-4EAE-85C9-0F5B987AC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809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36B7C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536B7C"/>
                </a:solidFill>
                <a:latin typeface="Aptos Mono"/>
                <a:ea typeface="Aptos Mono"/>
                <a:cs typeface="Aptos Mono"/>
              </a:rPr>
              <a:t>Prepared from current React prototype and storyboard document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C28910C-E90E-4928-99E5-2D30552C3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2027068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46E6F46-058E-4F7A-834D-32B079AAD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E93C84-6E69-4543-9FCB-1BEA0F1B8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626"/>
          </a:solidFill>
          <a:ln xmlns:a="http://schemas.openxmlformats.org/drawingml/2006/main" w="0">
            <a:solidFill>
              <a:srgbClr val="0A162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726E0E-3248-446C-9733-BCAC92993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4D6D6D-2288-467F-A46D-C69102BEC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8EF201-FBA9-44CB-8DF9-1E7648721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C5B68A-5C75-4612-AD1A-C30C16291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5EB434-8FBF-4C94-82E4-8D7ED66E4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9567B6-79B7-42F4-ABE3-B73A9EEA7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FF6836-6D5B-4BF2-B664-8148A0C3E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31421B-1063-4C30-BFDC-FBC83F2A8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8C5119-D629-40BA-95E5-FB60A0DE8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673A70-CC7A-4E65-9E08-5EA35C406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D09029-351A-4893-B571-975078CC9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0370AC-1FAA-488A-9CE4-1FB698044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1A0D3E-3EC5-4D68-AE59-7C8D29500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AC2271-EDFE-4A3C-AD28-EE36AFF1F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FB7BB1-2577-4A0E-8890-FB789D37F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B7D386-6B45-4C1E-8896-6514E85BA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4"/>
          </a:solidFill>
          <a:ln xmlns:a="http://schemas.openxmlformats.org/drawingml/2006/main" w="0">
            <a:solidFill>
              <a:srgbClr val="102D4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12D6C9-00E3-4405-AF26-D21CEC35A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8288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4"/>
          </a:solidFill>
          <a:ln xmlns:a="http://schemas.openxmlformats.org/drawingml/2006/main" w="0">
            <a:solidFill>
              <a:srgbClr val="102D4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B77987-47DE-4E7C-8CC0-DBBAA1F46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5146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4"/>
          </a:solidFill>
          <a:ln xmlns:a="http://schemas.openxmlformats.org/drawingml/2006/main" w="0">
            <a:solidFill>
              <a:srgbClr val="102D4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4ED5EA-9462-4318-9FC7-D43E1D49A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2004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4"/>
          </a:solidFill>
          <a:ln xmlns:a="http://schemas.openxmlformats.org/drawingml/2006/main" w="0">
            <a:solidFill>
              <a:srgbClr val="102D4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2880B2-919A-4256-94F2-A3AEA8360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8862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4"/>
          </a:solidFill>
          <a:ln xmlns:a="http://schemas.openxmlformats.org/drawingml/2006/main" w="0">
            <a:solidFill>
              <a:srgbClr val="102D4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C2F2CD-CDD6-4183-8BCB-96E6F9F0C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5720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4"/>
          </a:solidFill>
          <a:ln xmlns:a="http://schemas.openxmlformats.org/drawingml/2006/main" w="0">
            <a:solidFill>
              <a:srgbClr val="102D4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89A6A2-50A0-4C3D-8C07-D4F3FA680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2578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4"/>
          </a:solidFill>
          <a:ln xmlns:a="http://schemas.openxmlformats.org/drawingml/2006/main" w="0">
            <a:solidFill>
              <a:srgbClr val="102D4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1D0B8C-8E81-454F-B52D-82DC74D78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9436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4"/>
          </a:solidFill>
          <a:ln xmlns:a="http://schemas.openxmlformats.org/drawingml/2006/main" w="0">
            <a:solidFill>
              <a:srgbClr val="102D4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886DFA-A10C-4CC0-8792-C2AE8A45C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READ GUIDE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1607FA0-19FC-4616-BC0C-C8B8ABDCA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7FF"/>
          </a:solidFill>
          <a:ln xmlns:a="http://schemas.openxmlformats.org/drawingml/2006/main" w="0">
            <a:solidFill>
              <a:srgbClr val="35E7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E98C3A-AAC1-46F0-B4A8-D7A0878EA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8191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FB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4FBFF"/>
                </a:solidFill>
                <a:latin typeface="Aptos Display"/>
                <a:ea typeface="Aptos Display"/>
                <a:cs typeface="Aptos Display"/>
              </a:rPr>
              <a:t>Each slide separates story, input, output, and hidden logic.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EAD2A75-7C69-4C7D-B47B-F437C95B5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85900"/>
            <a:ext cx="838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BB7C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BB7C9"/>
                </a:solidFill>
                <a:latin typeface="Aptos"/>
                <a:ea typeface="Aptos"/>
                <a:cs typeface="Aptos"/>
              </a:rPr>
              <a:t>Use this deck to review pacing with supervisors and brief final assets to the designer.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1F5E2D8-14F6-4E6F-B676-C091CC44C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3048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2B"/>
          </a:solidFill>
          <a:ln xmlns:a="http://schemas.openxmlformats.org/drawingml/2006/main" w="11430">
            <a:solidFill>
              <a:srgbClr val="35E7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123867C-75A7-4722-B21D-37DFAA9C2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098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7FF"/>
          </a:solidFill>
          <a:ln xmlns:a="http://schemas.openxmlformats.org/drawingml/2006/main" w="0">
            <a:solidFill>
              <a:srgbClr val="35E7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32CADFA-98CE-4501-9BD2-8B928C3E6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57425"/>
            <a:ext cx="266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3070D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03070D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3A60B07-F831-492D-988C-FACBF1C0E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209800"/>
            <a:ext cx="2438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FBFF"/>
                </a:solidFill>
                <a:latin typeface="Aptos"/>
                <a:ea typeface="Aptos"/>
                <a:cs typeface="Aptos"/>
              </a:rPr>
              <a:t>Player input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490DFB3-8859-441D-B8C8-CC4A2ABDC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27813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9BB7C9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9BB7C9"/>
                </a:solidFill>
                <a:latin typeface="Aptos"/>
                <a:ea typeface="Aptos"/>
                <a:cs typeface="Aptos"/>
              </a:rPr>
              <a:t>Click title, skip text, advance story beats, close popups, select A/B/C/D, open archive, toggle SFX.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375BFCA-E6CB-40BE-B8D3-D408007F7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95500"/>
            <a:ext cx="3048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2B"/>
          </a:solidFill>
          <a:ln xmlns:a="http://schemas.openxmlformats.org/drawingml/2006/main" w="11430">
            <a:solidFill>
              <a:srgbClr val="FFD16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59B4FE3-3696-4EAD-9694-8D4495FFB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2098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FFD16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EF506F8-1C59-48F1-95AD-46CD1AECB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257425"/>
            <a:ext cx="266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3070D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03070D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8AD3182-FBD8-44C4-ADF3-FD615208B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209800"/>
            <a:ext cx="2438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FBFF"/>
                </a:solidFill>
                <a:latin typeface="Aptos"/>
                <a:ea typeface="Aptos"/>
                <a:cs typeface="Aptos"/>
              </a:rPr>
              <a:t>Visible output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6E63F23-DB96-4748-9871-4B807F271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476500"/>
            <a:ext cx="27813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9BB7C9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9BB7C9"/>
                </a:solidFill>
                <a:latin typeface="Aptos"/>
                <a:ea typeface="Aptos"/>
                <a:cs typeface="Aptos"/>
              </a:rPr>
              <a:t>Dialogue boxes, system HUD toasts, threat warnings, scene transitions, foreground artifacts, option buttons, result card.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9284615-3394-464E-979A-BE75DD521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095500"/>
            <a:ext cx="3048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2B"/>
          </a:solidFill>
          <a:ln xmlns:a="http://schemas.openxmlformats.org/drawingml/2006/main" w="11430">
            <a:solidFill>
              <a:srgbClr val="9DFFB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BA9B645-D7EC-4757-BC3B-90559BC18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098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FFB0"/>
          </a:solidFill>
          <a:ln xmlns:a="http://schemas.openxmlformats.org/drawingml/2006/main" w="0">
            <a:solidFill>
              <a:srgbClr val="9DFFB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2EA11A7-B2E9-4175-9B75-AA3335FAF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57425"/>
            <a:ext cx="266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3070D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03070D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E6E2534-C1EB-4C61-B66D-8AAE6D12F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09800"/>
            <a:ext cx="2438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FBFF"/>
                </a:solidFill>
                <a:latin typeface="Aptos"/>
                <a:ea typeface="Aptos"/>
                <a:cs typeface="Aptos"/>
              </a:rPr>
              <a:t>Hidden output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1C94C3B-F04B-4F94-BD42-A6A70BF2F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476500"/>
            <a:ext cx="27813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9BB7C9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9BB7C9"/>
                </a:solidFill>
                <a:latin typeface="Aptos"/>
                <a:ea typeface="Aptos"/>
                <a:cs typeface="Aptos"/>
              </a:rPr>
              <a:t>Weighted scores update silently. Completed event log stores choices. Result winner is calculated only at the end.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1C06C7B-81E7-4AF8-80A8-8A4EF91F8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29150"/>
            <a:ext cx="9906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4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0">
                <a:solidFill>
                  <a:srgbClr val="F4FBFF"/>
                </a:solidFill>
                <a:latin typeface="Aptos Display"/>
                <a:ea typeface="Aptos Display"/>
                <a:cs typeface="Aptos Display"/>
              </a:rPr>
              <a:t>Designer note: all current generated images should be treated as layout placeholders. Final art should follow the listed asset IDs and specs near the end of this deck.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1A5F63B-FBF4-44EA-9046-D8EC08BD5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809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36B7C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536B7C"/>
                </a:solidFill>
                <a:latin typeface="Aptos Mono"/>
                <a:ea typeface="Aptos Mono"/>
                <a:cs typeface="Aptos Mono"/>
              </a:rPr>
              <a:t>NBS Freshman Quiz storyboard - first draft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3073E39-25F1-42C8-B8D8-E23516443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8663499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48090A1-DA1F-476D-AEFB-D8CE577D9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610F11-4D61-4091-9EE3-41FE92B53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626"/>
          </a:solidFill>
          <a:ln xmlns:a="http://schemas.openxmlformats.org/drawingml/2006/main" w="0">
            <a:solidFill>
              <a:srgbClr val="0A162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A07BC8-E00A-4C1F-ACA8-D3D2A610D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3DE837-0D7A-4931-BA0B-6500C1113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8E62CF-D511-4044-8245-CB8490566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D0BD66-68EF-4F8A-BF86-D5EE9A97C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24EB0F-0042-4724-BBFD-6C58EB741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301A98-0778-41DF-9DD8-B06E5AFC9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40F866-6321-4B84-9DB8-A93803CF4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9256C0-3BB9-4884-AE90-671767EA8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3B940F-CA5A-47E9-AE67-EAAC6F564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CD20E3-CED4-4F38-B381-5A6535C6B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DBCF3F-A9B2-48A3-8D0B-385C3B542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1837EE-5FEE-4F28-8429-0F14F1F57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38AEA4-2913-4B00-8B34-FEAF19E9A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274BE9-DEF9-409F-867A-B1C9E0860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68175D-33EF-4973-8529-8234E95A6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D4D7B4-6B56-437A-8553-299ACD889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4"/>
          </a:solidFill>
          <a:ln xmlns:a="http://schemas.openxmlformats.org/drawingml/2006/main" w="0">
            <a:solidFill>
              <a:srgbClr val="102D4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5932FB-EE10-43A7-92A6-6713B9E70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8288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4"/>
          </a:solidFill>
          <a:ln xmlns:a="http://schemas.openxmlformats.org/drawingml/2006/main" w="0">
            <a:solidFill>
              <a:srgbClr val="102D4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697F00-15CB-4133-84D9-F84C5E8A8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5146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4"/>
          </a:solidFill>
          <a:ln xmlns:a="http://schemas.openxmlformats.org/drawingml/2006/main" w="0">
            <a:solidFill>
              <a:srgbClr val="102D4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F5CF48-CD36-49EF-92A3-2E96FA6EA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2004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4"/>
          </a:solidFill>
          <a:ln xmlns:a="http://schemas.openxmlformats.org/drawingml/2006/main" w="0">
            <a:solidFill>
              <a:srgbClr val="102D4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9215E6-FADC-4F8B-915E-019EF2B74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8862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4"/>
          </a:solidFill>
          <a:ln xmlns:a="http://schemas.openxmlformats.org/drawingml/2006/main" w="0">
            <a:solidFill>
              <a:srgbClr val="102D4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5369DD-762C-49B7-9BC4-B704EAD54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5720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4"/>
          </a:solidFill>
          <a:ln xmlns:a="http://schemas.openxmlformats.org/drawingml/2006/main" w="0">
            <a:solidFill>
              <a:srgbClr val="102D4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9FF07D-D068-4FF9-8239-EECA6EE41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2578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4"/>
          </a:solidFill>
          <a:ln xmlns:a="http://schemas.openxmlformats.org/drawingml/2006/main" w="0">
            <a:solidFill>
              <a:srgbClr val="102D4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4BDC58-4A07-4802-9DF0-ECDFA5959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9436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4"/>
          </a:solidFill>
          <a:ln xmlns:a="http://schemas.openxmlformats.org/drawingml/2006/main" w="0">
            <a:solidFill>
              <a:srgbClr val="102D4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479255-FAAA-4FBB-B06A-6543AFDB6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STATE MACHINE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789354-FD72-4394-AB4E-FBC62AC7F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7FF"/>
          </a:solidFill>
          <a:ln xmlns:a="http://schemas.openxmlformats.org/drawingml/2006/main" w="0">
            <a:solidFill>
              <a:srgbClr val="35E7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4F2EED0-2ABB-4F0A-99FF-52213F4B6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8191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FB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4FBFF"/>
                </a:solidFill>
                <a:latin typeface="Aptos Display"/>
                <a:ea typeface="Aptos Display"/>
                <a:cs typeface="Aptos Display"/>
              </a:rPr>
              <a:t>Six top-level states control the whole game loop.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875BD5A-A2B8-4057-8A78-4C62446A0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85900"/>
            <a:ext cx="838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BB7C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BB7C9"/>
                </a:solidFill>
                <a:latin typeface="Aptos"/>
                <a:ea typeface="Aptos"/>
                <a:cs typeface="Aptos"/>
              </a:rPr>
              <a:t>Questions can contain sub-phases, but the app always returns to this main structure.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8151E4C-E866-425D-8894-71965312B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0"/>
            <a:ext cx="14478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2B"/>
          </a:solidFill>
          <a:ln xmlns:a="http://schemas.openxmlformats.org/drawingml/2006/main" w="11430">
            <a:solidFill>
              <a:srgbClr val="35E7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615322F-84F2-4F4A-884C-18B357CB9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955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7FF"/>
          </a:solidFill>
          <a:ln xmlns:a="http://schemas.openxmlformats.org/drawingml/2006/main" w="0">
            <a:solidFill>
              <a:srgbClr val="35E7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488C9D3-8407-4290-94C4-06A61BDB3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266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3070D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03070D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874F82C-2555-40AB-A170-AD4B20A0A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95550"/>
            <a:ext cx="838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FBFF"/>
                </a:solidFill>
                <a:latin typeface="Aptos"/>
                <a:ea typeface="Aptos"/>
                <a:cs typeface="Aptos"/>
              </a:rPr>
              <a:t>Start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375F6AF-D431-4457-A644-14062DDE8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62250"/>
            <a:ext cx="1181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9BB7C9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9BB7C9"/>
                </a:solidFill>
                <a:latin typeface="Aptos"/>
                <a:ea typeface="Aptos"/>
                <a:cs typeface="Aptos"/>
              </a:rPr>
              <a:t>Boot HUD + title screen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6BBE721-F7FE-4796-8CE8-01F6185BF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381250"/>
            <a:ext cx="14478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2B"/>
          </a:solidFill>
          <a:ln xmlns:a="http://schemas.openxmlformats.org/drawingml/2006/main" w="11430">
            <a:solidFill>
              <a:srgbClr val="35E7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3E9A1EE-2878-4FA4-8347-7AD1C6883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4955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7FF"/>
          </a:solidFill>
          <a:ln xmlns:a="http://schemas.openxmlformats.org/drawingml/2006/main" w="0">
            <a:solidFill>
              <a:srgbClr val="35E7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B43F492-7513-4ADB-B2E1-E9A84ECD4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543175"/>
            <a:ext cx="266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3070D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03070D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51D9F75-F106-439D-8CC7-CE71B7AE2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495550"/>
            <a:ext cx="838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FBFF"/>
                </a:solidFill>
                <a:latin typeface="Aptos"/>
                <a:ea typeface="Aptos"/>
                <a:cs typeface="Aptos"/>
              </a:rPr>
              <a:t>Prelude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1D94502-46D2-4CAC-A524-9A8974270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762250"/>
            <a:ext cx="1181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9BB7C9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9BB7C9"/>
                </a:solidFill>
                <a:latin typeface="Aptos"/>
                <a:ea typeface="Aptos"/>
                <a:cs typeface="Aptos"/>
              </a:rPr>
              <a:t>Isekai setup and quest notice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78336EE-5868-494A-AEAE-2422673FB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81250"/>
            <a:ext cx="14478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2B"/>
          </a:solidFill>
          <a:ln xmlns:a="http://schemas.openxmlformats.org/drawingml/2006/main" w="11430">
            <a:solidFill>
              <a:srgbClr val="35E7F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17381BF-6AA5-44E5-BAC6-272BA9F78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4955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7FF"/>
          </a:solidFill>
          <a:ln xmlns:a="http://schemas.openxmlformats.org/drawingml/2006/main" w="0">
            <a:solidFill>
              <a:srgbClr val="35E7F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95E3114-AAD9-4DFC-A258-55549C52A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43175"/>
            <a:ext cx="266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3070D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03070D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39F1970-805C-4D1D-8881-4CBD2C57D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495550"/>
            <a:ext cx="838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FBFF"/>
                </a:solidFill>
                <a:latin typeface="Aptos"/>
                <a:ea typeface="Aptos"/>
                <a:cs typeface="Aptos"/>
              </a:rPr>
              <a:t>Question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C361B82-0EAF-4B30-8B50-02C6571E5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762250"/>
            <a:ext cx="1181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9BB7C9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9BB7C9"/>
                </a:solidFill>
                <a:latin typeface="Aptos"/>
                <a:ea typeface="Aptos"/>
                <a:cs typeface="Aptos"/>
              </a:rPr>
              <a:t>Q1-Q8 story, toasts, options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C6EB02B-115E-401C-99CF-175CCC1D4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81250"/>
            <a:ext cx="14478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2B"/>
          </a:solidFill>
          <a:ln xmlns:a="http://schemas.openxmlformats.org/drawingml/2006/main" w="11430">
            <a:solidFill>
              <a:srgbClr val="35E7F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3A9EDAF-8205-44DF-A1FB-F0EA987F1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955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7FF"/>
          </a:solidFill>
          <a:ln xmlns:a="http://schemas.openxmlformats.org/drawingml/2006/main" w="0">
            <a:solidFill>
              <a:srgbClr val="35E7F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3A3CFBD-7CA0-44F5-BCAA-344649D01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43175"/>
            <a:ext cx="266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3070D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03070D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2E999F4-E6CF-4844-BA09-42F756C7F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95550"/>
            <a:ext cx="838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FBFF"/>
                </a:solidFill>
                <a:latin typeface="Aptos"/>
                <a:ea typeface="Aptos"/>
                <a:cs typeface="Aptos"/>
              </a:rPr>
              <a:t>Popup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402A4D4-F258-4463-9102-8A1FCA642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62250"/>
            <a:ext cx="1181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9BB7C9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9BB7C9"/>
                </a:solidFill>
                <a:latin typeface="Aptos"/>
                <a:ea typeface="Aptos"/>
                <a:cs typeface="Aptos"/>
              </a:rPr>
              <a:t>Quest update or special interstitial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A9E061F-87FB-4054-BCC6-3E1619137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381250"/>
            <a:ext cx="14478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2B"/>
          </a:solidFill>
          <a:ln xmlns:a="http://schemas.openxmlformats.org/drawingml/2006/main" w="11430">
            <a:solidFill>
              <a:srgbClr val="35E7F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B4C03E2-7AF0-4B91-9E4C-E69B9194E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955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7FF"/>
          </a:solidFill>
          <a:ln xmlns:a="http://schemas.openxmlformats.org/drawingml/2006/main" w="0">
            <a:solidFill>
              <a:srgbClr val="35E7F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F55C73D-2839-43F4-941F-BE17743F0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43175"/>
            <a:ext cx="266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3070D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03070D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66FDD22-5BBB-492F-A724-7556C5A9D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495550"/>
            <a:ext cx="838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FBFF"/>
                </a:solidFill>
                <a:latin typeface="Aptos"/>
                <a:ea typeface="Aptos"/>
                <a:cs typeface="Aptos"/>
              </a:rPr>
              <a:t>Calculating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CCAB0A5-EF42-4394-9516-8B26A4A51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762250"/>
            <a:ext cx="1181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9BB7C9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9BB7C9"/>
                </a:solidFill>
                <a:latin typeface="Aptos"/>
                <a:ea typeface="Aptos"/>
                <a:cs typeface="Aptos"/>
              </a:rPr>
              <a:t>Build calculation loader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F8CCDC8-BAA7-4FDD-A564-A015DA600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381250"/>
            <a:ext cx="14478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2B"/>
          </a:solidFill>
          <a:ln xmlns:a="http://schemas.openxmlformats.org/drawingml/2006/main" w="11430">
            <a:solidFill>
              <a:srgbClr val="9DFFB0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4F7F6C6-DD2E-4403-ADB0-012596288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4955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FFB0"/>
          </a:solidFill>
          <a:ln xmlns:a="http://schemas.openxmlformats.org/drawingml/2006/main" w="0">
            <a:solidFill>
              <a:srgbClr val="9DFFB0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4CE0C79-CEFB-4324-B450-41D7E1210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543175"/>
            <a:ext cx="266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3070D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03070D"/>
                </a:solidFill>
                <a:latin typeface="Aptos Mono"/>
                <a:ea typeface="Aptos Mono"/>
                <a:cs typeface="Aptos Mono"/>
              </a:rPr>
              <a:t>06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3E7A0B1-05D4-403D-AF7C-14C44D881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2495550"/>
            <a:ext cx="838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FBFF"/>
                </a:solidFill>
                <a:latin typeface="Aptos"/>
                <a:ea typeface="Aptos"/>
                <a:cs typeface="Aptos"/>
              </a:rPr>
              <a:t>Result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2F61355-2687-448D-92CA-4D42F6E55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762250"/>
            <a:ext cx="1181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9BB7C9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9BB7C9"/>
                </a:solidFill>
                <a:latin typeface="Aptos"/>
                <a:ea typeface="Aptos"/>
                <a:cs typeface="Aptos"/>
              </a:rPr>
              <a:t>Freshman type profile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0E66990-CAF8-4092-A47F-4D4936D20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933700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7FF"/>
          </a:solidFill>
          <a:ln xmlns:a="http://schemas.openxmlformats.org/drawingml/2006/main" w="0">
            <a:solidFill>
              <a:srgbClr val="35E7FF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B7E39D8-EAC0-403A-9970-47F913D8B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895600"/>
            <a:ext cx="76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7FF"/>
          </a:solidFill>
          <a:ln xmlns:a="http://schemas.openxmlformats.org/drawingml/2006/main" w="0">
            <a:solidFill>
              <a:srgbClr val="35E7FF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F7AD742-24F5-4204-80A5-A20957FAF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933700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7FF"/>
          </a:solidFill>
          <a:ln xmlns:a="http://schemas.openxmlformats.org/drawingml/2006/main" w="0">
            <a:solidFill>
              <a:srgbClr val="35E7FF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6B73FCA-1820-4D92-920F-0F4E9CFB6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895600"/>
            <a:ext cx="76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7FF"/>
          </a:solidFill>
          <a:ln xmlns:a="http://schemas.openxmlformats.org/drawingml/2006/main" w="0">
            <a:solidFill>
              <a:srgbClr val="35E7FF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6F59568-78B7-43D5-947F-479441FF3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933700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7FF"/>
          </a:solidFill>
          <a:ln xmlns:a="http://schemas.openxmlformats.org/drawingml/2006/main" w="0">
            <a:solidFill>
              <a:srgbClr val="35E7FF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ADEE3B6-F341-4855-938C-43A33E86F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895600"/>
            <a:ext cx="76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7FF"/>
          </a:solidFill>
          <a:ln xmlns:a="http://schemas.openxmlformats.org/drawingml/2006/main" w="0">
            <a:solidFill>
              <a:srgbClr val="35E7FF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E5B98CA-D9C3-4209-A41A-F0DCA8C7E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933700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7FF"/>
          </a:solidFill>
          <a:ln xmlns:a="http://schemas.openxmlformats.org/drawingml/2006/main" w="0">
            <a:solidFill>
              <a:srgbClr val="35E7FF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137D657-4544-4D60-B4D4-5EE5EA199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95600"/>
            <a:ext cx="76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7FF"/>
          </a:solidFill>
          <a:ln xmlns:a="http://schemas.openxmlformats.org/drawingml/2006/main" w="0">
            <a:solidFill>
              <a:srgbClr val="35E7FF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6B0B2B4-B48C-42F9-98F5-53D977436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933700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FFB0"/>
          </a:solidFill>
          <a:ln xmlns:a="http://schemas.openxmlformats.org/drawingml/2006/main" w="0">
            <a:solidFill>
              <a:srgbClr val="9DFFB0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29D6993-DADB-46D6-8101-37F7B80DD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895600"/>
            <a:ext cx="76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FFB0"/>
          </a:solidFill>
          <a:ln xmlns:a="http://schemas.openxmlformats.org/drawingml/2006/main" w="0">
            <a:solidFill>
              <a:srgbClr val="9DFFB0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399C64C-1439-44D0-9D17-32AB9196B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29100"/>
            <a:ext cx="10020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F4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0">
                <a:solidFill>
                  <a:srgbClr val="F4FBFF"/>
                </a:solidFill>
                <a:latin typeface="Aptos Display"/>
                <a:ea typeface="Aptos Display"/>
                <a:cs typeface="Aptos Display"/>
              </a:rPr>
              <a:t>Answer path: Question -&gt; Popup -&gt; Next Question. Final path: Q8 Answer -&gt; Calculating -&gt; Result.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AE7EC52-C96E-4B2B-BDA9-E46B61636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819650"/>
            <a:ext cx="7505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9BB7C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BB7C9"/>
                </a:solidFill>
                <a:latin typeface="Aptos"/>
                <a:ea typeface="Aptos"/>
                <a:cs typeface="Aptos"/>
              </a:rPr>
              <a:t>Replay Arc returns to Start and resets all scores, selected answers, popups, and result state.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971A2CF-F726-4211-8597-761C47EFC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809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36B7C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536B7C"/>
                </a:solidFill>
                <a:latin typeface="Aptos Mono"/>
                <a:ea typeface="Aptos Mono"/>
                <a:cs typeface="Aptos Mono"/>
              </a:rPr>
              <a:t>NBS Freshman Quiz storyboard - first draft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93B4CF2-9B9D-49D5-B7AA-F4B17BB64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6883119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3030E3D-1B0B-4387-927F-1531B410F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54F557-6831-4DB9-BDF3-78EBC1F4F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626"/>
          </a:solidFill>
          <a:ln xmlns:a="http://schemas.openxmlformats.org/drawingml/2006/main" w="0">
            <a:solidFill>
              <a:srgbClr val="0A162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8663E1-0559-4E21-8313-D1E859782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F258C5-3BF0-4BAA-9DF9-149724D68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6B342C-25E9-4C31-A2E6-D89D752A9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67E511-23CF-416F-9EE5-62429617B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43432A-C392-4C6B-8E1D-915561805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585AEB-BE21-4E06-B97C-627E31277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77B239-5AE0-421B-8898-E6F808451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352FF7-CAA5-4F97-8D9A-271F01847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D4EB5D-2969-4B5A-9FE5-7AB4FA3D4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C8888A-454B-43AF-9B5B-907254681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7B39D3-743A-42A3-AB18-3CB5FC6EB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96FFD1-1477-4010-A36F-DBB7E114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41B93E-9BC8-4AE9-BDA2-00657B4C6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96414D-3276-452D-9F3E-1E7FB1B00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63B5BC-DC60-482F-B522-AB4B3FE56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923A05-065F-4299-9743-9B66A57D2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4"/>
          </a:solidFill>
          <a:ln xmlns:a="http://schemas.openxmlformats.org/drawingml/2006/main" w="0">
            <a:solidFill>
              <a:srgbClr val="102D4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A04C4D-AEBB-4B12-AEEE-FF51F5ED1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8288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4"/>
          </a:solidFill>
          <a:ln xmlns:a="http://schemas.openxmlformats.org/drawingml/2006/main" w="0">
            <a:solidFill>
              <a:srgbClr val="102D4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242CD7-904F-499D-A9A6-A46DD000E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5146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4"/>
          </a:solidFill>
          <a:ln xmlns:a="http://schemas.openxmlformats.org/drawingml/2006/main" w="0">
            <a:solidFill>
              <a:srgbClr val="102D4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997EF6-4329-4D6B-960A-DE5E6DD6D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2004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4"/>
          </a:solidFill>
          <a:ln xmlns:a="http://schemas.openxmlformats.org/drawingml/2006/main" w="0">
            <a:solidFill>
              <a:srgbClr val="102D4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E71DF7-9759-4F4F-A1E7-43A1FDC70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8862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4"/>
          </a:solidFill>
          <a:ln xmlns:a="http://schemas.openxmlformats.org/drawingml/2006/main" w="0">
            <a:solidFill>
              <a:srgbClr val="102D4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AEFA62-E81D-45C4-81EC-ABAAE292B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5720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4"/>
          </a:solidFill>
          <a:ln xmlns:a="http://schemas.openxmlformats.org/drawingml/2006/main" w="0">
            <a:solidFill>
              <a:srgbClr val="102D4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63B76A-E193-43EC-8D96-7EF0A9AED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2578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4"/>
          </a:solidFill>
          <a:ln xmlns:a="http://schemas.openxmlformats.org/drawingml/2006/main" w="0">
            <a:solidFill>
              <a:srgbClr val="102D4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5CAADD-D904-4BB3-A19E-E52DBD724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9436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4"/>
          </a:solidFill>
          <a:ln xmlns:a="http://schemas.openxmlformats.org/drawingml/2006/main" w="0">
            <a:solidFill>
              <a:srgbClr val="102D4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909022-6A9A-4765-9345-688AC1B37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INTERACTION MODEL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15F855-BE5F-4E49-B7CE-465808EC1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7FF"/>
          </a:solidFill>
          <a:ln xmlns:a="http://schemas.openxmlformats.org/drawingml/2006/main" w="0">
            <a:solidFill>
              <a:srgbClr val="35E7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7E1D7ED-5D09-4C37-A867-664136631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8191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FB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4FBFF"/>
                </a:solidFill>
                <a:latin typeface="Aptos Display"/>
                <a:ea typeface="Aptos Display"/>
                <a:cs typeface="Aptos Display"/>
              </a:rPr>
              <a:t>The RPG feel comes from separating narrative, system, and threat layers.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7BF8B05-B2D4-4A4D-A59C-4D5C178D8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85900"/>
            <a:ext cx="838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BB7C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BB7C9"/>
                </a:solidFill>
                <a:latin typeface="Aptos"/>
                <a:ea typeface="Aptos"/>
                <a:cs typeface="Aptos"/>
              </a:rPr>
              <a:t>This prevents the quiz from feeling like a corporate form with a game skin.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DF90B06-E5DA-4183-9850-F7F366960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57400"/>
            <a:ext cx="32194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2B"/>
          </a:solidFill>
          <a:ln xmlns:a="http://schemas.openxmlformats.org/drawingml/2006/main" w="11430">
            <a:solidFill>
              <a:srgbClr val="6EA5C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A5D7BB4-AE1D-4C23-8A7F-E89B07212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FBFF"/>
                </a:solidFill>
                <a:latin typeface="Aptos"/>
                <a:ea typeface="Aptos"/>
                <a:cs typeface="Aptos"/>
              </a:rPr>
              <a:t>Layer A - Narrative box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5DDCA72-EFB5-482D-A57F-600B9379C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38400"/>
            <a:ext cx="2952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9BB7C9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9BB7C9"/>
                </a:solidFill>
                <a:latin typeface="Aptos"/>
                <a:ea typeface="Aptos"/>
                <a:cs typeface="Aptos"/>
              </a:rPr>
              <a:t>Physical-world descriptions and player thoughts. Click while typing to skip; click after a beat only when prompted.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422B951-7A8F-4948-BA10-2239F47CF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2194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524"/>
          </a:solidFill>
          <a:ln xmlns:a="http://schemas.openxmlformats.org/drawingml/2006/main" w="14288">
            <a:solidFill>
              <a:srgbClr val="35E7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62A6D86-0047-41EB-AF6C-3D37BC6E9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152650"/>
            <a:ext cx="76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OBJECTIVE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356FB2D-79E6-4718-ADBD-44D99C32C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343150"/>
            <a:ext cx="295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Layer B - System HUD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6CF9427-A948-404C-A1AB-39B3FB5FC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552700"/>
            <a:ext cx="2952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BB7C9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9BB7C9"/>
                </a:solidFill>
                <a:latin typeface="Aptos Mono"/>
                <a:ea typeface="Aptos Mono"/>
                <a:cs typeface="Aptos Mono"/>
              </a:rPr>
              <a:t>Quest updates, objectives, instance prompts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2E231D2-8854-43B9-8040-40F5DE439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57400"/>
            <a:ext cx="32194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524"/>
          </a:solidFill>
          <a:ln xmlns:a="http://schemas.openxmlformats.org/drawingml/2006/main" w="14288">
            <a:solidFill>
              <a:srgbClr val="FF4D6D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3CD848D-6F26-431C-88BD-C976CDE15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52650"/>
            <a:ext cx="76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4D6D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F4D6D"/>
                </a:solidFill>
                <a:latin typeface="Aptos Mono"/>
                <a:ea typeface="Aptos Mono"/>
                <a:cs typeface="Aptos Mono"/>
              </a:rPr>
              <a:t>WARNING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6528308-2225-4685-AC10-ED6055474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343150"/>
            <a:ext cx="295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Layer C - Threat warning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459EA3F-7D23-46BF-9A22-6ECA3A62A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552700"/>
            <a:ext cx="2952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BB7C9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9BB7C9"/>
                </a:solidFill>
                <a:latin typeface="Aptos Mono"/>
                <a:ea typeface="Aptos Mono"/>
                <a:cs typeface="Aptos Mono"/>
              </a:rPr>
              <a:t>Burnout and finals crisis moments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7A93348-6D90-4B9F-AC0C-EB91017F1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481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Input rules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268F57B-6A94-42E7-8AF6-04F137D6F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10100"/>
            <a:ext cx="10096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1. Typing text can always be skipped.</a:t>
            </a:r>
          </a:p>
          <a:p xmlns:a="http://schemas.openxmlformats.org/drawingml/2006/main">
            <a:pPr algn="l">
              <a:defRPr sz="1500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2. Multi-beat scripts wait for player click only on story beats.</a:t>
            </a:r>
          </a:p>
          <a:p xmlns:a="http://schemas.openxmlformats.org/drawingml/2006/main">
            <a:pPr algn="l">
              <a:defRPr sz="1500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3. Toasts and warning moments auto-continue after they are readable.</a:t>
            </a:r>
          </a:p>
          <a:p xmlns:a="http://schemas.openxmlformats.org/drawingml/2006/main">
            <a:pPr algn="l">
              <a:defRPr sz="1500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4. Options appear only after the narrative/system event is complete.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4285B3A-8703-45D2-A64E-14D379F96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809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36B7C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536B7C"/>
                </a:solidFill>
                <a:latin typeface="Aptos Mono"/>
                <a:ea typeface="Aptos Mono"/>
                <a:cs typeface="Aptos Mono"/>
              </a:rPr>
              <a:t>NBS Freshman Quiz storyboard - first draft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C42D13A-0417-46B1-87F2-4BFFD0DF9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3062153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5CF9D72-9896-4FDE-B6D6-88FF6B120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29DECB-6BAF-4FFB-964C-5B7A41DBE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626"/>
          </a:solidFill>
          <a:ln xmlns:a="http://schemas.openxmlformats.org/drawingml/2006/main" w="0">
            <a:solidFill>
              <a:srgbClr val="0A162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E9A306-43AD-4515-8505-7CE756D3D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3816A6-F15E-4FCE-9325-138D4EB33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5A3786-9671-43FB-9D34-49E17ECCF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E57FA0-2A9E-451A-980C-DC3B81012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E0592C-0CD3-4EC5-98D2-189C0FC6B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C694E2-41AE-458F-A2B5-3C9FF6772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C2A2FD-61C3-4E3F-98B2-05476C86C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B7E403-BA50-4A68-B32D-2276832AF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E1A474-57C2-4F2B-A43F-D6F5172B4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AF2AC3-4803-42CF-871C-D98CD7EDF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288645-F9D7-4AE3-9DA2-813BCD0C3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59BEE9-C729-407D-B2EA-ADC21A406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155A18-117A-49DF-BCFB-DC3BEE0EE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AF3EEE-AE81-42B1-8DD3-4BA7ADEFF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5C1CDC-4258-4456-8F9C-259BDD2E2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EFD5D8-C8E3-40BE-A2A2-46E5ACA14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4"/>
          </a:solidFill>
          <a:ln xmlns:a="http://schemas.openxmlformats.org/drawingml/2006/main" w="0">
            <a:solidFill>
              <a:srgbClr val="102D4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061645-C851-45C2-88F9-EA3A62E8D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8288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4"/>
          </a:solidFill>
          <a:ln xmlns:a="http://schemas.openxmlformats.org/drawingml/2006/main" w="0">
            <a:solidFill>
              <a:srgbClr val="102D4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C4D0A6-5E41-4D2C-9529-AF9D2F8EB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5146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4"/>
          </a:solidFill>
          <a:ln xmlns:a="http://schemas.openxmlformats.org/drawingml/2006/main" w="0">
            <a:solidFill>
              <a:srgbClr val="102D4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AD923E-7EBB-483A-BC73-D099A690F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2004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4"/>
          </a:solidFill>
          <a:ln xmlns:a="http://schemas.openxmlformats.org/drawingml/2006/main" w="0">
            <a:solidFill>
              <a:srgbClr val="102D4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8FEE94-6845-4A5F-91D5-5BA9B8047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8862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4"/>
          </a:solidFill>
          <a:ln xmlns:a="http://schemas.openxmlformats.org/drawingml/2006/main" w="0">
            <a:solidFill>
              <a:srgbClr val="102D4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0C7E4C-460F-479C-A9D9-6C6726303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5720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4"/>
          </a:solidFill>
          <a:ln xmlns:a="http://schemas.openxmlformats.org/drawingml/2006/main" w="0">
            <a:solidFill>
              <a:srgbClr val="102D4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80599C-FEC2-4614-8C2A-70904A5FB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2578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4"/>
          </a:solidFill>
          <a:ln xmlns:a="http://schemas.openxmlformats.org/drawingml/2006/main" w="0">
            <a:solidFill>
              <a:srgbClr val="102D4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1F218B-8B6D-41B2-AADC-1337F6310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9436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4"/>
          </a:solidFill>
          <a:ln xmlns:a="http://schemas.openxmlformats.org/drawingml/2006/main" w="0">
            <a:solidFill>
              <a:srgbClr val="102D4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A5783E-7B8C-4B07-86E1-7373F777F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OPENING SEQUENCE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4C020C-5FC3-4C5D-A7F4-22A4540A7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7FF"/>
          </a:solidFill>
          <a:ln xmlns:a="http://schemas.openxmlformats.org/drawingml/2006/main" w="0">
            <a:solidFill>
              <a:srgbClr val="35E7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022A8A-D97A-4518-8E5A-FEBD7CDD1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8191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FB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4FBFF"/>
                </a:solidFill>
                <a:latin typeface="Aptos Display"/>
                <a:ea typeface="Aptos Display"/>
                <a:cs typeface="Aptos Display"/>
              </a:rPr>
              <a:t>The player enters through a boot-up, title screen, then isekai prelude.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034FD3F-C7C7-4013-A5B8-34F2E0E4C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85900"/>
            <a:ext cx="838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BB7C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BB7C9"/>
                </a:solidFill>
                <a:latin typeface="Aptos"/>
                <a:ea typeface="Aptos"/>
                <a:cs typeface="Aptos"/>
              </a:rPr>
              <a:t>System text appears as HUD overlays; narrative appears in the dialogue box.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AD3744A-2CB0-4299-9C37-232A10EBE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76450"/>
            <a:ext cx="1657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2B"/>
          </a:solidFill>
          <a:ln xmlns:a="http://schemas.openxmlformats.org/drawingml/2006/main" w="11430">
            <a:solidFill>
              <a:srgbClr val="35E7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0111C90-EF9A-47AD-8268-6F3F8DEA0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7FF"/>
          </a:solidFill>
          <a:ln xmlns:a="http://schemas.openxmlformats.org/drawingml/2006/main" w="0">
            <a:solidFill>
              <a:srgbClr val="35E7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1D5F067-BDA9-44C7-9BFD-BCF8AE17E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38375"/>
            <a:ext cx="266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3070D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03070D"/>
                </a:solidFill>
                <a:latin typeface="Aptos Mono"/>
                <a:ea typeface="Aptos Mono"/>
                <a:cs typeface="Aptos Mono"/>
              </a:rPr>
              <a:t>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29E0F70-10FE-4EF1-AE7A-A3CE1DA32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9075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FBFF"/>
                </a:solidFill>
                <a:latin typeface="Aptos"/>
                <a:ea typeface="Aptos"/>
                <a:cs typeface="Aptos"/>
              </a:rPr>
              <a:t>System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919D6F1-FCFE-489F-8A4C-0EB1D6C38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13906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9BB7C9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9BB7C9"/>
                </a:solidFill>
                <a:latin typeface="Aptos"/>
                <a:ea typeface="Aptos"/>
                <a:cs typeface="Aptos"/>
              </a:rPr>
              <a:t>System update in progress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1676322-A1C1-40BA-ACBE-3A334D786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590800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7FF"/>
          </a:solidFill>
          <a:ln xmlns:a="http://schemas.openxmlformats.org/drawingml/2006/main" w="0">
            <a:solidFill>
              <a:srgbClr val="35E7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9E8042C-1699-49E9-B495-551B132C1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552700"/>
            <a:ext cx="76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7FF"/>
          </a:solidFill>
          <a:ln xmlns:a="http://schemas.openxmlformats.org/drawingml/2006/main" w="0">
            <a:solidFill>
              <a:srgbClr val="35E7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D1F22B3-336A-4790-A0D1-E1BFDF334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076450"/>
            <a:ext cx="1657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2B"/>
          </a:solidFill>
          <a:ln xmlns:a="http://schemas.openxmlformats.org/drawingml/2006/main" w="11430">
            <a:solidFill>
              <a:srgbClr val="35E7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77944D3-01FB-43D6-8904-2F62E1553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907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7FF"/>
          </a:solidFill>
          <a:ln xmlns:a="http://schemas.openxmlformats.org/drawingml/2006/main" w="0">
            <a:solidFill>
              <a:srgbClr val="35E7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B4CEBFB-784A-4FA8-BE62-33992EF2C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38375"/>
            <a:ext cx="266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3070D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03070D"/>
                </a:solidFill>
                <a:latin typeface="Aptos Mono"/>
                <a:ea typeface="Aptos Mono"/>
                <a:cs typeface="Aptos Mono"/>
              </a:rPr>
              <a:t>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02E7608-1606-45C4-9ACE-81887F6CF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19075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FBFF"/>
                </a:solidFill>
                <a:latin typeface="Aptos"/>
                <a:ea typeface="Aptos"/>
                <a:cs typeface="Aptos"/>
              </a:rPr>
              <a:t>Sync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8182141-15B4-49B1-8141-27BF73702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457450"/>
            <a:ext cx="13906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9BB7C9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9BB7C9"/>
                </a:solidFill>
                <a:latin typeface="Aptos"/>
                <a:ea typeface="Aptos"/>
                <a:cs typeface="Aptos"/>
              </a:rPr>
              <a:t>Player signature detected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3A47926-538E-4BA5-A42D-B74BC5ED4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90800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7FF"/>
          </a:solidFill>
          <a:ln xmlns:a="http://schemas.openxmlformats.org/drawingml/2006/main" w="0">
            <a:solidFill>
              <a:srgbClr val="35E7F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802FEDB-3900-44B9-9138-8A86918C1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552700"/>
            <a:ext cx="76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7FF"/>
          </a:solidFill>
          <a:ln xmlns:a="http://schemas.openxmlformats.org/drawingml/2006/main" w="0">
            <a:solidFill>
              <a:srgbClr val="35E7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6CC4F51-2CDA-4450-96C4-FA2FBC40B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76450"/>
            <a:ext cx="1657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2B"/>
          </a:solidFill>
          <a:ln xmlns:a="http://schemas.openxmlformats.org/drawingml/2006/main" w="11430">
            <a:solidFill>
              <a:srgbClr val="35E7F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BD23F89-DFF3-4E87-AD53-1AE4590A3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1907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7FF"/>
          </a:solidFill>
          <a:ln xmlns:a="http://schemas.openxmlformats.org/drawingml/2006/main" w="0">
            <a:solidFill>
              <a:srgbClr val="35E7F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7B28C09-A38B-46F7-BF95-F9C6D7522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238375"/>
            <a:ext cx="266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3070D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03070D"/>
                </a:solidFill>
                <a:latin typeface="Aptos Mono"/>
                <a:ea typeface="Aptos Mono"/>
                <a:cs typeface="Aptos Mono"/>
              </a:rPr>
              <a:t>3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B937162-D5E1-4F77-AC1D-1166BB369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19075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FBFF"/>
                </a:solidFill>
                <a:latin typeface="Aptos"/>
                <a:ea typeface="Aptos"/>
                <a:cs typeface="Aptos"/>
              </a:rPr>
              <a:t>Welcome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2D0156E-FD52-4C42-A95F-086106DAD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457450"/>
            <a:ext cx="13906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9BB7C9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9BB7C9"/>
                </a:solidFill>
                <a:latin typeface="Aptos"/>
                <a:ea typeface="Aptos"/>
                <a:cs typeface="Aptos"/>
              </a:rPr>
              <a:t>The Freshman Arc has begun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6F068D5-DC0B-4056-ACC1-35157F199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590800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FFD166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015B755-E3E5-40B7-AF19-6A0BE8B8C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552700"/>
            <a:ext cx="76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FFD166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C43DC66-5DB4-48C5-8B18-EDB6B9CF0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076450"/>
            <a:ext cx="1657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2B"/>
          </a:solidFill>
          <a:ln xmlns:a="http://schemas.openxmlformats.org/drawingml/2006/main" w="11430">
            <a:solidFill>
              <a:srgbClr val="FFD16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CEB909D-0231-44D5-8CF4-E5EA8C0F0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1907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FFD16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3921AC6-9CF3-4FF4-8C42-C8D47B6B3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238375"/>
            <a:ext cx="266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3070D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03070D"/>
                </a:solidFill>
                <a:latin typeface="Aptos Mono"/>
                <a:ea typeface="Aptos Mono"/>
                <a:cs typeface="Aptos Mono"/>
              </a:rPr>
              <a:t>4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94F37CB-FE3E-4ECF-9979-DB0FBCBE8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19075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FBFF"/>
                </a:solidFill>
                <a:latin typeface="Aptos"/>
                <a:ea typeface="Aptos"/>
                <a:cs typeface="Aptos"/>
              </a:rPr>
              <a:t>Title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EF8AE74-D0C5-4FB7-A0BF-9A990F243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457450"/>
            <a:ext cx="13906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9BB7C9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9BB7C9"/>
                </a:solidFill>
                <a:latin typeface="Aptos"/>
                <a:ea typeface="Aptos"/>
                <a:cs typeface="Aptos"/>
              </a:rPr>
              <a:t>PRESS START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32A88CC-B1D3-4BF2-9623-51A2A9D6D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590800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7FF"/>
          </a:solidFill>
          <a:ln xmlns:a="http://schemas.openxmlformats.org/drawingml/2006/main" w="0">
            <a:solidFill>
              <a:srgbClr val="35E7FF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EDE1202-8B02-4B07-A32F-2FF68608E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552700"/>
            <a:ext cx="76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7FF"/>
          </a:solidFill>
          <a:ln xmlns:a="http://schemas.openxmlformats.org/drawingml/2006/main" w="0">
            <a:solidFill>
              <a:srgbClr val="35E7FF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3F3281E-6503-42BA-9484-E642E62FF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076450"/>
            <a:ext cx="1657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2B"/>
          </a:solidFill>
          <a:ln xmlns:a="http://schemas.openxmlformats.org/drawingml/2006/main" w="11430">
            <a:solidFill>
              <a:srgbClr val="B68CFF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85403DC-A8E6-45F5-A483-AD41CD4C9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1907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8CFF"/>
          </a:solidFill>
          <a:ln xmlns:a="http://schemas.openxmlformats.org/drawingml/2006/main" w="0">
            <a:solidFill>
              <a:srgbClr val="B68CF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4E3A2BB-995F-474C-A1C8-FDFB369D2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238375"/>
            <a:ext cx="266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3070D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03070D"/>
                </a:solidFill>
                <a:latin typeface="Aptos Mono"/>
                <a:ea typeface="Aptos Mono"/>
                <a:cs typeface="Aptos Mono"/>
              </a:rPr>
              <a:t>5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9470DCD-D18B-4B7F-9A5E-99FBBE338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19075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FBFF"/>
                </a:solidFill>
                <a:latin typeface="Aptos"/>
                <a:ea typeface="Aptos"/>
                <a:cs typeface="Aptos"/>
              </a:rPr>
              <a:t>Prelude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3EF2704-F6AA-41FB-9C85-8AEE5C648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457450"/>
            <a:ext cx="13906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9BB7C9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9BB7C9"/>
                </a:solidFill>
                <a:latin typeface="Aptos"/>
                <a:ea typeface="Aptos"/>
                <a:cs typeface="Aptos"/>
              </a:rPr>
              <a:t>WCY Plaza glitches out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962BC22-DE9E-4BCC-AE4F-268DBBCC3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829050"/>
            <a:ext cx="6553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11F"/>
          </a:solidFill>
          <a:ln xmlns:a="http://schemas.openxmlformats.org/drawingml/2006/main" w="14288">
            <a:solidFill>
              <a:srgbClr val="FFD166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4EEBD8C-61C8-49C4-9933-E25B4BC00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943350"/>
            <a:ext cx="6248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PRELUDE MOCKUP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5033908-E6C1-4D1E-9226-7D36FE1C1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343400"/>
            <a:ext cx="6096000" cy="7600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135"/>
          </a:solidFill>
          <a:ln xmlns:a="http://schemas.openxmlformats.org/drawingml/2006/main" w="9525">
            <a:solidFill>
              <a:srgbClr val="275571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EF9BD8C-FACD-4F19-A192-094743EDA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552950"/>
            <a:ext cx="5753100" cy="561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It is your first week at NBS.</a:t>
            </a:r>
          </a:p>
          <a:p xmlns:a="http://schemas.openxmlformats.org/drawingml/2006/main">
            <a:pPr algn="l">
              <a:defRPr sz="1050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The air feels slightly off.</a:t>
            </a:r>
          </a:p>
          <a:p xmlns:a="http://schemas.openxmlformats.org/drawingml/2006/main">
            <a:pPr algn="l">
              <a:defRPr sz="1050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...Did I just get isekai'd into NBS?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9320916-5C50-4920-9B22-099FBEEF6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809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36B7C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536B7C"/>
                </a:solidFill>
                <a:latin typeface="Aptos Mono"/>
                <a:ea typeface="Aptos Mono"/>
                <a:cs typeface="Aptos Mono"/>
              </a:rPr>
              <a:t>NBS Freshman Quiz storyboard - first draft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E90E3DC-EBA1-4133-96D8-1813F59BC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4899422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D8405F5-7FB8-41C0-BB22-A5DECB629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66C49B-A1A6-448B-AF24-D98F61795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626"/>
          </a:solidFill>
          <a:ln xmlns:a="http://schemas.openxmlformats.org/drawingml/2006/main" w="0">
            <a:solidFill>
              <a:srgbClr val="0A162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7CFCBA-6513-4C9A-BC6A-5B1329CA2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BA69A2-4B6F-4694-86FE-656F1AF3C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3CB97D-71A7-4C7A-BAB8-E10D00D7B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DA369E-1009-41BA-942E-DB5CD526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C23C0D-9C99-4530-B68D-6ED4BAA09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63F257-5221-4D33-B7FC-AA56F2DCE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DE3C97-9552-4AE2-B755-31DD2B999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13315B-8378-40A2-8027-56BFCD9FA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F156A8-5621-4FD1-B541-1895EF38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6D4C4C-B25C-49A5-A263-1C586634B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EBCD60-F0BA-412D-9A58-6C25648E4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D62A06-A198-4A00-9CE0-98CDB6FBC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551308-3082-4E2C-A442-5E3F9C3FD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03A2B5-505D-4CD1-B692-257FB4A54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9397F1-7D0B-4CCF-B0F0-3D8871DCC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EFFB6B-8BB6-4BA2-B176-A5ECCA210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4"/>
          </a:solidFill>
          <a:ln xmlns:a="http://schemas.openxmlformats.org/drawingml/2006/main" w="0">
            <a:solidFill>
              <a:srgbClr val="102D4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CD0597-C27F-4E00-8B55-F0EAA53DA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8288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4"/>
          </a:solidFill>
          <a:ln xmlns:a="http://schemas.openxmlformats.org/drawingml/2006/main" w="0">
            <a:solidFill>
              <a:srgbClr val="102D4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59B198-D596-4F7D-B2C3-847450A33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5146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4"/>
          </a:solidFill>
          <a:ln xmlns:a="http://schemas.openxmlformats.org/drawingml/2006/main" w="0">
            <a:solidFill>
              <a:srgbClr val="102D4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F406B2-7032-4A97-9E5B-321A521CB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2004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4"/>
          </a:solidFill>
          <a:ln xmlns:a="http://schemas.openxmlformats.org/drawingml/2006/main" w="0">
            <a:solidFill>
              <a:srgbClr val="102D4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60F871-2BC7-4757-85A2-C7C9FAF5E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8862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4"/>
          </a:solidFill>
          <a:ln xmlns:a="http://schemas.openxmlformats.org/drawingml/2006/main" w="0">
            <a:solidFill>
              <a:srgbClr val="102D4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BE91DC-9715-4283-BA18-E817E2FC2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5720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4"/>
          </a:solidFill>
          <a:ln xmlns:a="http://schemas.openxmlformats.org/drawingml/2006/main" w="0">
            <a:solidFill>
              <a:srgbClr val="102D4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785264-B5B5-49AA-852F-94CB2953E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2578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4"/>
          </a:solidFill>
          <a:ln xmlns:a="http://schemas.openxmlformats.org/drawingml/2006/main" w="0">
            <a:solidFill>
              <a:srgbClr val="102D4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6069E4-EA23-41CE-ADDD-96D215F0D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9436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4"/>
          </a:solidFill>
          <a:ln xmlns:a="http://schemas.openxmlformats.org/drawingml/2006/main" w="0">
            <a:solidFill>
              <a:srgbClr val="102D4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66CA6B-52A3-4FF2-A498-A9630FB7A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SCENE MAP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CAA96BC-45DB-4958-B80D-6C34EBE39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7FF"/>
          </a:solidFill>
          <a:ln xmlns:a="http://schemas.openxmlformats.org/drawingml/2006/main" w="0">
            <a:solidFill>
              <a:srgbClr val="35E7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0D54CD3-17B0-43DF-A638-6406241A6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8191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FB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4FBFF"/>
                </a:solidFill>
                <a:latin typeface="Aptos Display"/>
                <a:ea typeface="Aptos Display"/>
                <a:cs typeface="Aptos Display"/>
              </a:rPr>
              <a:t>Eight events move the player through distinct environments and systems.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F768068-6C00-43BF-B40A-209CD2F3A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85900"/>
            <a:ext cx="838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BB7C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BB7C9"/>
                </a:solidFill>
                <a:latin typeface="Aptos"/>
                <a:ea typeface="Aptos"/>
                <a:cs typeface="Aptos"/>
              </a:rPr>
              <a:t>Each scene needs a final background plus any foreground story artifact listed later.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ACD214E-B812-4A89-B874-A3BE0D2C3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19300"/>
            <a:ext cx="24765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827"/>
          </a:solidFill>
          <a:ln xmlns:a="http://schemas.openxmlformats.org/drawingml/2006/main" w="9525">
            <a:solidFill>
              <a:srgbClr val="35E7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153F97E-A169-481C-9D22-2439866DE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526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Q1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A6B2161-0B82-4BC3-9615-285850905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3360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4FBFF"/>
                </a:solidFill>
                <a:latin typeface="Aptos"/>
                <a:ea typeface="Aptos"/>
                <a:cs typeface="Aptos"/>
              </a:rPr>
              <a:t>Character Spawn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17A64FC-C438-4AE2-8161-AF291F0A9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146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BB7C9"/>
                </a:solidFill>
                <a:latin typeface="Aptos Mono"/>
                <a:ea typeface="Aptos Mono"/>
                <a:cs typeface="Aptos Mono"/>
              </a:defRPr>
            </a:pPr>
            <a:r>
              <a:rPr sz="863" b="0">
                <a:solidFill>
                  <a:srgbClr val="9BB7C9"/>
                </a:solidFill>
                <a:latin typeface="Aptos Mono"/>
                <a:ea typeface="Aptos Mono"/>
                <a:cs typeface="Aptos Mono"/>
              </a:rPr>
              <a:t>Scene: WCY Plaza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16061FB-7994-4DD8-B0E0-F3DC2EFB7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System: Starter loadout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D5C766C-0231-4B3C-99A5-E5C5CD886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bg-wcy-plaza-gate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F13FE37-5454-4D9E-9444-AF7567A66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19300"/>
            <a:ext cx="24765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827"/>
          </a:solidFill>
          <a:ln xmlns:a="http://schemas.openxmlformats.org/drawingml/2006/main" w="9525">
            <a:solidFill>
              <a:srgbClr val="35E7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645E632-82F1-4516-86A5-EAB270D88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1526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Q2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6470D5C-83DF-4453-840C-96E8A2DC8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13360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4FBFF"/>
                </a:solidFill>
                <a:latin typeface="Aptos"/>
                <a:ea typeface="Aptos"/>
                <a:cs typeface="Aptos"/>
              </a:rPr>
              <a:t>Orientation Arena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94A74F2-1493-4254-8FAB-4CAD72BAD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146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BB7C9"/>
                </a:solidFill>
                <a:latin typeface="Aptos Mono"/>
                <a:ea typeface="Aptos Mono"/>
                <a:cs typeface="Aptos Mono"/>
              </a:defRPr>
            </a:pPr>
            <a:r>
              <a:rPr sz="863" b="0">
                <a:solidFill>
                  <a:srgbClr val="9BB7C9"/>
                </a:solidFill>
                <a:latin typeface="Aptos Mono"/>
                <a:ea typeface="Aptos Mono"/>
                <a:cs typeface="Aptos Mono"/>
              </a:rPr>
              <a:t>Scene: Orientation hall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E159A03-A815-4C23-9968-1029A2B35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76225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System: Event toast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2093555-7F40-4D57-AB33-347AC4B9B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162300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bg-orientation-arena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D898104-38AB-45A8-A77B-73E4C1AFA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19300"/>
            <a:ext cx="24765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827"/>
          </a:solidFill>
          <a:ln xmlns:a="http://schemas.openxmlformats.org/drawingml/2006/main" w="9525">
            <a:solidFill>
              <a:srgbClr val="35E7F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F9AEEF9-E975-4D0F-B612-1F456EA98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526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Q3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5B598FE-7959-47E4-A491-B5E7667CA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13360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4FBFF"/>
                </a:solidFill>
                <a:latin typeface="Aptos"/>
                <a:ea typeface="Aptos"/>
                <a:cs typeface="Aptos"/>
              </a:rPr>
              <a:t>Finding Your Class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6087C86-D7E0-4FEC-A674-032A54C2D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146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BB7C9"/>
                </a:solidFill>
                <a:latin typeface="Aptos Mono"/>
                <a:ea typeface="Aptos Mono"/>
                <a:cs typeface="Aptos Mono"/>
              </a:defRPr>
            </a:pPr>
            <a:r>
              <a:rPr sz="863" b="0">
                <a:solidFill>
                  <a:srgbClr val="9BB7C9"/>
                </a:solidFill>
                <a:latin typeface="Aptos Mono"/>
                <a:ea typeface="Aptos Mono"/>
                <a:cs typeface="Aptos Mono"/>
              </a:rPr>
              <a:t>Scene: WCY Plaza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0DF1020-CD7B-4071-BAB8-4A7A71488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6225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System: Few Days Later + navigation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12412AE-DD1B-4A5D-99C0-0639C8C95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162300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bg-wcy-plaza-gate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B2BF7E4-393D-40DC-A1DA-E3F866952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019300"/>
            <a:ext cx="24765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827"/>
          </a:solidFill>
          <a:ln xmlns:a="http://schemas.openxmlformats.org/drawingml/2006/main" w="9525">
            <a:solidFill>
              <a:srgbClr val="35E7F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51E61A5-2F41-4B8A-8B24-7F1B6A853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1526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Q4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F197128-D262-44EF-93A4-A7EE7F79D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13360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4FBFF"/>
                </a:solidFill>
                <a:latin typeface="Aptos"/>
                <a:ea typeface="Aptos"/>
                <a:cs typeface="Aptos"/>
              </a:rPr>
              <a:t>Group Project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264DA11-9D06-4432-AC79-7D3A24F9F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5146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BB7C9"/>
                </a:solidFill>
                <a:latin typeface="Aptos Mono"/>
                <a:ea typeface="Aptos Mono"/>
                <a:cs typeface="Aptos Mono"/>
              </a:defRPr>
            </a:pPr>
            <a:r>
              <a:rPr sz="863" b="0">
                <a:solidFill>
                  <a:srgbClr val="9BB7C9"/>
                </a:solidFill>
                <a:latin typeface="Aptos Mono"/>
                <a:ea typeface="Aptos Mono"/>
                <a:cs typeface="Aptos Mono"/>
              </a:rPr>
              <a:t>Scene: Classroom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8605299-CD12-4A41-9FAF-5C3D1BB59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76225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System: Group chat popup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2E35497-73BB-4A67-9853-CE3E3C82A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162300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bg-classroom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4B742AB-D75C-4F1D-9DBA-1AD51D290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29050"/>
            <a:ext cx="24765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827"/>
          </a:solidFill>
          <a:ln xmlns:a="http://schemas.openxmlformats.org/drawingml/2006/main" w="9525">
            <a:solidFill>
              <a:srgbClr val="35E7FF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6D236FB-7E5D-4149-99C3-3A0C7CB4B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624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Q5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5160D43-3DA0-45F3-96AC-ED6D86218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9433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4FBFF"/>
                </a:solidFill>
                <a:latin typeface="Aptos"/>
                <a:ea typeface="Aptos"/>
                <a:cs typeface="Aptos"/>
              </a:rPr>
              <a:t>The CCA Fair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C20DA49-B0DA-460A-8468-B065D39BE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243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BB7C9"/>
                </a:solidFill>
                <a:latin typeface="Aptos Mono"/>
                <a:ea typeface="Aptos Mono"/>
                <a:cs typeface="Aptos Mono"/>
              </a:defRPr>
            </a:pPr>
            <a:r>
              <a:rPr sz="863" b="0">
                <a:solidFill>
                  <a:srgbClr val="9BB7C9"/>
                </a:solidFill>
                <a:latin typeface="Aptos Mono"/>
                <a:ea typeface="Aptos Mono"/>
                <a:cs typeface="Aptos Mono"/>
              </a:rPr>
              <a:t>Scene: CCA fair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6E1D777-D070-4C40-866E-8DCF7556B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System: Reroute + event toast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DA9B0BE-92E9-4196-B254-B55EABBF2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72050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bg-cca-fair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7B58898-7CC6-4B3C-8DF2-7BB6FE872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829050"/>
            <a:ext cx="24765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827"/>
          </a:solidFill>
          <a:ln xmlns:a="http://schemas.openxmlformats.org/drawingml/2006/main" w="9525">
            <a:solidFill>
              <a:srgbClr val="FF4D6D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86547AA-8B12-4E20-B9BB-AD559B4A6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9624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Q6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B0345C5-7784-4D32-8939-4CBA937A6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9433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4FBFF"/>
                </a:solidFill>
                <a:latin typeface="Aptos"/>
                <a:ea typeface="Aptos"/>
                <a:cs typeface="Aptos"/>
              </a:rPr>
              <a:t>Burnout Monster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161B565-DA50-4219-A600-F665380A0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3243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BB7C9"/>
                </a:solidFill>
                <a:latin typeface="Aptos Mono"/>
                <a:ea typeface="Aptos Mono"/>
                <a:cs typeface="Aptos Mono"/>
              </a:defRPr>
            </a:pPr>
            <a:r>
              <a:rPr sz="863" b="0">
                <a:solidFill>
                  <a:srgbClr val="9BB7C9"/>
                </a:solidFill>
                <a:latin typeface="Aptos Mono"/>
                <a:ea typeface="Aptos Mono"/>
                <a:cs typeface="Aptos Mono"/>
              </a:rPr>
              <a:t>Scene: Burnout lair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E896283-B04F-4F30-8D7C-1569A9739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5720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System: Notifications + boss popup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5715739-0BC8-458F-BA4D-6D8082545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972050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bg-burnout-lair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2519A5E-F2DF-4CD3-AF56-E6D0F4505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29050"/>
            <a:ext cx="24765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827"/>
          </a:solidFill>
          <a:ln xmlns:a="http://schemas.openxmlformats.org/drawingml/2006/main" w="9525">
            <a:solidFill>
              <a:srgbClr val="FF4D6D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D1E3D08-A15C-4A4A-869C-FAAF886B1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9624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Q7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CA8F300-C4D7-4CC8-94B0-2740E87A9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9433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4FBFF"/>
                </a:solidFill>
                <a:latin typeface="Aptos"/>
                <a:ea typeface="Aptos"/>
                <a:cs typeface="Aptos"/>
              </a:rPr>
              <a:t>Finals Mode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275268D-7435-4D7F-8B55-6A666587D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3243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BB7C9"/>
                </a:solidFill>
                <a:latin typeface="Aptos Mono"/>
                <a:ea typeface="Aptos Mono"/>
                <a:cs typeface="Aptos Mono"/>
              </a:defRPr>
            </a:pPr>
            <a:r>
              <a:rPr sz="863" b="0">
                <a:solidFill>
                  <a:srgbClr val="9BB7C9"/>
                </a:solidFill>
                <a:latin typeface="Aptos Mono"/>
                <a:ea typeface="Aptos Mono"/>
                <a:cs typeface="Aptos Mono"/>
              </a:rPr>
              <a:t>Scene: Burnout/finals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D33EE2B-AD50-461E-AED2-140C575B5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5720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System: Threat warning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D5E2F13-172A-411A-873D-A49A921DE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972050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bg-burnout-lair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7965B48-21FE-474F-8442-4BCACCAD9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829050"/>
            <a:ext cx="24765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827"/>
          </a:solidFill>
          <a:ln xmlns:a="http://schemas.openxmlformats.org/drawingml/2006/main" w="9525">
            <a:solidFill>
              <a:srgbClr val="FF4D6D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8A6E853-6DF8-4201-868E-E130F5029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9624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Q8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FA7739C-1B2D-49F2-85B4-96F2FD15A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9433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4FBFF"/>
                </a:solidFill>
                <a:latin typeface="Aptos"/>
                <a:ea typeface="Aptos"/>
                <a:cs typeface="Aptos"/>
              </a:rPr>
              <a:t>Weekend Portal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4071371-3636-4D8C-B076-3D0AF481C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3243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BB7C9"/>
                </a:solidFill>
                <a:latin typeface="Aptos Mono"/>
                <a:ea typeface="Aptos Mono"/>
                <a:cs typeface="Aptos Mono"/>
              </a:defRPr>
            </a:pPr>
            <a:r>
              <a:rPr sz="863" b="0">
                <a:solidFill>
                  <a:srgbClr val="9BB7C9"/>
                </a:solidFill>
                <a:latin typeface="Aptos Mono"/>
                <a:ea typeface="Aptos Mono"/>
                <a:cs typeface="Aptos Mono"/>
              </a:rPr>
              <a:t>Scene: Portal dimension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7EE83E7-5AD6-488A-BF18-590E6E700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5720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System: Portal popup + instance toasts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309D978B-4819-44E0-8AE6-8AB6F81AB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972050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bg-weekend-portal-dimension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AA61EC71-F1DA-436E-B3BC-A21302904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809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36B7C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536B7C"/>
                </a:solidFill>
                <a:latin typeface="Aptos Mono"/>
                <a:ea typeface="Aptos Mono"/>
                <a:cs typeface="Aptos Mono"/>
              </a:rPr>
              <a:t>NBS Freshman Quiz storyboard - first draft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C8789508-7EAA-4BB9-B47D-4C3247EB6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1708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6D945B7-E029-4C2A-B795-1CF46461B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488A5F-E7EB-4D6E-9848-F5ECE2E0E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626"/>
          </a:solidFill>
          <a:ln xmlns:a="http://schemas.openxmlformats.org/drawingml/2006/main" w="0">
            <a:solidFill>
              <a:srgbClr val="0A162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9C9CAE-523D-4DC1-AE24-8A34F1484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75942C-58F5-4934-95D0-F403A8FB8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D5243E-BCEA-4F2D-B2B0-0BEC0635D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305EA7-01A7-4461-9004-CFDFA4992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13B4E5-7757-48BC-839E-520577630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8AA5D6-1859-493A-BD8F-551FA9272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F21DC2-EB88-468E-A35C-6658CC568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177E5D-EC54-42F6-85DB-7BD144B96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5133BA-18D8-4307-B039-3D7C948EB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75FEA4-AC42-484C-91F5-7DF75478D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C100ED-DCA0-4D0C-A65E-762B10256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48743A-FDC1-49E0-97A8-E5FB175B0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286E36-3BA0-4998-ACCC-D88768603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97BEE6-2FBE-4BB4-A108-BDEF21066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43588D-6001-42F4-9FFB-56B0B86AD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59F996-A186-44E5-B0AA-FBCAD2E0E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4"/>
          </a:solidFill>
          <a:ln xmlns:a="http://schemas.openxmlformats.org/drawingml/2006/main" w="0">
            <a:solidFill>
              <a:srgbClr val="102D4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33687A-747E-410D-B630-33EAF255F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8288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4"/>
          </a:solidFill>
          <a:ln xmlns:a="http://schemas.openxmlformats.org/drawingml/2006/main" w="0">
            <a:solidFill>
              <a:srgbClr val="102D4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F6CC28-BF60-47C6-9A29-672DA73B2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5146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4"/>
          </a:solidFill>
          <a:ln xmlns:a="http://schemas.openxmlformats.org/drawingml/2006/main" w="0">
            <a:solidFill>
              <a:srgbClr val="102D4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3A667B-0AEA-4074-AB02-2ABEE1847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2004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4"/>
          </a:solidFill>
          <a:ln xmlns:a="http://schemas.openxmlformats.org/drawingml/2006/main" w="0">
            <a:solidFill>
              <a:srgbClr val="102D4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5BA1EE-8E36-4B3F-9736-187A0CB47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8862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4"/>
          </a:solidFill>
          <a:ln xmlns:a="http://schemas.openxmlformats.org/drawingml/2006/main" w="0">
            <a:solidFill>
              <a:srgbClr val="102D4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F169FA-77B2-463B-835C-8E8B78DEB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5720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4"/>
          </a:solidFill>
          <a:ln xmlns:a="http://schemas.openxmlformats.org/drawingml/2006/main" w="0">
            <a:solidFill>
              <a:srgbClr val="102D4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BEE422-7556-43D8-AC16-E2680863E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2578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4"/>
          </a:solidFill>
          <a:ln xmlns:a="http://schemas.openxmlformats.org/drawingml/2006/main" w="0">
            <a:solidFill>
              <a:srgbClr val="102D4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58C6F9-69CB-41AB-8238-56E339124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9436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4"/>
          </a:solidFill>
          <a:ln xmlns:a="http://schemas.openxmlformats.org/drawingml/2006/main" w="0">
            <a:solidFill>
              <a:srgbClr val="102D4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C7114C-1966-418E-821A-8F52681C7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Q1-Q2 STORYBOARD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F62AFA-9841-46AA-AA4E-50E920259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7FF"/>
          </a:solidFill>
          <a:ln xmlns:a="http://schemas.openxmlformats.org/drawingml/2006/main" w="0">
            <a:solidFill>
              <a:srgbClr val="35E7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69DE36-46B5-4362-B295-33F3B706C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8191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FB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4FBFF"/>
                </a:solidFill>
                <a:latin typeface="Aptos Display"/>
                <a:ea typeface="Aptos Display"/>
                <a:cs typeface="Aptos Display"/>
              </a:rPr>
              <a:t>The first two events establish loadout choice and social orientation pressure.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195AEE2-8907-4E40-96D3-C1326E305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85900"/>
            <a:ext cx="838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BB7C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BB7C9"/>
                </a:solidFill>
                <a:latin typeface="Aptos"/>
                <a:ea typeface="Aptos"/>
                <a:cs typeface="Aptos"/>
              </a:rPr>
              <a:t>Both end by logging a hidden weighted answer and moving to the next event.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584401E-FF25-430A-81EE-A684D19E8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47625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11F"/>
          </a:solidFill>
          <a:ln xmlns:a="http://schemas.openxmlformats.org/drawingml/2006/main" w="14288">
            <a:solidFill>
              <a:srgbClr val="35E7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AC8BD19-5FA2-42DC-BC0A-279A0E6D1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09800"/>
            <a:ext cx="4457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Q1 CHARACTER SPAWN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65672CA-9935-4DBB-91FA-8F3F7F682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09850"/>
            <a:ext cx="4305300" cy="10801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135"/>
          </a:solidFill>
          <a:ln xmlns:a="http://schemas.openxmlformats.org/drawingml/2006/main" w="9525">
            <a:solidFill>
              <a:srgbClr val="27557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9DE6FCF-9F6C-4B72-A037-AA92DF07B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19400"/>
            <a:ext cx="3962400" cy="7972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4 starter packs materialise.</a:t>
            </a:r>
          </a:p>
          <a:p xmlns:a="http://schemas.openxmlformats.org/drawingml/2006/main">
            <a:pPr algn="l">
              <a:defRPr sz="1050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Which do you pick?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E172FBF-2AF3-414C-84E1-3C7B740D9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90950"/>
            <a:ext cx="2057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A2B"/>
          </a:solidFill>
          <a:ln xmlns:a="http://schemas.openxmlformats.org/drawingml/2006/main" w="9525">
            <a:solidFill>
              <a:srgbClr val="35E7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4785E45-0F57-4E3C-9A08-00D72169D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57625"/>
            <a:ext cx="190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091E809-D8D1-49B9-B84C-0B9FD00B3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57625"/>
            <a:ext cx="11906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BB7C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9BB7C9"/>
                </a:solidFill>
                <a:latin typeface="Aptos Mono"/>
                <a:ea typeface="Aptos Mono"/>
                <a:cs typeface="Aptos Mono"/>
              </a:rPr>
              <a:t>Option A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A4F26F8-AF0A-4259-BCAB-82B42A0F6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3790950"/>
            <a:ext cx="2057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A2B"/>
          </a:solidFill>
          <a:ln xmlns:a="http://schemas.openxmlformats.org/drawingml/2006/main" w="9525">
            <a:solidFill>
              <a:srgbClr val="35E7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BF565EF-C7B2-4CC8-BDF2-E52A56A2A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857625"/>
            <a:ext cx="190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B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31AEDF5-D11A-44B8-AEFF-24598C3AD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3857625"/>
            <a:ext cx="11906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BB7C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9BB7C9"/>
                </a:solidFill>
                <a:latin typeface="Aptos Mono"/>
                <a:ea typeface="Aptos Mono"/>
                <a:cs typeface="Aptos Mono"/>
              </a:rPr>
              <a:t>Option B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C966FDE-63D5-4517-883F-3A103354E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2057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A2B"/>
          </a:solidFill>
          <a:ln xmlns:a="http://schemas.openxmlformats.org/drawingml/2006/main" w="9525">
            <a:solidFill>
              <a:srgbClr val="35E7F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355DDD6-26CF-491C-9DFA-676202836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57675"/>
            <a:ext cx="190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C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B8CF6A2-0A22-480E-B4B0-DF9B5B1A1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57675"/>
            <a:ext cx="11906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BB7C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9BB7C9"/>
                </a:solidFill>
                <a:latin typeface="Aptos Mono"/>
                <a:ea typeface="Aptos Mono"/>
                <a:cs typeface="Aptos Mono"/>
              </a:rPr>
              <a:t>Option C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8777E4F-FC4D-430D-BEC5-247E740BD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4191000"/>
            <a:ext cx="2057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A2B"/>
          </a:solidFill>
          <a:ln xmlns:a="http://schemas.openxmlformats.org/drawingml/2006/main" w="9525">
            <a:solidFill>
              <a:srgbClr val="35E7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445A554-7044-4336-9360-E3813AFD9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4257675"/>
            <a:ext cx="190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D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3EC8D44-7F6A-4A38-8261-F317F9763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4257675"/>
            <a:ext cx="11906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BB7C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9BB7C9"/>
                </a:solidFill>
                <a:latin typeface="Aptos Mono"/>
                <a:ea typeface="Aptos Mono"/>
                <a:cs typeface="Aptos Mono"/>
              </a:rPr>
              <a:t>Option D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FA66353-FA82-4097-BB82-3FBE14A9D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10150"/>
            <a:ext cx="4191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2B"/>
          </a:solidFill>
          <a:ln xmlns:a="http://schemas.openxmlformats.org/drawingml/2006/main" w="11430">
            <a:solidFill>
              <a:srgbClr val="FFD16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5006533-7561-4621-937F-3316E8CFE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24450"/>
            <a:ext cx="3924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FBFF"/>
                </a:solidFill>
                <a:latin typeface="Aptos"/>
                <a:ea typeface="Aptos"/>
                <a:cs typeface="Aptos"/>
              </a:rPr>
              <a:t>Player output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5701348-CC70-41FF-A33A-CECBA606E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391150"/>
            <a:ext cx="3924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9BB7C9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9BB7C9"/>
                </a:solidFill>
                <a:latin typeface="Aptos"/>
                <a:ea typeface="Aptos"/>
                <a:cs typeface="Aptos"/>
              </a:rPr>
              <a:t>Chooses a starter pack. App adds hidden points to one or more buckets.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EA2A1CE-4F45-47C8-BE7B-32B000608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095500"/>
            <a:ext cx="47625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11F"/>
          </a:solidFill>
          <a:ln xmlns:a="http://schemas.openxmlformats.org/drawingml/2006/main" w="14288">
            <a:solidFill>
              <a:srgbClr val="FFD166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C78AB99-8019-42AD-9762-E28227719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209800"/>
            <a:ext cx="4457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Q2 ORIENTATION ARENA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7072B2A-B3B5-47B0-9306-286415EF6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609850"/>
            <a:ext cx="4305300" cy="10801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135"/>
          </a:solidFill>
          <a:ln xmlns:a="http://schemas.openxmlformats.org/drawingml/2006/main" w="9525">
            <a:solidFill>
              <a:srgbClr val="275571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9343253-6D9C-4865-AF7F-C63F7AC6D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819400"/>
            <a:ext cx="3962400" cy="7972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Loud cheers.</a:t>
            </a:r>
          </a:p>
          <a:p xmlns:a="http://schemas.openxmlformats.org/drawingml/2006/main">
            <a:pPr algn="l">
              <a:defRPr sz="1050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Seniors hyping the crowd.</a:t>
            </a:r>
          </a:p>
          <a:p xmlns:a="http://schemas.openxmlformats.org/drawingml/2006/main">
            <a:pPr algn="l">
              <a:defRPr sz="1050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Friend groups forming in real time.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82036C9-A55C-4D45-8B6B-CAD36DDD0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790950"/>
            <a:ext cx="2057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A2B"/>
          </a:solidFill>
          <a:ln xmlns:a="http://schemas.openxmlformats.org/drawingml/2006/main" w="9525">
            <a:solidFill>
              <a:srgbClr val="35E7FF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2C44D9D-5071-4BF3-B1E0-0D2A1611A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857625"/>
            <a:ext cx="190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A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61EF1D2-1172-4FE3-AC63-C8AD37F0A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857625"/>
            <a:ext cx="11906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BB7C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9BB7C9"/>
                </a:solidFill>
                <a:latin typeface="Aptos Mono"/>
                <a:ea typeface="Aptos Mono"/>
                <a:cs typeface="Aptos Mono"/>
              </a:rPr>
              <a:t>Option A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24339E6-9E26-4F20-8D23-C3DC620E5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790950"/>
            <a:ext cx="2057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A2B"/>
          </a:solidFill>
          <a:ln xmlns:a="http://schemas.openxmlformats.org/drawingml/2006/main" w="9525">
            <a:solidFill>
              <a:srgbClr val="35E7FF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25DDDFA-0945-4EC4-AA96-319C3F5BE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3857625"/>
            <a:ext cx="190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B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1DD18DD-7653-4022-8B9D-1986F4150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857625"/>
            <a:ext cx="11906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BB7C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9BB7C9"/>
                </a:solidFill>
                <a:latin typeface="Aptos Mono"/>
                <a:ea typeface="Aptos Mono"/>
                <a:cs typeface="Aptos Mono"/>
              </a:rPr>
              <a:t>Option B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8A71A8D-18AE-4E20-B41F-33434A3D2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191000"/>
            <a:ext cx="2057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A2B"/>
          </a:solidFill>
          <a:ln xmlns:a="http://schemas.openxmlformats.org/drawingml/2006/main" w="9525">
            <a:solidFill>
              <a:srgbClr val="35E7F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D350CA4-5849-4457-A610-1B0F4ECDE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257675"/>
            <a:ext cx="190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C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9C34D6E-A4AA-4FD6-A9F2-00A0FEC0E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257675"/>
            <a:ext cx="11906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BB7C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9BB7C9"/>
                </a:solidFill>
                <a:latin typeface="Aptos Mono"/>
                <a:ea typeface="Aptos Mono"/>
                <a:cs typeface="Aptos Mono"/>
              </a:rPr>
              <a:t>Option C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7571AFD-5CDA-457D-95D1-086720BAF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191000"/>
            <a:ext cx="2057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A2B"/>
          </a:solidFill>
          <a:ln xmlns:a="http://schemas.openxmlformats.org/drawingml/2006/main" w="9525">
            <a:solidFill>
              <a:srgbClr val="35E7FF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DEFC60A-59BA-4D98-A08A-C017F651D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4257675"/>
            <a:ext cx="190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D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A27D8CF-A8ED-4A60-B447-CD4611501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257675"/>
            <a:ext cx="11906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BB7C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9BB7C9"/>
                </a:solidFill>
                <a:latin typeface="Aptos Mono"/>
                <a:ea typeface="Aptos Mono"/>
                <a:cs typeface="Aptos Mono"/>
              </a:rPr>
              <a:t>Option D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6D84412-0ECB-4E11-A771-9DB2FF6A0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5010150"/>
            <a:ext cx="4191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2B"/>
          </a:solidFill>
          <a:ln xmlns:a="http://schemas.openxmlformats.org/drawingml/2006/main" w="11430">
            <a:solidFill>
              <a:srgbClr val="35E7FF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4D5062B-D375-440A-AE9E-1835C0197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124450"/>
            <a:ext cx="3924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FBFF"/>
                </a:solidFill>
                <a:latin typeface="Aptos"/>
                <a:ea typeface="Aptos"/>
                <a:cs typeface="Aptos"/>
              </a:rPr>
              <a:t>System output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5CC435B-BF0F-444B-AC96-343DBCD43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391150"/>
            <a:ext cx="3924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9BB7C9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9BB7C9"/>
                </a:solidFill>
                <a:latin typeface="Aptos"/>
                <a:ea typeface="Aptos"/>
                <a:cs typeface="Aptos"/>
              </a:rPr>
              <a:t>Event toast appears before options: Event: The Orientation. Difficulty: ???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B51B3A1-73F0-468A-B9BA-3B1FA4721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809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36B7C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536B7C"/>
                </a:solidFill>
                <a:latin typeface="Aptos Mono"/>
                <a:ea typeface="Aptos Mono"/>
                <a:cs typeface="Aptos Mono"/>
              </a:rPr>
              <a:t>NBS Freshman Quiz storyboard - first draft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1A1EFCD-6EB0-40C0-A1D6-6662A2D12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3354327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CA8AC39-B26F-472A-A8EC-59A045ABD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0CB742-2812-4E8A-8253-ADC67CDB6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626"/>
          </a:solidFill>
          <a:ln xmlns:a="http://schemas.openxmlformats.org/drawingml/2006/main" w="0">
            <a:solidFill>
              <a:srgbClr val="0A162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789F20-2161-4319-A93F-E21927C7E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4F0DF5-4FC5-40C4-9D35-95D861BFC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5E247A-0CF9-4F4F-BD95-7D9D98007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A4F517-03F1-408F-90B9-BF7381087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1BF989-DBED-454A-B310-BA66261E7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0A0F01-13E4-4F32-A6C1-67232BB8A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F69BBD-27DC-4988-854B-52781BBF0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E1ACC5-4038-4CF5-8CEE-7BF191EB4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134340-3D43-4041-8200-B9B77EEA5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F38069-9F8A-47AD-AFC0-BA5FE6438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E437D0-CDB2-4BFA-A685-9A12C7597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A3AF5E-D484-489B-B70D-2351D022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2E20DB-7947-409B-9503-6954E1F3F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7A5A73-6F55-4106-88E4-5A56473B9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7569EC-3318-4F1B-A6F2-AC7E57A75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FB62C6-DA1B-47AE-B129-20D953367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4"/>
          </a:solidFill>
          <a:ln xmlns:a="http://schemas.openxmlformats.org/drawingml/2006/main" w="0">
            <a:solidFill>
              <a:srgbClr val="102D4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7B06FE-6840-4C42-AA2C-342D799B0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8288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4"/>
          </a:solidFill>
          <a:ln xmlns:a="http://schemas.openxmlformats.org/drawingml/2006/main" w="0">
            <a:solidFill>
              <a:srgbClr val="102D4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5E3A08-46FD-42F2-91C6-628DF1ED8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5146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4"/>
          </a:solidFill>
          <a:ln xmlns:a="http://schemas.openxmlformats.org/drawingml/2006/main" w="0">
            <a:solidFill>
              <a:srgbClr val="102D4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B4904E-BCAC-418D-9B38-55DFD9F2E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2004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4"/>
          </a:solidFill>
          <a:ln xmlns:a="http://schemas.openxmlformats.org/drawingml/2006/main" w="0">
            <a:solidFill>
              <a:srgbClr val="102D4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BDF312-14DB-43ED-88E7-66EEFEB87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8862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4"/>
          </a:solidFill>
          <a:ln xmlns:a="http://schemas.openxmlformats.org/drawingml/2006/main" w="0">
            <a:solidFill>
              <a:srgbClr val="102D4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5C4429-D864-427B-A7C0-BADD5E7BA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5720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4"/>
          </a:solidFill>
          <a:ln xmlns:a="http://schemas.openxmlformats.org/drawingml/2006/main" w="0">
            <a:solidFill>
              <a:srgbClr val="102D4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93E462-C794-4041-8FFB-B7D764D9A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2578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4"/>
          </a:solidFill>
          <a:ln xmlns:a="http://schemas.openxmlformats.org/drawingml/2006/main" w="0">
            <a:solidFill>
              <a:srgbClr val="102D4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C019B7-7DEB-4CC0-AD74-A513E63E6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9436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4"/>
          </a:solidFill>
          <a:ln xmlns:a="http://schemas.openxmlformats.org/drawingml/2006/main" w="0">
            <a:solidFill>
              <a:srgbClr val="102D4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7E1006-9FC2-41C4-B7B0-6F296A3D6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Q3-Q4 STORYBOARD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21478FF-5E08-4BE4-9DA1-47856EEF0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7FF"/>
          </a:solidFill>
          <a:ln xmlns:a="http://schemas.openxmlformats.org/drawingml/2006/main" w="0">
            <a:solidFill>
              <a:srgbClr val="35E7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96A4AB0-5FB1-46CA-831E-CA099EB8D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8191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FB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4FBFF"/>
                </a:solidFill>
                <a:latin typeface="Aptos Display"/>
                <a:ea typeface="Aptos Display"/>
                <a:cs typeface="Aptos Display"/>
              </a:rPr>
              <a:t>Navigation and group project use click-to-continue beats plus artifact popups.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20479F0-6485-4745-BFF5-73CD6D2B8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85900"/>
            <a:ext cx="838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BB7C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BB7C9"/>
                </a:solidFill>
                <a:latin typeface="Aptos"/>
                <a:ea typeface="Aptos"/>
                <a:cs typeface="Aptos"/>
              </a:rPr>
              <a:t>The group chat is a separate popup, then returns as a small token for review.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44CD8CA-E1A3-479B-A759-34996427F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23431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2B"/>
          </a:solidFill>
          <a:ln xmlns:a="http://schemas.openxmlformats.org/drawingml/2006/main" w="11430">
            <a:solidFill>
              <a:srgbClr val="B68C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9020415-1F95-4814-B85A-4662F3BE6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098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8CFF"/>
          </a:solidFill>
          <a:ln xmlns:a="http://schemas.openxmlformats.org/drawingml/2006/main" w="0">
            <a:solidFill>
              <a:srgbClr val="B68C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E0A7AB2-A3CD-430B-9774-A2FEA476C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57425"/>
            <a:ext cx="266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3070D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03070D"/>
                </a:solidFill>
                <a:latin typeface="Aptos Mono"/>
                <a:ea typeface="Aptos Mono"/>
                <a:cs typeface="Aptos Mono"/>
              </a:rPr>
              <a:t>Q3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6740BF7-C153-4AA1-A987-07F9432DC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209800"/>
            <a:ext cx="1733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FBFF"/>
                </a:solidFill>
                <a:latin typeface="Aptos"/>
                <a:ea typeface="Aptos"/>
                <a:cs typeface="Aptos"/>
              </a:rPr>
              <a:t>Q3.0 Few Days Later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C5880D7-541A-4AE4-B190-A95CEA55A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20764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9BB7C9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9BB7C9"/>
                </a:solidFill>
                <a:latin typeface="Aptos"/>
                <a:ea typeface="Aptos"/>
                <a:cs typeface="Aptos"/>
              </a:rPr>
              <a:t>Full-screen timeline sync scene. Player clicks to continue.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E475775-055D-4750-A2FD-C4E229D4B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628900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8CFF"/>
          </a:solidFill>
          <a:ln xmlns:a="http://schemas.openxmlformats.org/drawingml/2006/main" w="0">
            <a:solidFill>
              <a:srgbClr val="B68C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963D372-98FD-4B2E-A2BC-6AD7C35BF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590800"/>
            <a:ext cx="76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8CFF"/>
          </a:solidFill>
          <a:ln xmlns:a="http://schemas.openxmlformats.org/drawingml/2006/main" w="0">
            <a:solidFill>
              <a:srgbClr val="B68C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9476648-C819-42D4-A642-EF23BD64C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095500"/>
            <a:ext cx="2857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2B"/>
          </a:solidFill>
          <a:ln xmlns:a="http://schemas.openxmlformats.org/drawingml/2006/main" w="11430">
            <a:solidFill>
              <a:srgbClr val="35E7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C8AAC98-E378-43E9-8FC1-33C1873E3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209800"/>
            <a:ext cx="2590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FBFF"/>
                </a:solidFill>
                <a:latin typeface="Aptos"/>
                <a:ea typeface="Aptos"/>
                <a:cs typeface="Aptos"/>
              </a:rPr>
              <a:t>Q3.1 Navigation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9F982E1-208B-423A-BA21-CC9793493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476500"/>
            <a:ext cx="25908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9BB7C9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9BB7C9"/>
                </a:solidFill>
                <a:latin typeface="Aptos"/>
                <a:ea typeface="Aptos"/>
                <a:cs typeface="Aptos"/>
              </a:rPr>
              <a:t>Return to plaza, objective toast, pathfinding challenge, then options.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A123BA9-A55D-47C2-867F-EC6C830AF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23431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2B"/>
          </a:solidFill>
          <a:ln xmlns:a="http://schemas.openxmlformats.org/drawingml/2006/main" w="11430">
            <a:solidFill>
              <a:srgbClr val="35E7F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224ADAD-44B9-4960-8D6A-9704F0CF5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100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7FF"/>
          </a:solidFill>
          <a:ln xmlns:a="http://schemas.openxmlformats.org/drawingml/2006/main" w="0">
            <a:solidFill>
              <a:srgbClr val="35E7F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C3AC5C2-24B8-4AFB-A5D0-7AD0F4056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57675"/>
            <a:ext cx="266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3070D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03070D"/>
                </a:solidFill>
                <a:latin typeface="Aptos Mono"/>
                <a:ea typeface="Aptos Mono"/>
                <a:cs typeface="Aptos Mono"/>
              </a:rPr>
              <a:t>Q4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965AB19-0D61-4365-9F31-87BB7B8A2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10050"/>
            <a:ext cx="1733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FBFF"/>
                </a:solidFill>
                <a:latin typeface="Aptos"/>
                <a:ea typeface="Aptos"/>
                <a:cs typeface="Aptos"/>
              </a:rPr>
              <a:t>Q4.0 Classroom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04FC5D0-94EB-4CCD-94FB-F8C625B35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76750"/>
            <a:ext cx="20764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9BB7C9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9BB7C9"/>
                </a:solidFill>
                <a:latin typeface="Aptos"/>
                <a:ea typeface="Aptos"/>
                <a:cs typeface="Aptos"/>
              </a:rPr>
              <a:t>Prof says form groups. Classmates cluster instantly.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0759E1D-CECA-43D9-A5A8-052931B71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629150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7FF"/>
          </a:solidFill>
          <a:ln xmlns:a="http://schemas.openxmlformats.org/drawingml/2006/main" w="0">
            <a:solidFill>
              <a:srgbClr val="35E7F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18E5F71-F155-4EFD-A82C-A4B7130FB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591050"/>
            <a:ext cx="76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7FF"/>
          </a:solidFill>
          <a:ln xmlns:a="http://schemas.openxmlformats.org/drawingml/2006/main" w="0">
            <a:solidFill>
              <a:srgbClr val="35E7F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D2D4062-2136-4FE7-BC35-4418D3FB3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095750"/>
            <a:ext cx="2857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2B"/>
          </a:solidFill>
          <a:ln xmlns:a="http://schemas.openxmlformats.org/drawingml/2006/main" w="11430">
            <a:solidFill>
              <a:srgbClr val="FFD16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DDA420A-ABE3-4F52-ADCC-916FD16B5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210050"/>
            <a:ext cx="2590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FBFF"/>
                </a:solidFill>
                <a:latin typeface="Aptos"/>
                <a:ea typeface="Aptos"/>
                <a:cs typeface="Aptos"/>
              </a:rPr>
              <a:t>Q4.1 Group chat popup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84D095A-6D20-48F6-871D-8D7FB335D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476750"/>
            <a:ext cx="25908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9BB7C9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9BB7C9"/>
                </a:solidFill>
                <a:latin typeface="Aptos"/>
                <a:ea typeface="Aptos"/>
                <a:cs typeface="Aptos"/>
              </a:rPr>
              <a:t>Biz Case grp 3 appears as modal. Close it to return to the question.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32F1EC6-B1C4-481C-BAF0-754A1E516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05150"/>
            <a:ext cx="35623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2B"/>
          </a:solidFill>
          <a:ln xmlns:a="http://schemas.openxmlformats.org/drawingml/2006/main" w="11430">
            <a:solidFill>
              <a:srgbClr val="9DFFB0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1E5FB42-26B0-407A-9B94-2DDC6F01A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219450"/>
            <a:ext cx="3295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FBFF"/>
                </a:solidFill>
                <a:latin typeface="Aptos"/>
                <a:ea typeface="Aptos"/>
                <a:cs typeface="Aptos"/>
              </a:rPr>
              <a:t>Q4.2 Options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B29E319-C803-49BA-A71B-BA7C536DF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486150"/>
            <a:ext cx="32956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9BB7C9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9BB7C9"/>
                </a:solidFill>
                <a:latin typeface="Aptos"/>
                <a:ea typeface="Aptos"/>
                <a:cs typeface="Aptos"/>
              </a:rPr>
              <a:t>No one says anything. Event toast: Group Project. Options appear after toast.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D978347-F338-42FA-8E5C-C001D660C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876800"/>
            <a:ext cx="3829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Designer focus: Q4 needs a final chat UI artifact that works as both a large popup and small token.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3E0C27F-AE44-4794-BF71-2F91F2689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809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36B7C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536B7C"/>
                </a:solidFill>
                <a:latin typeface="Aptos Mono"/>
                <a:ea typeface="Aptos Mono"/>
                <a:cs typeface="Aptos Mono"/>
              </a:rPr>
              <a:t>NBS Freshman Quiz storyboard - first draft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424E71A-D9A5-48AD-A04A-1D7D5D2DC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16534438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3A3A9BD-337E-4A75-BCB3-EF71083F8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F34352-86F8-4C9A-A0EC-EE598F356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626"/>
          </a:solidFill>
          <a:ln xmlns:a="http://schemas.openxmlformats.org/drawingml/2006/main" w="0">
            <a:solidFill>
              <a:srgbClr val="0A162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819C48-2609-42B6-8F0D-42C18C0F1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7B2F8B-E8E1-468E-B803-3DB6FFDDC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8CDF8A-9AF4-45A5-9FAC-5E1A6FB30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B6ED08-AB0A-42E8-BB31-03565646B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21C082-6341-472C-9CB8-03B30CBF5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3E0429-5CD4-4A4B-A5FB-08061D5FD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20A7DD-5F0B-414A-A6AA-CF1DD3AD8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EB8489-31D7-46B8-B75A-3F0CDE046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D1939A-3D65-469D-87D4-C349E3E16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B69B30-43D1-45B9-AD59-A7011103F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2799FD-BDB1-4CFD-A21D-38A2A877A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07A0D4-D752-4BA1-A5FD-714210F21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6F914D-F51B-4E05-84D9-DFA759577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AAF42A-1611-4BCA-83B4-C6366FA1C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74D45C-294E-4D61-A715-FAF571D7A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3812F5-D2E9-491B-99CB-E434F359F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4"/>
          </a:solidFill>
          <a:ln xmlns:a="http://schemas.openxmlformats.org/drawingml/2006/main" w="0">
            <a:solidFill>
              <a:srgbClr val="102D4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B39200-351F-4F02-BE4E-23A64D847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8288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4"/>
          </a:solidFill>
          <a:ln xmlns:a="http://schemas.openxmlformats.org/drawingml/2006/main" w="0">
            <a:solidFill>
              <a:srgbClr val="102D4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51F071-E37C-4BE7-B773-82B7FFB96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5146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4"/>
          </a:solidFill>
          <a:ln xmlns:a="http://schemas.openxmlformats.org/drawingml/2006/main" w="0">
            <a:solidFill>
              <a:srgbClr val="102D4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2E1A35-4A66-4D02-8A48-85F11D90E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2004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4"/>
          </a:solidFill>
          <a:ln xmlns:a="http://schemas.openxmlformats.org/drawingml/2006/main" w="0">
            <a:solidFill>
              <a:srgbClr val="102D4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50E1F9-8742-4F1F-B961-4F7E35136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8862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4"/>
          </a:solidFill>
          <a:ln xmlns:a="http://schemas.openxmlformats.org/drawingml/2006/main" w="0">
            <a:solidFill>
              <a:srgbClr val="102D4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5CC8E9-8EE0-448E-85DD-F64D0AC79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5720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4"/>
          </a:solidFill>
          <a:ln xmlns:a="http://schemas.openxmlformats.org/drawingml/2006/main" w="0">
            <a:solidFill>
              <a:srgbClr val="102D4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566DDE-007A-4224-B2C2-6E05C5194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2578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4"/>
          </a:solidFill>
          <a:ln xmlns:a="http://schemas.openxmlformats.org/drawingml/2006/main" w="0">
            <a:solidFill>
              <a:srgbClr val="102D4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CC07DD-C0E0-4302-AD2C-F40276D96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9436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4"/>
          </a:solidFill>
          <a:ln xmlns:a="http://schemas.openxmlformats.org/drawingml/2006/main" w="0">
            <a:solidFill>
              <a:srgbClr val="102D4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5C7F93-5AE5-4516-B99C-C963A5A5F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Q5 STORYBOARD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91CE76-7DDB-4CC9-AD92-66CB5172B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7FF"/>
          </a:solidFill>
          <a:ln xmlns:a="http://schemas.openxmlformats.org/drawingml/2006/main" w="0">
            <a:solidFill>
              <a:srgbClr val="35E7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6F11799-A2AC-49EC-A13F-05D606262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8191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FB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4FBFF"/>
                </a:solidFill>
                <a:latin typeface="Aptos Display"/>
                <a:ea typeface="Aptos Display"/>
                <a:cs typeface="Aptos Display"/>
              </a:rPr>
              <a:t>The CCA Fair should feel like the system forcibly reroutes the player.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429061E-5A3F-4180-A9CE-416DA7041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85900"/>
            <a:ext cx="838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BB7C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BB7C9"/>
                </a:solidFill>
                <a:latin typeface="Aptos"/>
                <a:ea typeface="Aptos"/>
                <a:cs typeface="Aptos"/>
              </a:rPr>
              <a:t>This question is intentionally split into story beats so the player can read the setup.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E84793F-FC61-4D3C-AFAA-FA377C666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62200"/>
            <a:ext cx="17526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2B"/>
          </a:solidFill>
          <a:ln xmlns:a="http://schemas.openxmlformats.org/drawingml/2006/main" w="11430">
            <a:solidFill>
              <a:srgbClr val="35E7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EDCE1B4-5871-466E-BE4B-645526F29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7FF"/>
          </a:solidFill>
          <a:ln xmlns:a="http://schemas.openxmlformats.org/drawingml/2006/main" w="0">
            <a:solidFill>
              <a:srgbClr val="35E7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25011AF-6B0D-4BF1-8821-0510510F6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24125"/>
            <a:ext cx="266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3070D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03070D"/>
                </a:solidFill>
                <a:latin typeface="Aptos Mono"/>
                <a:ea typeface="Aptos Mono"/>
                <a:cs typeface="Aptos Mono"/>
              </a:rPr>
              <a:t>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C90C64E-0CCE-4771-8A8F-523F002FB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765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FBFF"/>
                </a:solidFill>
                <a:latin typeface="Aptos"/>
                <a:ea typeface="Aptos"/>
                <a:cs typeface="Aptos"/>
              </a:rPr>
              <a:t>Leaving campus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1D79212-6183-4DDD-BD8D-9A7E8E0F5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43200"/>
            <a:ext cx="14859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9BB7C9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9BB7C9"/>
                </a:solidFill>
                <a:latin typeface="Aptos"/>
                <a:ea typeface="Aptos"/>
                <a:cs typeface="Aptos"/>
              </a:rPr>
              <a:t>Class ends. Player thinks they are done.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BF82170-C5E9-4716-96A7-0FBD4E6B8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0099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7FF"/>
          </a:solidFill>
          <a:ln xmlns:a="http://schemas.openxmlformats.org/drawingml/2006/main" w="0">
            <a:solidFill>
              <a:srgbClr val="35E7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374D12F-DEFB-4F3D-9C4E-4574AB5D2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971800"/>
            <a:ext cx="76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7FF"/>
          </a:solidFill>
          <a:ln xmlns:a="http://schemas.openxmlformats.org/drawingml/2006/main" w="0">
            <a:solidFill>
              <a:srgbClr val="35E7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6ACA438-09DA-4B23-9CFF-A83439ACA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62200"/>
            <a:ext cx="17526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2B"/>
          </a:solidFill>
          <a:ln xmlns:a="http://schemas.openxmlformats.org/drawingml/2006/main" w="11430">
            <a:solidFill>
              <a:srgbClr val="35E7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5A2F38D-A923-4508-AF76-44A3BA700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4765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7FF"/>
          </a:solidFill>
          <a:ln xmlns:a="http://schemas.openxmlformats.org/drawingml/2006/main" w="0">
            <a:solidFill>
              <a:srgbClr val="35E7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390EAD1-F0BB-40A7-8E53-092583493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524125"/>
            <a:ext cx="266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3070D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03070D"/>
                </a:solidFill>
                <a:latin typeface="Aptos Mono"/>
                <a:ea typeface="Aptos Mono"/>
                <a:cs typeface="Aptos Mono"/>
              </a:rPr>
              <a:t>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BF77589-7252-45FC-91F9-21F26D5EE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4765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FBFF"/>
                </a:solidFill>
                <a:latin typeface="Aptos"/>
                <a:ea typeface="Aptos"/>
                <a:cs typeface="Aptos"/>
              </a:rPr>
              <a:t>Game says no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871FFED-7E9F-4108-9A2F-092DC137C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743200"/>
            <a:ext cx="14859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9BB7C9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9BB7C9"/>
                </a:solidFill>
                <a:latin typeface="Aptos"/>
                <a:ea typeface="Aptos"/>
                <a:cs typeface="Aptos"/>
              </a:rPr>
              <a:t>the game: lol no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F9B82ED-AFF4-46E6-B574-FD3BB8CB9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0099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7FF"/>
          </a:solidFill>
          <a:ln xmlns:a="http://schemas.openxmlformats.org/drawingml/2006/main" w="0">
            <a:solidFill>
              <a:srgbClr val="35E7F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BA672CD-0938-4330-9805-862710F12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971800"/>
            <a:ext cx="76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7FF"/>
          </a:solidFill>
          <a:ln xmlns:a="http://schemas.openxmlformats.org/drawingml/2006/main" w="0">
            <a:solidFill>
              <a:srgbClr val="35E7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5CF035E-A7CB-44B1-915A-4D647AEE1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362200"/>
            <a:ext cx="17526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2B"/>
          </a:solidFill>
          <a:ln xmlns:a="http://schemas.openxmlformats.org/drawingml/2006/main" w="11430">
            <a:solidFill>
              <a:srgbClr val="FF4D6D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A84D1BC-4627-4A19-B854-95421674C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4765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D6D"/>
          </a:solidFill>
          <a:ln xmlns:a="http://schemas.openxmlformats.org/drawingml/2006/main" w="0">
            <a:solidFill>
              <a:srgbClr val="FF4D6D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83DDDB7-E42C-4FDF-9051-B8A925C2C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524125"/>
            <a:ext cx="266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3070D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03070D"/>
                </a:solidFill>
                <a:latin typeface="Aptos Mono"/>
                <a:ea typeface="Aptos Mono"/>
                <a:cs typeface="Aptos Mono"/>
              </a:rPr>
              <a:t>3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C607D7A-22E6-4801-B592-56DC59374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4765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FBFF"/>
                </a:solidFill>
                <a:latin typeface="Aptos"/>
                <a:ea typeface="Aptos"/>
                <a:cs typeface="Aptos"/>
              </a:rPr>
              <a:t>Reroute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F022938-6C17-48B8-80D0-8F41897F1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743200"/>
            <a:ext cx="14859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9BB7C9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9BB7C9"/>
                </a:solidFill>
                <a:latin typeface="Aptos"/>
                <a:ea typeface="Aptos"/>
                <a:cs typeface="Aptos"/>
              </a:rPr>
              <a:t>Your path automatically reroutes.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9F0F574-EB85-4B92-9772-A36DEA9DF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0099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D6D"/>
          </a:solidFill>
          <a:ln xmlns:a="http://schemas.openxmlformats.org/drawingml/2006/main" w="0">
            <a:solidFill>
              <a:srgbClr val="FF4D6D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2A9357B-EE12-43D7-805F-2CA48AE99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971800"/>
            <a:ext cx="76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D6D"/>
          </a:solidFill>
          <a:ln xmlns:a="http://schemas.openxmlformats.org/drawingml/2006/main" w="0">
            <a:solidFill>
              <a:srgbClr val="FF4D6D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07E995B-BD33-492D-BB66-036F00AE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62200"/>
            <a:ext cx="17526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2B"/>
          </a:solidFill>
          <a:ln xmlns:a="http://schemas.openxmlformats.org/drawingml/2006/main" w="11430">
            <a:solidFill>
              <a:srgbClr val="FFD16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2F7376F-9B67-4522-9E98-FD64A978F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4765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FFD16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DBB2FBE-CFCC-4228-9D2C-BB66F8D74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524125"/>
            <a:ext cx="266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3070D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03070D"/>
                </a:solidFill>
                <a:latin typeface="Aptos Mono"/>
                <a:ea typeface="Aptos Mono"/>
                <a:cs typeface="Aptos Mono"/>
              </a:rPr>
              <a:t>4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DE27CE5-916F-42D1-B782-15A81985A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4765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FBFF"/>
                </a:solidFill>
                <a:latin typeface="Aptos"/>
                <a:ea typeface="Aptos"/>
                <a:cs typeface="Aptos"/>
              </a:rPr>
              <a:t>Route toast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9DBBF8E-015E-494A-A7E9-232BDC296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743200"/>
            <a:ext cx="14859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9BB7C9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9BB7C9"/>
                </a:solidFill>
                <a:latin typeface="Aptos"/>
                <a:ea typeface="Aptos"/>
                <a:cs typeface="Aptos"/>
              </a:rPr>
              <a:t>Route Updated. Returning to WCY Plaza.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ED6B83D-C36A-4450-B973-FD31708A0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0099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7FF"/>
          </a:solidFill>
          <a:ln xmlns:a="http://schemas.openxmlformats.org/drawingml/2006/main" w="0">
            <a:solidFill>
              <a:srgbClr val="35E7FF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FFD9FDD-11D0-4C08-A91E-675CD8496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971800"/>
            <a:ext cx="76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7FF"/>
          </a:solidFill>
          <a:ln xmlns:a="http://schemas.openxmlformats.org/drawingml/2006/main" w="0">
            <a:solidFill>
              <a:srgbClr val="35E7FF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B0B0B64-8A7A-4F57-85C2-A88160086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362200"/>
            <a:ext cx="17526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2B"/>
          </a:solidFill>
          <a:ln xmlns:a="http://schemas.openxmlformats.org/drawingml/2006/main" w="11430">
            <a:solidFill>
              <a:srgbClr val="35E7FF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C601F10-6E2C-4176-B510-0A352C7F0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4765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7FF"/>
          </a:solidFill>
          <a:ln xmlns:a="http://schemas.openxmlformats.org/drawingml/2006/main" w="0">
            <a:solidFill>
              <a:srgbClr val="35E7F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64CABF3-899A-43AC-BAE1-253CA6DCB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524125"/>
            <a:ext cx="266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3070D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03070D"/>
                </a:solidFill>
                <a:latin typeface="Aptos Mono"/>
                <a:ea typeface="Aptos Mono"/>
                <a:cs typeface="Aptos Mono"/>
              </a:rPr>
              <a:t>5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644DC99-028A-48D3-A207-7138FCD94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4765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FBFF"/>
                </a:solidFill>
                <a:latin typeface="Aptos"/>
                <a:ea typeface="Aptos"/>
                <a:cs typeface="Aptos"/>
              </a:rPr>
              <a:t>CCA pressure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474FFB6-7C38-4FD0-A162-F879915F2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743200"/>
            <a:ext cx="14859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9BB7C9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9BB7C9"/>
                </a:solidFill>
                <a:latin typeface="Aptos"/>
                <a:ea typeface="Aptos"/>
                <a:cs typeface="Aptos"/>
              </a:rPr>
              <a:t>Tote bag, pitches, unplanned commitment. Your move?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085305C-2BD6-4B9C-876C-20A158A2F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29150"/>
            <a:ext cx="8953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F4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0">
                <a:solidFill>
                  <a:srgbClr val="F4FBFF"/>
                </a:solidFill>
                <a:latin typeface="Aptos Display"/>
                <a:ea typeface="Aptos Display"/>
                <a:cs typeface="Aptos Display"/>
              </a:rPr>
              <a:t>Output after options: hidden score update -&gt; Quest Updated interstitial -&gt; Burnout Monster scene.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79882E2-B042-4BBF-A240-0669E248D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809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36B7C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536B7C"/>
                </a:solidFill>
                <a:latin typeface="Aptos Mono"/>
                <a:ea typeface="Aptos Mono"/>
                <a:cs typeface="Aptos Mono"/>
              </a:rPr>
              <a:t>NBS Freshman Quiz storyboard - first draft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80FE423-DD8F-4256-AB6F-D01DB62A0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69360826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32E0CC-5F0A-408A-8DA2-6723838D8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3F41D0-9BA6-4F3B-BAD9-5B24BA1EB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626"/>
          </a:solidFill>
          <a:ln xmlns:a="http://schemas.openxmlformats.org/drawingml/2006/main" w="0">
            <a:solidFill>
              <a:srgbClr val="0A162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B8DB2E-9C50-464C-8F23-A04F157B9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B726BE-7A95-4C69-8C0C-CBB2CA652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67AA7B-1526-43EA-AFE4-2DF394B53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5DEBA9-7420-4A65-8B8F-FBCE39DA0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F25346-1513-462E-959A-7EF5F534C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05A477-D9BC-4A29-9452-74FF6977C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75C099-FA8C-4DFF-8566-CCB997219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6DC257-5346-40C8-9E9D-04593155F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A4FF0A-140D-455D-B6EC-150A6C1E5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F0614D-7C6E-42A6-B0C3-F7F5AE1DF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75B277-D5F6-4FE1-9B48-16C1A26A7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F725CB-8C65-4E7B-B687-DA817BD8A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103994-3EA1-4472-B985-DB54A3021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E95207-6628-4EA8-BD09-1A55FC988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A80A50-BF3A-4E92-95C7-16273EFD5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B99AFA-A5A4-4175-916E-CADFCB6B1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4"/>
          </a:solidFill>
          <a:ln xmlns:a="http://schemas.openxmlformats.org/drawingml/2006/main" w="0">
            <a:solidFill>
              <a:srgbClr val="102D4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DCE305-89D4-4663-A2C8-6764B562C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8288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4"/>
          </a:solidFill>
          <a:ln xmlns:a="http://schemas.openxmlformats.org/drawingml/2006/main" w="0">
            <a:solidFill>
              <a:srgbClr val="102D4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0CE4F7-3708-4BCD-8D7E-0ECDFFD6D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5146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4"/>
          </a:solidFill>
          <a:ln xmlns:a="http://schemas.openxmlformats.org/drawingml/2006/main" w="0">
            <a:solidFill>
              <a:srgbClr val="102D4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10AD1E-715C-4C12-BAE6-9B3261025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2004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4"/>
          </a:solidFill>
          <a:ln xmlns:a="http://schemas.openxmlformats.org/drawingml/2006/main" w="0">
            <a:solidFill>
              <a:srgbClr val="102D4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E03558-DED0-4520-9893-2B3FF6A9E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8862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4"/>
          </a:solidFill>
          <a:ln xmlns:a="http://schemas.openxmlformats.org/drawingml/2006/main" w="0">
            <a:solidFill>
              <a:srgbClr val="102D4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5CA0DC-88A9-4394-B0F5-4FAF049C9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5720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4"/>
          </a:solidFill>
          <a:ln xmlns:a="http://schemas.openxmlformats.org/drawingml/2006/main" w="0">
            <a:solidFill>
              <a:srgbClr val="102D4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D6C8A7-2278-4C46-B54A-95006ABB4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2578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4"/>
          </a:solidFill>
          <a:ln xmlns:a="http://schemas.openxmlformats.org/drawingml/2006/main" w="0">
            <a:solidFill>
              <a:srgbClr val="102D4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28527E-AAD4-4756-8AD4-D835AFCA5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9436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4"/>
          </a:solidFill>
          <a:ln xmlns:a="http://schemas.openxmlformats.org/drawingml/2006/main" w="0">
            <a:solidFill>
              <a:srgbClr val="102D4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29916E-BE84-4D6C-AF98-25CD7A847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Q6 BOSS ENCOUNTER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ADEAE38-9B4B-4773-B33E-D5368FCD1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7FF"/>
          </a:solidFill>
          <a:ln xmlns:a="http://schemas.openxmlformats.org/drawingml/2006/main" w="0">
            <a:solidFill>
              <a:srgbClr val="35E7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D7A432-008D-4202-9D3A-BE1B47F2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8191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FB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4FBFF"/>
                </a:solidFill>
                <a:latin typeface="Aptos Display"/>
                <a:ea typeface="Aptos Display"/>
                <a:cs typeface="Aptos Display"/>
              </a:rPr>
              <a:t>Burnout Monster is the major system attack sequence.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FE6A88E-69AD-4B33-8E50-814495822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85900"/>
            <a:ext cx="838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BB7C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BB7C9"/>
                </a:solidFill>
                <a:latin typeface="Aptos"/>
                <a:ea typeface="Aptos"/>
                <a:cs typeface="Aptos"/>
              </a:rPr>
              <a:t>The app must show notifications and boss art as UI events, not just describe them in the text box.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A09F180-21AD-4EBD-ABDF-FFF451264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14550"/>
            <a:ext cx="1847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827"/>
          </a:solidFill>
          <a:ln xmlns:a="http://schemas.openxmlformats.org/drawingml/2006/main" w="11430">
            <a:solidFill>
              <a:srgbClr val="35E7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78E473C-61F4-4792-B0BE-21EE2BE7B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7FF"/>
          </a:solidFill>
          <a:ln xmlns:a="http://schemas.openxmlformats.org/drawingml/2006/main" w="0">
            <a:solidFill>
              <a:srgbClr val="35E7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B9A8C86-C9E3-448F-8628-5629D54D3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76475"/>
            <a:ext cx="266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3070D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03070D"/>
                </a:solidFill>
                <a:latin typeface="Aptos Mono"/>
                <a:ea typeface="Aptos Mono"/>
                <a:cs typeface="Aptos Mono"/>
              </a:rPr>
              <a:t>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5C9A6FF-2C2F-4A07-873E-CEEF3247B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288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FBFF"/>
                </a:solidFill>
                <a:latin typeface="Aptos"/>
                <a:ea typeface="Aptos"/>
                <a:cs typeface="Aptos"/>
              </a:rPr>
              <a:t>Darken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0037FB8-43EE-440E-A982-3F60A698C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95550"/>
            <a:ext cx="1581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9BB7C9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9BB7C9"/>
                </a:solidFill>
                <a:latin typeface="Aptos"/>
                <a:ea typeface="Aptos"/>
                <a:cs typeface="Aptos"/>
              </a:rPr>
              <a:t>The environment suddenly darkens.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1D178B3-DA5B-4B48-9F37-C26F3E83A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85750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7FF"/>
          </a:solidFill>
          <a:ln xmlns:a="http://schemas.openxmlformats.org/drawingml/2006/main" w="0">
            <a:solidFill>
              <a:srgbClr val="35E7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4E0815F-6441-4BDF-9DA2-6346BDA2E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819400"/>
            <a:ext cx="76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7FF"/>
          </a:solidFill>
          <a:ln xmlns:a="http://schemas.openxmlformats.org/drawingml/2006/main" w="0">
            <a:solidFill>
              <a:srgbClr val="35E7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6180EAF-4EB3-404E-9467-EA3EB47E5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114550"/>
            <a:ext cx="1847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827"/>
          </a:solidFill>
          <a:ln xmlns:a="http://schemas.openxmlformats.org/drawingml/2006/main" w="11430">
            <a:solidFill>
              <a:srgbClr val="35E7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D6124E6-3A45-459D-9CB5-997C53736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288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7FF"/>
          </a:solidFill>
          <a:ln xmlns:a="http://schemas.openxmlformats.org/drawingml/2006/main" w="0">
            <a:solidFill>
              <a:srgbClr val="35E7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A41383B-32BC-4BA9-902F-97A5979B4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76475"/>
            <a:ext cx="266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3070D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03070D"/>
                </a:solidFill>
                <a:latin typeface="Aptos Mono"/>
                <a:ea typeface="Aptos Mono"/>
                <a:cs typeface="Aptos Mono"/>
              </a:rPr>
              <a:t>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63EB8C1-9313-4881-ACCF-5A9B86475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288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FBFF"/>
                </a:solidFill>
                <a:latin typeface="Aptos"/>
                <a:ea typeface="Aptos"/>
                <a:cs typeface="Aptos"/>
              </a:rPr>
              <a:t>UI attack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1416FC7-FB19-46AB-A3D9-A069D525E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495550"/>
            <a:ext cx="1581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9BB7C9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9BB7C9"/>
                </a:solidFill>
                <a:latin typeface="Aptos"/>
                <a:ea typeface="Aptos"/>
                <a:cs typeface="Aptos"/>
              </a:rPr>
              <a:t>Deadline, meeting, unread, are-you-free notifications stack with SFX.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A21CD29-C632-4EF9-B3A4-74E3FBEBD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85750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D6D"/>
          </a:solidFill>
          <a:ln xmlns:a="http://schemas.openxmlformats.org/drawingml/2006/main" w="0">
            <a:solidFill>
              <a:srgbClr val="FF4D6D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A72EFB3-3CF6-4341-A11E-718DBCDC0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819400"/>
            <a:ext cx="76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D6D"/>
          </a:solidFill>
          <a:ln xmlns:a="http://schemas.openxmlformats.org/drawingml/2006/main" w="0">
            <a:solidFill>
              <a:srgbClr val="FF4D6D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17BA508-BBA6-4945-B8C3-351182657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114550"/>
            <a:ext cx="1847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0A14"/>
          </a:solidFill>
          <a:ln xmlns:a="http://schemas.openxmlformats.org/drawingml/2006/main" w="11430">
            <a:solidFill>
              <a:srgbClr val="FF4D6D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59FBDEA-9F4F-4388-9971-8CD8B1B6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2288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D6D"/>
          </a:solidFill>
          <a:ln xmlns:a="http://schemas.openxmlformats.org/drawingml/2006/main" w="0">
            <a:solidFill>
              <a:srgbClr val="FF4D6D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B0110B0-EF18-4ABE-984F-C424B0630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276475"/>
            <a:ext cx="266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3070D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03070D"/>
                </a:solidFill>
                <a:latin typeface="Aptos Mono"/>
                <a:ea typeface="Aptos Mono"/>
                <a:cs typeface="Aptos Mono"/>
              </a:rPr>
              <a:t>3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4DE9702-FE01-46E7-9121-B627343D8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2288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FBFF"/>
                </a:solidFill>
                <a:latin typeface="Aptos"/>
                <a:ea typeface="Aptos"/>
                <a:cs typeface="Aptos"/>
              </a:rPr>
              <a:t>Overload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48FEAF2-8187-409F-BEAE-BF28ECAC6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495550"/>
            <a:ext cx="1581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9BB7C9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9BB7C9"/>
                </a:solidFill>
                <a:latin typeface="Aptos"/>
                <a:ea typeface="Aptos"/>
                <a:cs typeface="Aptos"/>
              </a:rPr>
              <a:t>WARNING: SYSTEM OVERLOAD toast with shake.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4D0BCF2-9CA3-41DF-884A-470C44A53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85750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D6D"/>
          </a:solidFill>
          <a:ln xmlns:a="http://schemas.openxmlformats.org/drawingml/2006/main" w="0">
            <a:solidFill>
              <a:srgbClr val="FF4D6D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CE26F82-663E-41C9-9B65-E0E8B8A51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819400"/>
            <a:ext cx="76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D6D"/>
          </a:solidFill>
          <a:ln xmlns:a="http://schemas.openxmlformats.org/drawingml/2006/main" w="0">
            <a:solidFill>
              <a:srgbClr val="FF4D6D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91270BE-FA16-4151-A74A-C62769D3F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114550"/>
            <a:ext cx="1847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0A14"/>
          </a:solidFill>
          <a:ln xmlns:a="http://schemas.openxmlformats.org/drawingml/2006/main" w="11430">
            <a:solidFill>
              <a:srgbClr val="FF4D6D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6385D6A-FDB3-4A0B-9696-C7A3EA9A3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2288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D6D"/>
          </a:solidFill>
          <a:ln xmlns:a="http://schemas.openxmlformats.org/drawingml/2006/main" w="0">
            <a:solidFill>
              <a:srgbClr val="FF4D6D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9181942-23D0-44BC-800E-3A8548186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276475"/>
            <a:ext cx="266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3070D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03070D"/>
                </a:solidFill>
                <a:latin typeface="Aptos Mono"/>
                <a:ea typeface="Aptos Mono"/>
                <a:cs typeface="Aptos Mono"/>
              </a:rPr>
              <a:t>4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3208265-7710-44A9-A07B-EA05AA27E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2288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FBFF"/>
                </a:solidFill>
                <a:latin typeface="Aptos"/>
                <a:ea typeface="Aptos"/>
                <a:cs typeface="Aptos"/>
              </a:rPr>
              <a:t>Boss spawn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3D1C02A-0408-4E35-9DB0-54FCE334A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495550"/>
            <a:ext cx="1581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9BB7C9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9BB7C9"/>
                </a:solidFill>
                <a:latin typeface="Aptos"/>
                <a:ea typeface="Aptos"/>
                <a:cs typeface="Aptos"/>
              </a:rPr>
              <a:t>A figure forms. Monster popup opens automatically.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B4704D2-3DFF-4C77-81A6-35E71E1BA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85750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D6D"/>
          </a:solidFill>
          <a:ln xmlns:a="http://schemas.openxmlformats.org/drawingml/2006/main" w="0">
            <a:solidFill>
              <a:srgbClr val="FF4D6D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D1C10A1-3B5D-47CB-85DC-8F1DD525E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819400"/>
            <a:ext cx="76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D6D"/>
          </a:solidFill>
          <a:ln xmlns:a="http://schemas.openxmlformats.org/drawingml/2006/main" w="0">
            <a:solidFill>
              <a:srgbClr val="FF4D6D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C488116-2856-463D-999A-C2B77AC6B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114550"/>
            <a:ext cx="1847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0A14"/>
          </a:solidFill>
          <a:ln xmlns:a="http://schemas.openxmlformats.org/drawingml/2006/main" w="11430">
            <a:solidFill>
              <a:srgbClr val="FF4D6D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377AE13-9DFD-4259-9CEE-6ECEC3DFC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2288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D6D"/>
          </a:solidFill>
          <a:ln xmlns:a="http://schemas.openxmlformats.org/drawingml/2006/main" w="0">
            <a:solidFill>
              <a:srgbClr val="FF4D6D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BF7AB44-73BF-4ABF-AEA6-99D70A9B3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276475"/>
            <a:ext cx="266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3070D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03070D"/>
                </a:solidFill>
                <a:latin typeface="Aptos Mono"/>
                <a:ea typeface="Aptos Mono"/>
                <a:cs typeface="Aptos Mono"/>
              </a:rPr>
              <a:t>5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A83593E-E373-4A04-9F87-FB024DDD0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2288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FBFF"/>
                </a:solidFill>
                <a:latin typeface="Aptos"/>
                <a:ea typeface="Aptos"/>
                <a:cs typeface="Aptos"/>
              </a:rPr>
              <a:t>Player action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ACCBA6A-D4C5-47C2-BF18-BA06E5F74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495550"/>
            <a:ext cx="1581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9BB7C9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9BB7C9"/>
                </a:solidFill>
                <a:latin typeface="Aptos"/>
                <a:ea typeface="Aptos"/>
                <a:cs typeface="Aptos"/>
              </a:rPr>
              <a:t>Monster token remains. Options appear below question.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2F33EA8-8D18-416B-BEE4-89090CA45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552950"/>
            <a:ext cx="6858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2B"/>
          </a:solidFill>
          <a:ln xmlns:a="http://schemas.openxmlformats.org/drawingml/2006/main" w="11430">
            <a:solidFill>
              <a:srgbClr val="FFD166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B83A098-AADA-430B-8AA4-9B04A7488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667250"/>
            <a:ext cx="6591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FBFF"/>
                </a:solidFill>
                <a:latin typeface="Aptos"/>
                <a:ea typeface="Aptos"/>
                <a:cs typeface="Aptos"/>
              </a:rPr>
              <a:t>After answer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4572D22-1532-45BB-83C2-C9BAC9D53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933950"/>
            <a:ext cx="6591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9BB7C9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9BB7C9"/>
                </a:solidFill>
                <a:latin typeface="Aptos"/>
                <a:ea typeface="Aptos"/>
                <a:cs typeface="Aptos"/>
              </a:rPr>
              <a:t>Silence Returns popup: notifications slow down and monster disappears. Then Q7 begins after transition.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67944C5-F8D3-42ED-ACB0-3E1C38A7B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809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36B7C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536B7C"/>
                </a:solidFill>
                <a:latin typeface="Aptos Mono"/>
                <a:ea typeface="Aptos Mono"/>
                <a:cs typeface="Aptos Mono"/>
              </a:rPr>
              <a:t>NBS Freshman Quiz storyboard - first draft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3509F4F-A425-489C-A91B-C9600DAFD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42951140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F7C852A-7CA8-4073-A887-1DAFAF863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04B3BB-CA45-4E0E-B337-5B5032334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626"/>
          </a:solidFill>
          <a:ln xmlns:a="http://schemas.openxmlformats.org/drawingml/2006/main" w="0">
            <a:solidFill>
              <a:srgbClr val="0A162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F0A405-7C1A-4AAB-BC07-A3F0B1072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DFAFC4-0967-4BB8-BA9D-7B3CC2359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9C9F5B-DEFF-4003-8FA2-C05F40FC1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B9F398-2FFE-45E8-A898-0B8EE9910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1C5C99-FA5B-4643-8DF0-0EBD6BCE2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781F5C-7138-4073-A0CF-521D7E1D9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97DEE6-AA4C-4938-8674-36BA95F2C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00EFEB-ED17-45A6-9D90-3FA043E7C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C1ADF5-749A-434C-87A7-4B7047561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98F098-7A27-4D8B-AC76-18F37E8C4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FBA8A4-C293-4A82-A348-22B9D777B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7ECA9E-19BE-4FB9-B2DF-216870045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CA0FEC-06A1-4FF5-A89F-3C678BC8C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AA63BB-CB71-4CB4-B564-A1B37C527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929D0D-DEAD-4E4F-95A1-14C3F47BB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BB48A0-BC39-4024-895F-E47DD59BE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4"/>
          </a:solidFill>
          <a:ln xmlns:a="http://schemas.openxmlformats.org/drawingml/2006/main" w="0">
            <a:solidFill>
              <a:srgbClr val="102D4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E55604-9FA6-494A-845A-EC537E65A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8288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4"/>
          </a:solidFill>
          <a:ln xmlns:a="http://schemas.openxmlformats.org/drawingml/2006/main" w="0">
            <a:solidFill>
              <a:srgbClr val="102D4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DBBA12-2D28-473B-99EB-38347E7AC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5146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4"/>
          </a:solidFill>
          <a:ln xmlns:a="http://schemas.openxmlformats.org/drawingml/2006/main" w="0">
            <a:solidFill>
              <a:srgbClr val="102D4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4248A6-09F6-44DF-8B5A-82AB8944F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2004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4"/>
          </a:solidFill>
          <a:ln xmlns:a="http://schemas.openxmlformats.org/drawingml/2006/main" w="0">
            <a:solidFill>
              <a:srgbClr val="102D4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CE2F88-4BBD-405E-851B-80C95A221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8862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4"/>
          </a:solidFill>
          <a:ln xmlns:a="http://schemas.openxmlformats.org/drawingml/2006/main" w="0">
            <a:solidFill>
              <a:srgbClr val="102D4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41D2A9-3E9D-4B13-9A3F-5B9142778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5720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4"/>
          </a:solidFill>
          <a:ln xmlns:a="http://schemas.openxmlformats.org/drawingml/2006/main" w="0">
            <a:solidFill>
              <a:srgbClr val="102D4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9FEB60-3524-4A13-814C-8D6678FF7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2578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4"/>
          </a:solidFill>
          <a:ln xmlns:a="http://schemas.openxmlformats.org/drawingml/2006/main" w="0">
            <a:solidFill>
              <a:srgbClr val="102D4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7FCE19-A250-4881-98EA-0E9A38CEF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9436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4"/>
          </a:solidFill>
          <a:ln xmlns:a="http://schemas.openxmlformats.org/drawingml/2006/main" w="0">
            <a:solidFill>
              <a:srgbClr val="102D4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7045D9-5403-4369-A76F-32123A3B2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Q7-Q8 STORYBOARD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FE6FCF-ABDE-4FE4-90B0-74E108486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7FF"/>
          </a:solidFill>
          <a:ln xmlns:a="http://schemas.openxmlformats.org/drawingml/2006/main" w="0">
            <a:solidFill>
              <a:srgbClr val="35E7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0638095-10A2-4B34-818A-420A4A554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8191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FB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4FBFF"/>
                </a:solidFill>
                <a:latin typeface="Aptos Display"/>
                <a:ea typeface="Aptos Display"/>
                <a:cs typeface="Aptos Display"/>
              </a:rPr>
              <a:t>The ending arc moves from crisis countdown to recovery choice.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148F4F1-E42D-4C85-8754-0247022DB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85900"/>
            <a:ext cx="838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BB7C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BB7C9"/>
                </a:solidFill>
                <a:latin typeface="Aptos"/>
                <a:ea typeface="Aptos"/>
                <a:cs typeface="Aptos"/>
              </a:rPr>
              <a:t>Final answer sends the player to build calculation and result reveal.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97292AB-5C7B-49A7-94CB-6636DCC1D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2190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2B"/>
          </a:solidFill>
          <a:ln xmlns:a="http://schemas.openxmlformats.org/drawingml/2006/main" w="11430">
            <a:solidFill>
              <a:srgbClr val="FF4D6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392C649-5DD1-4468-8134-1394C1369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098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D6D"/>
          </a:solidFill>
          <a:ln xmlns:a="http://schemas.openxmlformats.org/drawingml/2006/main" w="0">
            <a:solidFill>
              <a:srgbClr val="FF4D6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32B98AF-7FA4-485E-9282-233FB237B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57425"/>
            <a:ext cx="266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3070D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03070D"/>
                </a:solidFill>
                <a:latin typeface="Aptos Mono"/>
                <a:ea typeface="Aptos Mono"/>
                <a:cs typeface="Aptos Mono"/>
              </a:rPr>
              <a:t>Q7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9269896-0A42-46EE-889A-AFE373E48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209800"/>
            <a:ext cx="1581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FBFF"/>
                </a:solidFill>
                <a:latin typeface="Aptos"/>
                <a:ea typeface="Aptos"/>
                <a:cs typeface="Aptos"/>
              </a:rPr>
              <a:t>Q7 silence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3AA5B39-06FA-4F10-9709-310AF0841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19240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9BB7C9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9BB7C9"/>
                </a:solidFill>
                <a:latin typeface="Aptos"/>
                <a:ea typeface="Aptos"/>
                <a:cs typeface="Aptos"/>
              </a:rPr>
              <a:t>Brief empty stage after monster disappears.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9C53C16-5F92-406F-AE3C-3E74B5632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628900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D6D"/>
          </a:solidFill>
          <a:ln xmlns:a="http://schemas.openxmlformats.org/drawingml/2006/main" w="0">
            <a:solidFill>
              <a:srgbClr val="FF4D6D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A69CA2E-545A-4117-A9A2-691A8778A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590800"/>
            <a:ext cx="76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D6D"/>
          </a:solidFill>
          <a:ln xmlns:a="http://schemas.openxmlformats.org/drawingml/2006/main" w="0">
            <a:solidFill>
              <a:srgbClr val="FF4D6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C913E69-0DD8-4FC6-9E5A-9A858B612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266950"/>
            <a:ext cx="2667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524"/>
          </a:solidFill>
          <a:ln xmlns:a="http://schemas.openxmlformats.org/drawingml/2006/main" w="14288">
            <a:solidFill>
              <a:srgbClr val="FF4D6D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FB248DF-C9FE-403D-BCBD-06D0D0953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62200"/>
            <a:ext cx="76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4D6D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F4D6D"/>
                </a:solidFill>
                <a:latin typeface="Aptos Mono"/>
                <a:ea typeface="Aptos Mono"/>
                <a:cs typeface="Aptos Mono"/>
              </a:rPr>
              <a:t>WARNING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A335655-B5C0-406D-B9FC-BF8E039B5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52700"/>
            <a:ext cx="2400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FINALS IN 14 DAYS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61CF235-B873-4D25-B272-EDCAF5D09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62250"/>
            <a:ext cx="2400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BB7C9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9BB7C9"/>
                </a:solidFill>
                <a:latin typeface="Aptos Mono"/>
                <a:ea typeface="Aptos Mono"/>
                <a:cs typeface="Aptos Mono"/>
              </a:rPr>
              <a:t>Revision timer activated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8D056AD-821C-4F17-8723-D3209CFD9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628900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D6D"/>
          </a:solidFill>
          <a:ln xmlns:a="http://schemas.openxmlformats.org/drawingml/2006/main" w="0">
            <a:solidFill>
              <a:srgbClr val="FF4D6D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4143986-F6EE-4257-AC6E-B5343D0BE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90800"/>
            <a:ext cx="76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D6D"/>
          </a:solidFill>
          <a:ln xmlns:a="http://schemas.openxmlformats.org/drawingml/2006/main" w="0">
            <a:solidFill>
              <a:srgbClr val="FF4D6D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424A27A-580F-4934-96AD-309DEAF3B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95500"/>
            <a:ext cx="2381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2B"/>
          </a:solidFill>
          <a:ln xmlns:a="http://schemas.openxmlformats.org/drawingml/2006/main" w="11430">
            <a:solidFill>
              <a:srgbClr val="FFD166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BAFE0BD-198E-415D-B280-1A1993366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09800"/>
            <a:ext cx="2114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FBFF"/>
                </a:solidFill>
                <a:latin typeface="Aptos"/>
                <a:ea typeface="Aptos"/>
                <a:cs typeface="Aptos"/>
              </a:rPr>
              <a:t>Q7 options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6646E2C-3D73-4FEB-A1B9-51C5BD3BE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76500"/>
            <a:ext cx="21145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9BB7C9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9BB7C9"/>
                </a:solidFill>
                <a:latin typeface="Aptos"/>
                <a:ea typeface="Aptos"/>
                <a:cs typeface="Aptos"/>
              </a:rPr>
              <a:t>Player chooses study, outing, delay, or spiral response.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445F1C4-1184-44F1-9E4E-3295D3D7C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248150"/>
            <a:ext cx="2857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2B"/>
          </a:solidFill>
          <a:ln xmlns:a="http://schemas.openxmlformats.org/drawingml/2006/main" w="11430">
            <a:solidFill>
              <a:srgbClr val="B68CF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069922F-7200-4776-AAA0-5028E54AD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3624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8CFF"/>
          </a:solidFill>
          <a:ln xmlns:a="http://schemas.openxmlformats.org/drawingml/2006/main" w="0">
            <a:solidFill>
              <a:srgbClr val="B68C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E81D677-483B-4ED2-AED1-0A5115489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410075"/>
            <a:ext cx="266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3070D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03070D"/>
                </a:solidFill>
                <a:latin typeface="Aptos Mono"/>
                <a:ea typeface="Aptos Mono"/>
                <a:cs typeface="Aptos Mono"/>
              </a:rPr>
              <a:t>Q8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A55B3D6-ABFD-4686-85BE-F5858DCF7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362450"/>
            <a:ext cx="2247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FBFF"/>
                </a:solidFill>
                <a:latin typeface="Aptos"/>
                <a:ea typeface="Aptos"/>
                <a:cs typeface="Aptos"/>
              </a:rPr>
              <a:t>Q8 portal popup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0AD7172-5034-4A7F-BF68-8CB9D66B2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629150"/>
            <a:ext cx="25908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9BB7C9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9BB7C9"/>
                </a:solidFill>
                <a:latin typeface="Aptos"/>
                <a:ea typeface="Aptos"/>
                <a:cs typeface="Aptos"/>
              </a:rPr>
              <a:t>A glowing portal opens. Popup appears, then token remains.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00B57C3-4BF3-4C08-BDD0-634F93481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800600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8CFF"/>
          </a:solidFill>
          <a:ln xmlns:a="http://schemas.openxmlformats.org/drawingml/2006/main" w="0">
            <a:solidFill>
              <a:srgbClr val="B68CF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C49CC00-9F03-41B2-B556-78DD03E8F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762500"/>
            <a:ext cx="76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8CFF"/>
          </a:solidFill>
          <a:ln xmlns:a="http://schemas.openxmlformats.org/drawingml/2006/main" w="0">
            <a:solidFill>
              <a:srgbClr val="B68CF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55BC494-CBBE-47CE-8607-CAC8DEF12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248150"/>
            <a:ext cx="2857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2B"/>
          </a:solidFill>
          <a:ln xmlns:a="http://schemas.openxmlformats.org/drawingml/2006/main" w="11430">
            <a:solidFill>
              <a:srgbClr val="35E7FF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9498537-17A9-46B3-858C-0E1779F46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362450"/>
            <a:ext cx="2590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FBFF"/>
                </a:solidFill>
                <a:latin typeface="Aptos"/>
                <a:ea typeface="Aptos"/>
                <a:cs typeface="Aptos"/>
              </a:rPr>
              <a:t>Instance toasts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08143D4-0D78-4D3F-8BB9-50D2D1764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629150"/>
            <a:ext cx="25908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9BB7C9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9BB7C9"/>
                </a:solidFill>
                <a:latin typeface="Aptos"/>
                <a:ea typeface="Aptos"/>
                <a:cs typeface="Aptos"/>
              </a:rPr>
              <a:t>Weekend available. Time resource must be allocated.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B697900-CA62-4AD7-945A-F6AF92B2E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800600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FFB0"/>
          </a:solidFill>
          <a:ln xmlns:a="http://schemas.openxmlformats.org/drawingml/2006/main" w="0">
            <a:solidFill>
              <a:srgbClr val="9DFFB0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F527832-BD1A-47FB-AD0A-95FE1873E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762500"/>
            <a:ext cx="76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FFB0"/>
          </a:solidFill>
          <a:ln xmlns:a="http://schemas.openxmlformats.org/drawingml/2006/main" w="0">
            <a:solidFill>
              <a:srgbClr val="9DFFB0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85A18A4-7829-4056-907B-AA526F8A4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48150"/>
            <a:ext cx="2857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2B"/>
          </a:solidFill>
          <a:ln xmlns:a="http://schemas.openxmlformats.org/drawingml/2006/main" w="11430">
            <a:solidFill>
              <a:srgbClr val="9DFFB0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4A35B1E-413E-40E0-BB56-546C18633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362450"/>
            <a:ext cx="2590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FBFF"/>
                </a:solidFill>
                <a:latin typeface="Aptos"/>
                <a:ea typeface="Aptos"/>
                <a:cs typeface="Aptos"/>
              </a:rPr>
              <a:t>Final result path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4BF3B5E-F613-471F-AEC6-6ABBE711D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629150"/>
            <a:ext cx="25908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9BB7C9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9BB7C9"/>
                </a:solidFill>
                <a:latin typeface="Aptos"/>
                <a:ea typeface="Aptos"/>
                <a:cs typeface="Aptos"/>
              </a:rPr>
              <a:t>Q8 answer -&gt; Calculating build -&gt; Freshman Type Revealed.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1B78BEF-A1D3-4423-A0E8-C9A1CD721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809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36B7C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536B7C"/>
                </a:solidFill>
                <a:latin typeface="Aptos Mono"/>
                <a:ea typeface="Aptos Mono"/>
                <a:cs typeface="Aptos Mono"/>
              </a:rPr>
              <a:t>NBS Freshman Quiz storyboard - first draft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5E3E5C4-5BE7-4A14-B70F-CEB355D5F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63280388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E0909A2-3807-4413-BC28-B9D1624F2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794AB8-6BCC-491A-AB4F-AC70693CD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626"/>
          </a:solidFill>
          <a:ln xmlns:a="http://schemas.openxmlformats.org/drawingml/2006/main" w="0">
            <a:solidFill>
              <a:srgbClr val="0A162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182335-1836-4DE5-9770-D37EEB9F2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3EC3A5-45E0-4385-B0AC-A1D3D3F7A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92B547-44E0-47B2-8E08-BB1E40151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CD4595-8F17-4EDC-845E-BBC2B514D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0AD79B-20C4-414E-A757-892E17CA2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6473FE-4AF7-4334-9C9F-4E4D07CB5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13B405-86AC-45FF-99B7-DA203513D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202549-C348-4B36-98C4-1924DB946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560C9A-F3A8-4D3F-8FE6-B40815825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A2583E-CDE2-4701-AB69-EBB16D40A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4DED2C-D9B5-49C1-84A7-7975D7DAB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C8B036-F842-4EF2-B019-53FE42B0B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DFE099-2527-445A-9521-3F198EE97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4E5318-219C-472D-8C93-CDDC5A462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25CF62-199A-4BC1-AB13-6A9EEA283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F6EDE4-F69E-45AB-AADC-F03C52499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4"/>
          </a:solidFill>
          <a:ln xmlns:a="http://schemas.openxmlformats.org/drawingml/2006/main" w="0">
            <a:solidFill>
              <a:srgbClr val="102D4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48DDCE-885D-4E98-AC23-6ACD997CB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8288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4"/>
          </a:solidFill>
          <a:ln xmlns:a="http://schemas.openxmlformats.org/drawingml/2006/main" w="0">
            <a:solidFill>
              <a:srgbClr val="102D4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2C1D55-D6BC-4C0C-823D-7A0E6A5E4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5146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4"/>
          </a:solidFill>
          <a:ln xmlns:a="http://schemas.openxmlformats.org/drawingml/2006/main" w="0">
            <a:solidFill>
              <a:srgbClr val="102D4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D97ED8-17EB-4ED7-9E50-05F6C4E2C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2004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4"/>
          </a:solidFill>
          <a:ln xmlns:a="http://schemas.openxmlformats.org/drawingml/2006/main" w="0">
            <a:solidFill>
              <a:srgbClr val="102D4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2844F5-C56A-476D-BBE5-81F70F23B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8862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4"/>
          </a:solidFill>
          <a:ln xmlns:a="http://schemas.openxmlformats.org/drawingml/2006/main" w="0">
            <a:solidFill>
              <a:srgbClr val="102D4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C829CE-5845-45B0-9338-C3B81EB3C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5720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4"/>
          </a:solidFill>
          <a:ln xmlns:a="http://schemas.openxmlformats.org/drawingml/2006/main" w="0">
            <a:solidFill>
              <a:srgbClr val="102D4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76691D-48FB-4DD8-90D2-507E7B5E0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2578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4"/>
          </a:solidFill>
          <a:ln xmlns:a="http://schemas.openxmlformats.org/drawingml/2006/main" w="0">
            <a:solidFill>
              <a:srgbClr val="102D4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E3BD09-2E58-474D-A3E9-19DFBCB2C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9436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4"/>
          </a:solidFill>
          <a:ln xmlns:a="http://schemas.openxmlformats.org/drawingml/2006/main" w="0">
            <a:solidFill>
              <a:srgbClr val="102D4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98286C-C476-4F05-85AE-1155D430E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SCORING LOGIC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60F2744-53D9-466A-A4CB-779744C08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7FF"/>
          </a:solidFill>
          <a:ln xmlns:a="http://schemas.openxmlformats.org/drawingml/2006/main" w="0">
            <a:solidFill>
              <a:srgbClr val="35E7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048167-CCBC-4642-8C48-BB81311C5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8191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FB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4FBFF"/>
                </a:solidFill>
                <a:latin typeface="Aptos Display"/>
                <a:ea typeface="Aptos Display"/>
                <a:cs typeface="Aptos Display"/>
              </a:rPr>
              <a:t>The result is a hidden weighted bucket system, not a one-answer mapping.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1037C2F-9390-40E6-A428-4DC04FF1B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85900"/>
            <a:ext cx="838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BB7C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BB7C9"/>
                </a:solidFill>
                <a:latin typeface="Aptos"/>
                <a:ea typeface="Aptos"/>
                <a:cs typeface="Aptos"/>
              </a:rPr>
              <a:t>Every answer can add points to more than one possible outcome.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83633CE-1902-4453-842D-AE5A91D90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2952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827"/>
          </a:solidFill>
          <a:ln xmlns:a="http://schemas.openxmlformats.org/drawingml/2006/main" w="9525">
            <a:solidFill>
              <a:srgbClr val="FFD16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6AFA2D3-EE04-4982-9498-4CABB88CE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257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D16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D166"/>
                </a:solidFill>
                <a:latin typeface="Aptos"/>
                <a:ea typeface="Aptos"/>
                <a:cs typeface="Aptos"/>
              </a:rPr>
              <a:t>Overachiever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B8497DB-A2DC-411E-A511-BF60615D2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095500"/>
            <a:ext cx="2952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827"/>
          </a:solidFill>
          <a:ln xmlns:a="http://schemas.openxmlformats.org/drawingml/2006/main" w="9525">
            <a:solidFill>
              <a:srgbClr val="35E7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2B293E5-7B99-4A4F-B234-C547C2B6F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266950"/>
            <a:ext cx="257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5E7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5E7FF"/>
                </a:solidFill>
                <a:latin typeface="Aptos"/>
                <a:ea typeface="Aptos"/>
                <a:cs typeface="Aptos"/>
              </a:rPr>
              <a:t>Social Butterfly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6DE98B4-7D40-4048-96ED-987B1DFB1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095500"/>
            <a:ext cx="2952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827"/>
          </a:solidFill>
          <a:ln xmlns:a="http://schemas.openxmlformats.org/drawingml/2006/main" w="9525">
            <a:solidFill>
              <a:srgbClr val="B68C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0B99ADD-2627-4653-B301-780C738BB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266950"/>
            <a:ext cx="257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68C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68CFF"/>
                </a:solidFill>
                <a:latin typeface="Aptos"/>
                <a:ea typeface="Aptos"/>
                <a:cs typeface="Aptos"/>
              </a:rPr>
              <a:t>Lost but Vibing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41C43BF-76B5-419E-A38C-93EDB80D3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2952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827"/>
          </a:solidFill>
          <a:ln xmlns:a="http://schemas.openxmlformats.org/drawingml/2006/main" w="9525">
            <a:solidFill>
              <a:srgbClr val="9DFFB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29CBFD6-EE1F-4D9C-BD76-EBE133C93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257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DFFB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9DFFB0"/>
                </a:solidFill>
                <a:latin typeface="Aptos"/>
                <a:ea typeface="Aptos"/>
                <a:cs typeface="Aptos"/>
              </a:rPr>
              <a:t>Soft Supporter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68842E1-71B6-4021-AF5D-5498CF5F2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971800"/>
            <a:ext cx="2952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827"/>
          </a:solidFill>
          <a:ln xmlns:a="http://schemas.openxmlformats.org/drawingml/2006/main" w="9525">
            <a:solidFill>
              <a:srgbClr val="FF9F6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73F4CD4-6410-4AC9-8C95-5EB632C69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143250"/>
            <a:ext cx="257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9F6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9F6E"/>
                </a:solidFill>
                <a:latin typeface="Aptos"/>
                <a:ea typeface="Aptos"/>
                <a:cs typeface="Aptos"/>
              </a:rPr>
              <a:t>We Ball Agent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43300EA-5903-46D9-8C56-7A436DB1E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971800"/>
            <a:ext cx="2952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827"/>
          </a:solidFill>
          <a:ln xmlns:a="http://schemas.openxmlformats.org/drawingml/2006/main" w="9525">
            <a:solidFill>
              <a:srgbClr val="7AE7C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43A60E5-1D44-4E71-80B7-C8807EC10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143250"/>
            <a:ext cx="257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AE7C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AE7C7"/>
                </a:solidFill>
                <a:latin typeface="Aptos"/>
                <a:ea typeface="Aptos"/>
                <a:cs typeface="Aptos"/>
              </a:rPr>
              <a:t>Lowkey Strategist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2EA7B7C-6544-4B06-AB71-461771DE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362450"/>
            <a:ext cx="6477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2B"/>
          </a:solidFill>
          <a:ln xmlns:a="http://schemas.openxmlformats.org/drawingml/2006/main" w="11430">
            <a:solidFill>
              <a:srgbClr val="FFD166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5891F2F-3717-4707-841A-3B69777BC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476750"/>
            <a:ext cx="6210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FBFF"/>
                </a:solidFill>
                <a:latin typeface="Aptos"/>
                <a:ea typeface="Aptos"/>
                <a:cs typeface="Aptos"/>
              </a:rPr>
              <a:t>Winner selection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94BA197-89AB-480F-B066-20BD9DC55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743450"/>
            <a:ext cx="62103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9BB7C9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9BB7C9"/>
                </a:solidFill>
                <a:latin typeface="Aptos"/>
                <a:ea typeface="Aptos"/>
                <a:cs typeface="Aptos"/>
              </a:rPr>
              <a:t>1. Highest total score wins.</a:t>
            </a:r>
          </a:p>
          <a:p xmlns:a="http://schemas.openxmlformats.org/drawingml/2006/main">
            <a:pPr algn="l">
              <a:defRPr sz="938" b="0">
                <a:solidFill>
                  <a:srgbClr val="9BB7C9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9BB7C9"/>
                </a:solidFill>
                <a:latin typeface="Aptos"/>
                <a:ea typeface="Aptos"/>
                <a:cs typeface="Aptos"/>
              </a:rPr>
              <a:t>2. If tied, most primary selections wins.</a:t>
            </a:r>
          </a:p>
          <a:p xmlns:a="http://schemas.openxmlformats.org/drawingml/2006/main">
            <a:pPr algn="l">
              <a:defRPr sz="938" b="0">
                <a:solidFill>
                  <a:srgbClr val="9BB7C9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9BB7C9"/>
                </a:solidFill>
                <a:latin typeface="Aptos"/>
                <a:ea typeface="Aptos"/>
                <a:cs typeface="Aptos"/>
              </a:rPr>
              <a:t>3. If still tied, most recent primary choice wins.</a:t>
            </a:r>
          </a:p>
          <a:p xmlns:a="http://schemas.openxmlformats.org/drawingml/2006/main">
            <a:pPr algn="l">
              <a:defRPr sz="938" b="0">
                <a:solidFill>
                  <a:srgbClr val="9BB7C9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9BB7C9"/>
                </a:solidFill>
                <a:latin typeface="Aptos"/>
                <a:ea typeface="Aptos"/>
                <a:cs typeface="Aptos"/>
              </a:rPr>
              <a:t>4. Final fallback uses internal outcome order.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DF77CAA-C83C-4B08-AFF8-BA32345C3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809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36B7C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536B7C"/>
                </a:solidFill>
                <a:latin typeface="Aptos Mono"/>
                <a:ea typeface="Aptos Mono"/>
                <a:cs typeface="Aptos Mono"/>
              </a:rPr>
              <a:t>NBS Freshman Quiz storyboard - first draft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304487F-184D-4238-983A-AB8851D8B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087946776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51D9229-5B94-4D46-BC40-A3C6B223E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6BA59D-EFC8-46DA-95D7-8639CD7C7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626"/>
          </a:solidFill>
          <a:ln xmlns:a="http://schemas.openxmlformats.org/drawingml/2006/main" w="0">
            <a:solidFill>
              <a:srgbClr val="0A162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6348DF-F282-4F6D-B594-FB0900400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15C923-F40A-4A5E-BCC4-08A506B21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F31EF4-8767-4756-A0B2-3B942BD5E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B69B5A-9DF9-43F5-B006-907541575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A27B13-CCD3-4835-BD35-906138422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2B703A-16EE-4E1C-A64E-4422FAAA5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45B534-E9CE-4D3D-9953-C2EF28740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857F16-9B70-45B6-ACC0-E12A1EDA5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ED7B03-32D4-4342-AD88-7947CB573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16A613-C2F1-4A48-982F-56832FB91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E81344-F1B4-42DF-BEA0-9AF0E318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365F16-F919-402F-A1CA-5E8E6DF9E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3A40A3-D967-4B7C-838E-BDAF9DA75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048B66-6E2B-420D-BDF4-A703B5A65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B1FABE-CB8D-4C5F-8ADB-B3E050AD3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BC24BA-BE56-4220-A5D4-DB2859E56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4"/>
          </a:solidFill>
          <a:ln xmlns:a="http://schemas.openxmlformats.org/drawingml/2006/main" w="0">
            <a:solidFill>
              <a:srgbClr val="102D4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242496-B21D-4EFD-8D21-1A4497D3C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8288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4"/>
          </a:solidFill>
          <a:ln xmlns:a="http://schemas.openxmlformats.org/drawingml/2006/main" w="0">
            <a:solidFill>
              <a:srgbClr val="102D4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6C3DB2-0AEB-45BB-B763-0B33DB010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5146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4"/>
          </a:solidFill>
          <a:ln xmlns:a="http://schemas.openxmlformats.org/drawingml/2006/main" w="0">
            <a:solidFill>
              <a:srgbClr val="102D4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96FE7D-3CDC-4DB0-8ED7-B8C813849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2004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4"/>
          </a:solidFill>
          <a:ln xmlns:a="http://schemas.openxmlformats.org/drawingml/2006/main" w="0">
            <a:solidFill>
              <a:srgbClr val="102D4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24EB81-A3A4-4DAE-B0AF-F3F894FE5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8862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4"/>
          </a:solidFill>
          <a:ln xmlns:a="http://schemas.openxmlformats.org/drawingml/2006/main" w="0">
            <a:solidFill>
              <a:srgbClr val="102D4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77F461-80A1-439F-B2A7-1A07C4E39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5720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4"/>
          </a:solidFill>
          <a:ln xmlns:a="http://schemas.openxmlformats.org/drawingml/2006/main" w="0">
            <a:solidFill>
              <a:srgbClr val="102D4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BDDB52-6C9A-4DB0-8987-6C8010CE8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2578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4"/>
          </a:solidFill>
          <a:ln xmlns:a="http://schemas.openxmlformats.org/drawingml/2006/main" w="0">
            <a:solidFill>
              <a:srgbClr val="102D4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655D97-727D-49FE-9FEA-5CD1156D7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9436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4"/>
          </a:solidFill>
          <a:ln xmlns:a="http://schemas.openxmlformats.org/drawingml/2006/main" w="0">
            <a:solidFill>
              <a:srgbClr val="102D4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050A25-1659-492D-9CAF-5BCB9F9FC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CHOICE MATRIX Q1-Q2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35B05C-7482-4C4C-B4A0-9A8B31D80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7FF"/>
          </a:solidFill>
          <a:ln xmlns:a="http://schemas.openxmlformats.org/drawingml/2006/main" w="0">
            <a:solidFill>
              <a:srgbClr val="35E7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4851442-76E0-4281-B792-3A4782D38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8191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FB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4FBFF"/>
                </a:solidFill>
                <a:latin typeface="Aptos Display"/>
                <a:ea typeface="Aptos Display"/>
                <a:cs typeface="Aptos Display"/>
              </a:rPr>
              <a:t>Each input changes hidden buckets while the player only sees story progression.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E942644-CF7D-4772-A0DB-E6AF287FB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85900"/>
            <a:ext cx="838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BB7C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BB7C9"/>
                </a:solidFill>
                <a:latin typeface="Aptos"/>
                <a:ea typeface="Aptos"/>
                <a:cs typeface="Aptos"/>
              </a:rPr>
              <a:t>These weights should never be displayed during gameplay.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585A783-7807-4F36-BD6E-C9FE86A91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5143500" cy="318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523"/>
          </a:solidFill>
          <a:ln xmlns:a="http://schemas.openxmlformats.org/drawingml/2006/main" w="9525">
            <a:solidFill>
              <a:srgbClr val="244B6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CB76F82-EB17-43EC-A39B-16CC041A9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38350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Q1 - Character Spawn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3A56D08-2448-4097-83C1-FBB4F6EC1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24100"/>
            <a:ext cx="28055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Input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DC1E30C-1149-4F61-83CE-6C417F4E6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655" y="2324100"/>
            <a:ext cx="1761259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Action title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DC0A99D-6591-45A5-96EF-84F3C0569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1914" y="2324100"/>
            <a:ext cx="1761259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Hidden score output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E18E1DC-9320-457F-A784-2CE9EF19D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3173" y="2324100"/>
            <a:ext cx="1168977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Primary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9AF2451-A723-4BBF-855D-4F6AAC0ED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86025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850"/>
          </a:solidFill>
          <a:ln xmlns:a="http://schemas.openxmlformats.org/drawingml/2006/main" w="0">
            <a:solidFill>
              <a:srgbClr val="16385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8434C92-48C5-4F84-8D10-26B1F45FF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33650"/>
            <a:ext cx="20435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28F64CF-75BD-415D-BD26-01775B052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655" y="2533650"/>
            <a:ext cx="1685059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Equip the Master Planner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AE52F4F-CCF7-41D6-A589-1AE88CD14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1914" y="2533650"/>
            <a:ext cx="1685059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765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Overachiever +2, Strategist +1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DFB7CF1-7A59-4EE5-8FAF-48C0459F8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3173" y="2533650"/>
            <a:ext cx="1092777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765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Overachiever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6CA5CB1-E051-40B9-956D-04952A840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09875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850"/>
          </a:solidFill>
          <a:ln xmlns:a="http://schemas.openxmlformats.org/drawingml/2006/main" w="0">
            <a:solidFill>
              <a:srgbClr val="16385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28C4E52-546B-48FA-BD3B-CC6ADC18D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57500"/>
            <a:ext cx="20435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B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F908842-3536-40AE-A0FD-F2BC166C4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655" y="2857500"/>
            <a:ext cx="1685059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Activate Vibe Mode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6C28AB1-0114-4E86-AEC3-86550A9BB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1914" y="2857500"/>
            <a:ext cx="1685059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765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Social +1, Lost +2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C930343-D3C6-40CA-8DFF-02B5BC894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3173" y="2857500"/>
            <a:ext cx="1092777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765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Lost but Vibing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E625FD9-1239-48B4-86FA-97CF5C1DA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33725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850"/>
          </a:solidFill>
          <a:ln xmlns:a="http://schemas.openxmlformats.org/drawingml/2006/main" w="0">
            <a:solidFill>
              <a:srgbClr val="163850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EE33BA8-9998-4543-937C-6E46583B9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81350"/>
            <a:ext cx="20435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C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222EBB0-3B8D-4A1F-BA79-6DF5C49D9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655" y="3181350"/>
            <a:ext cx="1685059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Pack the Comfort Kit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68276F2-5A3C-49D9-9F66-119ACBAD1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1914" y="3181350"/>
            <a:ext cx="1685059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765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Supporter +2, Lost +1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BBEA2BF-DD3D-40D3-B678-85702FE92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3173" y="3181350"/>
            <a:ext cx="1092777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765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Soft Supporter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52DC7AA-BCC6-4185-A57A-825B93DC1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57575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850"/>
          </a:solidFill>
          <a:ln xmlns:a="http://schemas.openxmlformats.org/drawingml/2006/main" w="0">
            <a:solidFill>
              <a:srgbClr val="163850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6DD0DF8-1380-405E-A98E-3C57F3D39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05200"/>
            <a:ext cx="20435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D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56D5A38-ACED-478E-A2AC-95AF3FA83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655" y="3505200"/>
            <a:ext cx="1685059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Select Mystery Loadout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BB64AA7-0E7B-4C5E-92CB-CFE9200C2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1914" y="3505200"/>
            <a:ext cx="1685059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765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We Ball +2, Lost +1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0A39CCF-A50C-46A3-A98F-0C700C47A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3173" y="3505200"/>
            <a:ext cx="1092777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765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We Ball Agent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05DF8FB-2C2F-4A0E-BB1B-ED7045711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24050"/>
            <a:ext cx="5143500" cy="318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523"/>
          </a:solidFill>
          <a:ln xmlns:a="http://schemas.openxmlformats.org/drawingml/2006/main" w="9525">
            <a:solidFill>
              <a:srgbClr val="244B63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57B3B32-DFDE-43EF-9AE1-AB8CB05A1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38350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Q2 - Orientation Arena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A08C89E-48E2-4B3A-A27E-5F55FF34A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24100"/>
            <a:ext cx="28055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Input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0AA9C19-6E58-4575-884D-618F94D74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5655" y="2324100"/>
            <a:ext cx="1761259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Action title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A43CBDD-FCAE-45F1-B017-27E81C8D8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6914" y="2324100"/>
            <a:ext cx="1761259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Hidden score output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BCE4B1F-130A-4FEB-A2C3-0BA99F472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8173" y="2324100"/>
            <a:ext cx="1168977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Primary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0B92F07-2D8D-4E5A-801B-4C91A71DD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486025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850"/>
          </a:solidFill>
          <a:ln xmlns:a="http://schemas.openxmlformats.org/drawingml/2006/main" w="0">
            <a:solidFill>
              <a:srgbClr val="163850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22C7183-4851-4BDA-8230-28CC81044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33650"/>
            <a:ext cx="20435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A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FB0A559-57DF-4DF8-AD7C-5F864093E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5655" y="2533650"/>
            <a:ext cx="1685059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Scan, Smile, Sync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78153C5-4A4D-47AA-9B8F-D67A9D5B6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6914" y="2533650"/>
            <a:ext cx="1685059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765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Strategist +2, Overachiever +1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5FB155C-2532-4C32-80FD-827A9EC1E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8173" y="2533650"/>
            <a:ext cx="1092777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765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Lowkey Strategist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A63FC90-DDE9-45C0-898D-2ADA02DA3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809875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850"/>
          </a:solidFill>
          <a:ln xmlns:a="http://schemas.openxmlformats.org/drawingml/2006/main" w="0">
            <a:solidFill>
              <a:srgbClr val="163850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8F95FEA-8EDA-4C81-B416-FD92E4017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857500"/>
            <a:ext cx="20435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B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61363CE-4A42-4983-8FE5-E9346E851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5655" y="2857500"/>
            <a:ext cx="1685059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Cast Mass Friendship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D2D73635-71F5-48CC-8CD3-A3B85C89A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6914" y="2857500"/>
            <a:ext cx="1685059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765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Social +3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1E7F373-3C3C-421B-A397-118BF668F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8173" y="2857500"/>
            <a:ext cx="1092777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765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Social Butterfly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8AC944C-8B30-4505-8D78-08D781DF8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33725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850"/>
          </a:solidFill>
          <a:ln xmlns:a="http://schemas.openxmlformats.org/drawingml/2006/main" w="0">
            <a:solidFill>
              <a:srgbClr val="163850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FFDF9C4-C554-43F5-8709-D55D92A8E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81350"/>
            <a:ext cx="20435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C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E9026A3-A819-43A1-B2C6-05EEA0119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5655" y="3181350"/>
            <a:ext cx="1685059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Form a Small Party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C3ED9F1-0D1F-4D38-8942-86B642575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6914" y="3181350"/>
            <a:ext cx="1685059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765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Supporter +2, Strategist +1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7534C88-E66C-4B15-A3A7-0B88CCB48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8173" y="3181350"/>
            <a:ext cx="1092777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765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Soft Supporter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1626B56-420B-45B0-98F9-7AC85357F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457575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850"/>
          </a:solidFill>
          <a:ln xmlns:a="http://schemas.openxmlformats.org/drawingml/2006/main" w="0">
            <a:solidFill>
              <a:srgbClr val="163850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F3572CB-D51B-4E37-A0A1-73F071345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05200"/>
            <a:ext cx="20435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D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CEC1939B-825B-4A28-AFF1-49605813E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5655" y="3505200"/>
            <a:ext cx="1685059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Wait for Party Invite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BA4B7178-552A-4352-B830-5A44ADC07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6914" y="3505200"/>
            <a:ext cx="1685059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765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Lost +2, Supporter +1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8924184E-A567-4FA7-8C24-62CFB7CB7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8173" y="3505200"/>
            <a:ext cx="1092777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765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Lost but Vibing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406A849B-ADBD-4CF5-8441-21AD4AC07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809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36B7C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536B7C"/>
                </a:solidFill>
                <a:latin typeface="Aptos Mono"/>
                <a:ea typeface="Aptos Mono"/>
                <a:cs typeface="Aptos Mono"/>
              </a:rPr>
              <a:t>NBS Freshman Quiz storyboard - first draft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D7273F12-D755-4FB9-A7F5-92125F371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864152428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C68EAFD-7D4B-400B-A7DE-421C50449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F6583C-8FCD-4AB0-9EF4-624D6A7B8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626"/>
          </a:solidFill>
          <a:ln xmlns:a="http://schemas.openxmlformats.org/drawingml/2006/main" w="0">
            <a:solidFill>
              <a:srgbClr val="0A162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4EFEE2-EAAC-4274-B80F-1B1985E92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F204AB-60C2-4904-BC8D-1C9EDD815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018952-5218-47B7-A92F-4EF7AABFF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4C5E3C-F687-4B95-98B0-371C054DD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2C4709-0D75-4293-BC83-99DE131AD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66CFCD-09D7-40FC-AAE8-272C4CCEE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F6277E-A94F-49AF-B229-BC9904C70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03D5A4-3AFB-4F01-9A9E-99DAFCFF0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F420B3-436E-44F7-9912-50604E6FF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FC8DAC-DFFA-4335-A0F3-CD5DCDB48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C6F4F0-93C9-4866-9022-34FEC1B5F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7EC0DC-94EA-43F7-867D-7DC170903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0178C9-C646-459C-AA49-47DE62A04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0345DD-6C99-427A-B509-CB8CA04A4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BF49E6-2F02-4736-95E5-70D58F2E0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EC1E92-3976-433E-B5D6-B2EDAD687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4"/>
          </a:solidFill>
          <a:ln xmlns:a="http://schemas.openxmlformats.org/drawingml/2006/main" w="0">
            <a:solidFill>
              <a:srgbClr val="102D4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49A700-FCDF-439C-8583-74C3E4EE5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8288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4"/>
          </a:solidFill>
          <a:ln xmlns:a="http://schemas.openxmlformats.org/drawingml/2006/main" w="0">
            <a:solidFill>
              <a:srgbClr val="102D4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9473FF-E934-4B8B-A989-A728E1DD7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5146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4"/>
          </a:solidFill>
          <a:ln xmlns:a="http://schemas.openxmlformats.org/drawingml/2006/main" w="0">
            <a:solidFill>
              <a:srgbClr val="102D4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1FE894-D7A3-493A-8F44-51AB1703E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2004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4"/>
          </a:solidFill>
          <a:ln xmlns:a="http://schemas.openxmlformats.org/drawingml/2006/main" w="0">
            <a:solidFill>
              <a:srgbClr val="102D4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625A3C-FDB6-48EE-839B-38C14BE5D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8862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4"/>
          </a:solidFill>
          <a:ln xmlns:a="http://schemas.openxmlformats.org/drawingml/2006/main" w="0">
            <a:solidFill>
              <a:srgbClr val="102D4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DF59CC-B615-4B5C-AE18-2E74DF981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5720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4"/>
          </a:solidFill>
          <a:ln xmlns:a="http://schemas.openxmlformats.org/drawingml/2006/main" w="0">
            <a:solidFill>
              <a:srgbClr val="102D4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5D4183-BC7C-42E5-848B-5980DFFE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2578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4"/>
          </a:solidFill>
          <a:ln xmlns:a="http://schemas.openxmlformats.org/drawingml/2006/main" w="0">
            <a:solidFill>
              <a:srgbClr val="102D4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49D4D3-DD77-4F82-A129-44101CE47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9436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4"/>
          </a:solidFill>
          <a:ln xmlns:a="http://schemas.openxmlformats.org/drawingml/2006/main" w="0">
            <a:solidFill>
              <a:srgbClr val="102D4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290FA3-1B47-48BB-BF1E-216CDD1F3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CHOICE MATRIX Q3-Q4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BAD3E6-8C3B-47FE-AA4C-3DCA729FF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7FF"/>
          </a:solidFill>
          <a:ln xmlns:a="http://schemas.openxmlformats.org/drawingml/2006/main" w="0">
            <a:solidFill>
              <a:srgbClr val="35E7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EAC3413-16BC-4EFC-AC1A-AD83A9C0A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8191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FB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4FBFF"/>
                </a:solidFill>
                <a:latin typeface="Aptos Display"/>
                <a:ea typeface="Aptos Display"/>
                <a:cs typeface="Aptos Display"/>
              </a:rPr>
              <a:t>Navigation and group-project choices add both personality and support-style signals.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1C9FFCA-8C65-4FFC-B90D-C311CB170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85900"/>
            <a:ext cx="838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BB7C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BB7C9"/>
                </a:solidFill>
                <a:latin typeface="Aptos"/>
                <a:ea typeface="Aptos"/>
                <a:cs typeface="Aptos"/>
              </a:rPr>
              <a:t>The event archive records choices, but not the scoring points.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2309516-BFFD-4B8D-BB55-9F9A1928F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5143500" cy="318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523"/>
          </a:solidFill>
          <a:ln xmlns:a="http://schemas.openxmlformats.org/drawingml/2006/main" w="9525">
            <a:solidFill>
              <a:srgbClr val="244B6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311E3AF-0756-4586-B392-4FEC0C5D1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38350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Q3 - Finding Your Class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4B86EA8-AD18-49C5-9D47-414514DFA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24100"/>
            <a:ext cx="28055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Input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5F15A12-9759-40B6-9060-4D46AFEE6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655" y="2324100"/>
            <a:ext cx="1761259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Action title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A722010-F8BC-458D-91B2-5DC5FBC56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1914" y="2324100"/>
            <a:ext cx="1761259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Hidden score output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59583A2-0CDE-4180-9212-662204957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3173" y="2324100"/>
            <a:ext cx="1168977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Primary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D4ED865-3729-413D-99CF-EEF098C8D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86025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850"/>
          </a:solidFill>
          <a:ln xmlns:a="http://schemas.openxmlformats.org/drawingml/2006/main" w="0">
            <a:solidFill>
              <a:srgbClr val="16385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CA2B24B-CBFC-4638-BBDD-366801902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33650"/>
            <a:ext cx="20435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A1F6BB3-44A7-40C8-ABE6-D4DE2A8BC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655" y="2533650"/>
            <a:ext cx="1685059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Triangulate Route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A01163E-C4F6-489C-A035-2B9778A73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1914" y="2533650"/>
            <a:ext cx="1685059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765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Overachiever +1, Strategist +2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B97B94F-10A6-4485-A44D-2BE6CD3F4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3173" y="2533650"/>
            <a:ext cx="1092777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765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Lowkey Strategist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05048E3-F306-48DC-B79A-0637AD2FC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09875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850"/>
          </a:solidFill>
          <a:ln xmlns:a="http://schemas.openxmlformats.org/drawingml/2006/main" w="0">
            <a:solidFill>
              <a:srgbClr val="16385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2D19CBB-81FF-4040-946A-ADC5C0DDC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57500"/>
            <a:ext cx="20435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B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1AF58D0-03CC-4E14-9617-2106DB687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655" y="2857500"/>
            <a:ext cx="1685059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Request Senior Intel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F67F66E-A2FC-4FFE-B68F-9F1AD9394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1914" y="2857500"/>
            <a:ext cx="1685059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765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Social +2, Supporter +1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7BBFE50-EB73-41F4-ACAB-3EA154D32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3173" y="2857500"/>
            <a:ext cx="1092777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765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Social Butterfly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AD25D0F-C67E-47B4-9D88-4F47F1E12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33725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850"/>
          </a:solidFill>
          <a:ln xmlns:a="http://schemas.openxmlformats.org/drawingml/2006/main" w="0">
            <a:solidFill>
              <a:srgbClr val="163850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4B7AD92-C063-45C1-BC06-9A477F5C1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81350"/>
            <a:ext cx="20435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C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9E39051-A06A-40B8-9EB4-8CC664181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655" y="3181350"/>
            <a:ext cx="1685059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Maintain Main Character Walk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B4A1550-19CE-4C5E-82E5-25A1C186B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1914" y="3181350"/>
            <a:ext cx="1685059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765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Lost +2, Strategist +1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05BAD90-D552-48F3-8D05-697A89E22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3173" y="3181350"/>
            <a:ext cx="1092777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765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Lost but Vibing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5BEC7AF-ADEC-499F-90F9-B47FB36EC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57575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850"/>
          </a:solidFill>
          <a:ln xmlns:a="http://schemas.openxmlformats.org/drawingml/2006/main" w="0">
            <a:solidFill>
              <a:srgbClr val="163850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C84890E-5AE7-4B13-84C1-CF562F002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05200"/>
            <a:ext cx="20435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D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83133D1-A437-4890-86D2-5ABECE3D3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655" y="3505200"/>
            <a:ext cx="1685059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Abort Mission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7872D77-DD21-47F3-941A-3BF2FE130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1914" y="3505200"/>
            <a:ext cx="1685059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765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We Ball +2, Lost +1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E5916A3-098C-418B-9383-F110C34B3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3173" y="3505200"/>
            <a:ext cx="1092777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765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We Ball Agent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4C394ED-66F4-4651-BB17-C5BEADF02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24050"/>
            <a:ext cx="5143500" cy="318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523"/>
          </a:solidFill>
          <a:ln xmlns:a="http://schemas.openxmlformats.org/drawingml/2006/main" w="9525">
            <a:solidFill>
              <a:srgbClr val="244B63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E907C61-BF1B-4D24-A056-584DA6579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38350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Q4 - Group Project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32580C3-7C26-40EE-9C31-4203CF56E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24100"/>
            <a:ext cx="28055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Input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44BFE1C-0265-40BC-BB62-E2F4964C6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5655" y="2324100"/>
            <a:ext cx="1761259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Action title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BD98765-85B8-4F5A-A43E-F1BA09E2E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6914" y="2324100"/>
            <a:ext cx="1761259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Hidden score output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6DD183E-4B8F-41AC-8FFD-FB827A136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8173" y="2324100"/>
            <a:ext cx="1168977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Primary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C675B67-42DD-4E2C-B95A-C5ED13089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486025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850"/>
          </a:solidFill>
          <a:ln xmlns:a="http://schemas.openxmlformats.org/drawingml/2006/main" w="0">
            <a:solidFill>
              <a:srgbClr val="163850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603746F-91A5-4791-B5D4-7873D3A37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33650"/>
            <a:ext cx="20435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A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CE0E317-A246-49BB-AE94-0132A1435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5655" y="2533650"/>
            <a:ext cx="1685059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Open the War Room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BEDBFA9-2AE7-41F7-86E6-509FDC2EB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6914" y="2533650"/>
            <a:ext cx="1685059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765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Overachiever +2, Strategist +1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DA8C975-A9D5-413F-88F1-172F132BA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8173" y="2533650"/>
            <a:ext cx="1092777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765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Overachiever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702FDAE-A310-49DE-9C20-7E5691444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809875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850"/>
          </a:solidFill>
          <a:ln xmlns:a="http://schemas.openxmlformats.org/drawingml/2006/main" w="0">
            <a:solidFill>
              <a:srgbClr val="163850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D5ABB17-01FA-4329-8286-CCF07B96B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857500"/>
            <a:ext cx="20435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B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EA2ABC6-4FA4-4124-84A1-5A43C0C35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5655" y="2857500"/>
            <a:ext cx="1685059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Cast Icebreaker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ED82C37-C80E-474F-93A8-768002852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6914" y="2857500"/>
            <a:ext cx="1685059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765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Social +2, Supporter +1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F55BF50-B751-49B4-861D-B97F06AC4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8173" y="2857500"/>
            <a:ext cx="1092777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765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Social Butterfly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CFB75B21-8FFC-4FD5-A126-823FFDEC4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33725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850"/>
          </a:solidFill>
          <a:ln xmlns:a="http://schemas.openxmlformats.org/drawingml/2006/main" w="0">
            <a:solidFill>
              <a:srgbClr val="163850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9B13F37-4302-40A8-9E5D-899185FC2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81350"/>
            <a:ext cx="20435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C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54CBDF1-E1E1-4E9E-A463-B092A3208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5655" y="3181350"/>
            <a:ext cx="1685059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Quietly Take a Lane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2668C21-4778-4945-9C51-FA1BCA2DC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6914" y="3181350"/>
            <a:ext cx="1685059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765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Supporter +2, Strategist +1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A21CBDB-6303-4B2F-81C2-52B498713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8173" y="3181350"/>
            <a:ext cx="1092777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765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Soft Supporter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48125666-EB83-42A9-BF84-B45449CE9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457575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850"/>
          </a:solidFill>
          <a:ln xmlns:a="http://schemas.openxmlformats.org/drawingml/2006/main" w="0">
            <a:solidFill>
              <a:srgbClr val="163850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6796EBBA-9F35-4EA0-944D-86FAC5665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05200"/>
            <a:ext cx="20435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D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47A7B14E-27A9-4C4B-864F-7133C54CD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5655" y="3505200"/>
            <a:ext cx="1685059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Enable Chaos Protocol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1064EBD9-26BF-4C83-863D-E4678C474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6914" y="3505200"/>
            <a:ext cx="1685059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765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We Ball +3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24CAC611-2F62-4B20-9409-736391E1A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8173" y="3505200"/>
            <a:ext cx="1092777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765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We Ball Agent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5D37E52F-4033-4B39-A9C8-0E897144E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809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36B7C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536B7C"/>
                </a:solidFill>
                <a:latin typeface="Aptos Mono"/>
                <a:ea typeface="Aptos Mono"/>
                <a:cs typeface="Aptos Mono"/>
              </a:rPr>
              <a:t>NBS Freshman Quiz storyboard - first draft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924281CA-77C3-4F81-A30A-877AC4450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816237383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4D54BD1-059B-47E6-AC05-C2680D920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571AFF-9DD2-4BA5-A4C0-812AEFE35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626"/>
          </a:solidFill>
          <a:ln xmlns:a="http://schemas.openxmlformats.org/drawingml/2006/main" w="0">
            <a:solidFill>
              <a:srgbClr val="0A162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041683-5E6E-40C6-AF2F-F661FF2BB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B0AADC-EFB1-4B22-ACBC-8ECA8FCF2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21399A-8C80-445B-861B-6C9FEA3FD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3085AB-EB2E-4741-BC27-823B1EB27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3F2C10-37B1-4C40-B04E-DF3428FFB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324174-2F0D-4774-BCAE-C99E178F0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97B246-4BD9-4483-8747-B7318A720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06833A-F4E1-4CA4-A653-9B2A8D7A3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FD85D2-8744-4FB3-97C5-09AC31941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B72D1C-FDE8-4F6D-81F1-1F391EA02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8CB70B-E2F3-439B-8DF3-927F0FAD3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70CFA8-40B1-4BCD-A4CD-FA8B62C77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9A61E6-FB69-4E8A-B136-009CB9646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8ED089-AE65-4ECA-A1C6-75006AC9B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A123F8-FD84-45FD-A463-C18F9909F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A6D236-541C-42FA-8D98-A2AD01196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4"/>
          </a:solidFill>
          <a:ln xmlns:a="http://schemas.openxmlformats.org/drawingml/2006/main" w="0">
            <a:solidFill>
              <a:srgbClr val="102D4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85EEE1-C6D6-4E75-8AA4-B72154C49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8288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4"/>
          </a:solidFill>
          <a:ln xmlns:a="http://schemas.openxmlformats.org/drawingml/2006/main" w="0">
            <a:solidFill>
              <a:srgbClr val="102D4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4F8A89-1518-4F23-AB7B-AC7D7C500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5146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4"/>
          </a:solidFill>
          <a:ln xmlns:a="http://schemas.openxmlformats.org/drawingml/2006/main" w="0">
            <a:solidFill>
              <a:srgbClr val="102D4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1AF6AE-6B8B-4251-90E9-8A350D89A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2004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4"/>
          </a:solidFill>
          <a:ln xmlns:a="http://schemas.openxmlformats.org/drawingml/2006/main" w="0">
            <a:solidFill>
              <a:srgbClr val="102D4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626739-8969-492F-9A59-675340C43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8862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4"/>
          </a:solidFill>
          <a:ln xmlns:a="http://schemas.openxmlformats.org/drawingml/2006/main" w="0">
            <a:solidFill>
              <a:srgbClr val="102D4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99A2F2-6EA3-48CE-BF9D-A2076C650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5720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4"/>
          </a:solidFill>
          <a:ln xmlns:a="http://schemas.openxmlformats.org/drawingml/2006/main" w="0">
            <a:solidFill>
              <a:srgbClr val="102D4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6A29EE-2F6E-4172-95A3-5C3F86C6C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2578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4"/>
          </a:solidFill>
          <a:ln xmlns:a="http://schemas.openxmlformats.org/drawingml/2006/main" w="0">
            <a:solidFill>
              <a:srgbClr val="102D4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9FD403-F7A8-4BDC-B31E-92F753C29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9436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4"/>
          </a:solidFill>
          <a:ln xmlns:a="http://schemas.openxmlformats.org/drawingml/2006/main" w="0">
            <a:solidFill>
              <a:srgbClr val="102D4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0CD47C-B759-4AF7-A183-C85383A22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CHOICE MATRIX Q5-Q6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CC7614-9661-49A9-9E09-4B76D1223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7FF"/>
          </a:solidFill>
          <a:ln xmlns:a="http://schemas.openxmlformats.org/drawingml/2006/main" w="0">
            <a:solidFill>
              <a:srgbClr val="35E7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E46A69-7265-46CF-AA3B-84EB7719C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8191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FB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4FBFF"/>
                </a:solidFill>
                <a:latin typeface="Aptos Display"/>
                <a:ea typeface="Aptos Display"/>
                <a:cs typeface="Aptos Display"/>
              </a:rPr>
              <a:t>The fair and burnout scenes create the strongest contrast between commitment, recovery, and chaos.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A138266-6C9E-4D30-A775-68C7CD405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85900"/>
            <a:ext cx="838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BB7C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BB7C9"/>
                </a:solidFill>
                <a:latin typeface="Aptos"/>
                <a:ea typeface="Aptos"/>
                <a:cs typeface="Aptos"/>
              </a:rPr>
              <a:t>Q6 also triggers the Silence Returns popup before moving to finals.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ED6654E-E25D-4D97-B3C5-B1BA59562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5143500" cy="318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523"/>
          </a:solidFill>
          <a:ln xmlns:a="http://schemas.openxmlformats.org/drawingml/2006/main" w="9525">
            <a:solidFill>
              <a:srgbClr val="244B6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BE3C893-3821-482C-A9A3-CFE78D6C3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38350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Q5 - The CCA Fair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A7E98DA-C36E-4CFE-B0D5-099954B76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24100"/>
            <a:ext cx="28055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Input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17EDE4E-A711-4613-879D-0B2813F72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655" y="2324100"/>
            <a:ext cx="1761259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Action title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F5BBEFF-E0E4-4409-992B-726D4A10D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1914" y="2324100"/>
            <a:ext cx="1761259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Hidden score output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C4D7EF8-9E81-4446-A577-BD68BC9A5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3173" y="2324100"/>
            <a:ext cx="1168977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Primary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29EBB8A-2755-4848-8333-703D2A75A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86025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850"/>
          </a:solidFill>
          <a:ln xmlns:a="http://schemas.openxmlformats.org/drawingml/2006/main" w="0">
            <a:solidFill>
              <a:srgbClr val="16385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96F0D9C-D5BE-4343-8EB4-1C4887CF7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33650"/>
            <a:ext cx="20435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66B4413-49E4-4975-95E7-6E6D0579E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655" y="2533650"/>
            <a:ext cx="1685059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Audit Every Booth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F334BDD-8FFF-4ADB-8D9D-CDD4DDD5C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1914" y="2533650"/>
            <a:ext cx="1685059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765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Overachiever +1, Strategist +2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D235692-7DE5-4AF4-86CB-3DD656067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3173" y="2533650"/>
            <a:ext cx="1092777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765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Lowkey Strategist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9727F3F-851C-4B5D-96B3-AD94F74A2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09875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850"/>
          </a:solidFill>
          <a:ln xmlns:a="http://schemas.openxmlformats.org/drawingml/2006/main" w="0">
            <a:solidFill>
              <a:srgbClr val="16385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F320229-1315-4685-82A9-AFE090822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57500"/>
            <a:ext cx="20435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B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FA719B1-0A3A-4076-9191-E4E068C4E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655" y="2857500"/>
            <a:ext cx="1685059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Collect All Side Quests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EDCE98D-468A-46AF-A29B-17DC05E6F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1914" y="2857500"/>
            <a:ext cx="1685059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765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Social +2, We Ball +1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2148104-F184-4AA9-BA24-6AAF52FC2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3173" y="2857500"/>
            <a:ext cx="1092777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765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Social Butterfly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6FDE67B-B7EC-4113-9B12-244FC2FF1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33725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850"/>
          </a:solidFill>
          <a:ln xmlns:a="http://schemas.openxmlformats.org/drawingml/2006/main" w="0">
            <a:solidFill>
              <a:srgbClr val="163850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4B94A59-64FD-40FC-BE7B-56450BCAE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81350"/>
            <a:ext cx="20435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C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E43AC85-5360-4758-B01A-ECF6E8A6B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655" y="3181350"/>
            <a:ext cx="1685059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Loot and Evade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6C24CE3-A789-4525-9A49-4D589844B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1914" y="3181350"/>
            <a:ext cx="1685059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765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Lost +2, We Ball +1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456691F-4921-4787-8B9A-632C7A3EB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3173" y="3181350"/>
            <a:ext cx="1092777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765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Lost but Vibing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8E52381-514D-4B6E-B41D-3D58A8FCB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57575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850"/>
          </a:solidFill>
          <a:ln xmlns:a="http://schemas.openxmlformats.org/drawingml/2006/main" w="0">
            <a:solidFill>
              <a:srgbClr val="163850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AA5D375-9CF1-46B7-83AE-DEC63C7EF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05200"/>
            <a:ext cx="20435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D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8DD4462-240C-4E93-93BA-B797B6EBD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655" y="3505200"/>
            <a:ext cx="1685059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Follow Party Leader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E283C03-CB39-4E22-A8DA-60EC3A8F3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1914" y="3505200"/>
            <a:ext cx="1685059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765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Supporter +2, Social +1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FA80307-EC38-4136-B1A5-9257F4FBA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3173" y="3505200"/>
            <a:ext cx="1092777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765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Soft Supporter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D55C090-0D29-453E-9DB9-7A4AF461E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24050"/>
            <a:ext cx="5143500" cy="318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523"/>
          </a:solidFill>
          <a:ln xmlns:a="http://schemas.openxmlformats.org/drawingml/2006/main" w="9525">
            <a:solidFill>
              <a:srgbClr val="244B63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742DA24-1C59-46CA-A232-CB88BA244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38350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Q6 - Burnout Monster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85348ED-0E42-470E-AE7E-C02BB1104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24100"/>
            <a:ext cx="28055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Input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9E75C1D-71F0-473D-9435-0545F4449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5655" y="2324100"/>
            <a:ext cx="1761259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Action title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F14106F-92DA-4281-94D2-F2BD6CCDF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6914" y="2324100"/>
            <a:ext cx="1761259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Hidden score output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14DACC2-F52F-4201-873D-B5B6602BA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8173" y="2324100"/>
            <a:ext cx="1168977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Primary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8CD997B-BB77-4D38-8C0F-7A6E97471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486025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850"/>
          </a:solidFill>
          <a:ln xmlns:a="http://schemas.openxmlformats.org/drawingml/2006/main" w="0">
            <a:solidFill>
              <a:srgbClr val="163850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725021D-B656-416A-8FAD-481E635CF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33650"/>
            <a:ext cx="20435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A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225F860-AB33-4855-BAF8-49C1FAA41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5655" y="2533650"/>
            <a:ext cx="1685059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Full Focus Burst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A0F6BCB-47BA-4FBD-9990-CAEE3CFDD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6914" y="2533650"/>
            <a:ext cx="1685059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765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Overachiever +2, Strategist +1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75A38E3-71B0-43BF-8A2B-F82DEA61F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8173" y="2533650"/>
            <a:ext cx="1092777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765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Overachiever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D4AA4B0-AA8E-49A5-B6E7-97BFDA0FB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809875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850"/>
          </a:solidFill>
          <a:ln xmlns:a="http://schemas.openxmlformats.org/drawingml/2006/main" w="0">
            <a:solidFill>
              <a:srgbClr val="163850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B54D994-48BC-4BE7-AE61-47174AE8B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857500"/>
            <a:ext cx="20435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B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4358EC9-D690-4A30-B0AE-1634AA259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5655" y="2857500"/>
            <a:ext cx="1685059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Call for Backup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9FE35EF-6830-42BE-BE43-32E2F60FC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6914" y="2857500"/>
            <a:ext cx="1685059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765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Social +1, Supporter +2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82E6E88-9F69-43C8-839B-169878CFF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8173" y="2857500"/>
            <a:ext cx="1092777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765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Soft Supporter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908A378-F20E-472C-B27A-20FB20B4E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33725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850"/>
          </a:solidFill>
          <a:ln xmlns:a="http://schemas.openxmlformats.org/drawingml/2006/main" w="0">
            <a:solidFill>
              <a:srgbClr val="163850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5A722F47-093D-488B-A7DF-261000D4D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81350"/>
            <a:ext cx="20435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C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9EAA029-2EBD-480D-B816-8A9D9D2D5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5655" y="3181350"/>
            <a:ext cx="1685059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Use Recovery Potion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F9A5ACF-BF2B-4265-9A4B-A0CA04F3C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6914" y="3181350"/>
            <a:ext cx="1685059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765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Lost +2, Supporter +1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73AD686A-624C-4E34-A81B-8E07048A8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8173" y="3181350"/>
            <a:ext cx="1092777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765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Lost but Vibing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E10DC81E-27CF-4EBC-BFEA-7BE5FEA65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457575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850"/>
          </a:solidFill>
          <a:ln xmlns:a="http://schemas.openxmlformats.org/drawingml/2006/main" w="0">
            <a:solidFill>
              <a:srgbClr val="163850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62E7FCFC-9E8E-42D6-9F12-742773B0C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05200"/>
            <a:ext cx="20435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D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BB4CA7D-A5AD-46A5-9014-75EDBF74B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5655" y="3505200"/>
            <a:ext cx="1685059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Dramatic Endurance Mode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F898BB53-9C9F-4B84-A89E-D937036E7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6914" y="3505200"/>
            <a:ext cx="1685059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765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We Ball +2, Overachiever +1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FB165B02-C64B-473C-B892-4DD36D3A6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8173" y="3505200"/>
            <a:ext cx="1092777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765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We Ball Agent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F569D5D-AFCB-47AC-91C6-99ACEC6F2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809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36B7C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536B7C"/>
                </a:solidFill>
                <a:latin typeface="Aptos Mono"/>
                <a:ea typeface="Aptos Mono"/>
                <a:cs typeface="Aptos Mono"/>
              </a:rPr>
              <a:t>NBS Freshman Quiz storyboard - first draft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076C64A8-C8C8-4A4E-8FDD-80FDFF014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831971428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47236DB-7CD9-4223-B898-4F70C24E4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BBE890-46F8-4881-8C3B-AFBDC5D37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626"/>
          </a:solidFill>
          <a:ln xmlns:a="http://schemas.openxmlformats.org/drawingml/2006/main" w="0">
            <a:solidFill>
              <a:srgbClr val="0A162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0C861D-6862-4A41-AF08-767DBC2D9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075B1C-6FC4-4E2C-A277-1881D5063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4F66E8-D8D4-4D36-A7B9-15FCB65B9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5DE17A-782A-463B-B922-7E44A2E08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B81672-DD18-4D2C-9E0A-6B6BEA9B3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3DECC9-FCFE-4576-B44B-8B72C5A45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AC180D-1F9E-40AA-91D1-38AFAE7CD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DB7EAB-A8C5-41FA-909A-9B3661ABD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D1965C-3527-4F50-B5A4-0BC2E456E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60AC16-01F1-4744-825F-43274B4F0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B31030-56FE-4016-A9E5-9E4773A92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223331-A65D-4F7C-A964-551C6F252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CA2001-30F0-472F-9D21-F925809B4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EE1857-62A6-442D-84BA-D5C5CBBE0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332253-54FA-49FC-B7BB-15060BDC8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2327E9-5C55-4322-9460-A774AF7D1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4"/>
          </a:solidFill>
          <a:ln xmlns:a="http://schemas.openxmlformats.org/drawingml/2006/main" w="0">
            <a:solidFill>
              <a:srgbClr val="102D4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149925-E1E0-402D-90FF-4F230909C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8288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4"/>
          </a:solidFill>
          <a:ln xmlns:a="http://schemas.openxmlformats.org/drawingml/2006/main" w="0">
            <a:solidFill>
              <a:srgbClr val="102D4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4E07F0-F6B5-4C1C-96C7-2A6CB661B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5146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4"/>
          </a:solidFill>
          <a:ln xmlns:a="http://schemas.openxmlformats.org/drawingml/2006/main" w="0">
            <a:solidFill>
              <a:srgbClr val="102D4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5E1C1C-2754-4A85-B34A-9EA7CD8DE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2004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4"/>
          </a:solidFill>
          <a:ln xmlns:a="http://schemas.openxmlformats.org/drawingml/2006/main" w="0">
            <a:solidFill>
              <a:srgbClr val="102D4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26AE49-6D06-4238-9233-64A1AF822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8862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4"/>
          </a:solidFill>
          <a:ln xmlns:a="http://schemas.openxmlformats.org/drawingml/2006/main" w="0">
            <a:solidFill>
              <a:srgbClr val="102D4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707AC8-235D-4904-96AA-A3F192EFA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5720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4"/>
          </a:solidFill>
          <a:ln xmlns:a="http://schemas.openxmlformats.org/drawingml/2006/main" w="0">
            <a:solidFill>
              <a:srgbClr val="102D4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A909FD-8FA0-4F9F-A57C-3F7C7717F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2578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4"/>
          </a:solidFill>
          <a:ln xmlns:a="http://schemas.openxmlformats.org/drawingml/2006/main" w="0">
            <a:solidFill>
              <a:srgbClr val="102D4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C5E982-9C95-4E6B-AC74-FB72CD69F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9436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4"/>
          </a:solidFill>
          <a:ln xmlns:a="http://schemas.openxmlformats.org/drawingml/2006/main" w="0">
            <a:solidFill>
              <a:srgbClr val="102D4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5E1235-E21C-4EAF-B3C9-D6A2170CA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CHOICE MATRIX Q7-Q8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4FE8E6-DC82-4CA9-B119-894268499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7FF"/>
          </a:solidFill>
          <a:ln xmlns:a="http://schemas.openxmlformats.org/drawingml/2006/main" w="0">
            <a:solidFill>
              <a:srgbClr val="35E7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DDEFED-CA47-4C39-AC0A-9EDADFCAB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8191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FB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4FBFF"/>
                </a:solidFill>
                <a:latin typeface="Aptos Display"/>
                <a:ea typeface="Aptos Display"/>
                <a:cs typeface="Aptos Display"/>
              </a:rPr>
              <a:t>Final choices close the arc and decide the highest weighted freshman build.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6FD30B4-52A8-4BFD-A20D-ED37666FC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85900"/>
            <a:ext cx="838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BB7C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BB7C9"/>
                </a:solidFill>
                <a:latin typeface="Aptos"/>
                <a:ea typeface="Aptos"/>
                <a:cs typeface="Aptos"/>
              </a:rPr>
              <a:t>Q8 answer sends directly to calculating and then result reveal.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8A6A47E-EE7B-4028-9F59-2A32E954A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5143500" cy="318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523"/>
          </a:solidFill>
          <a:ln xmlns:a="http://schemas.openxmlformats.org/drawingml/2006/main" w="9525">
            <a:solidFill>
              <a:srgbClr val="244B6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5B30932-554F-47D9-89A8-C88939A23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38350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Q7 - Finals Mode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948E586-9010-4D99-9A9D-8200E780C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24100"/>
            <a:ext cx="28055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Input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8B568B7-A533-4668-B908-76AA91B29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655" y="2324100"/>
            <a:ext cx="1761259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Action title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29F0B48-FD6F-436A-A455-DB4468DB2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1914" y="2324100"/>
            <a:ext cx="1761259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Hidden score output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1281807-4C96-4629-B6CD-282241C01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3173" y="2324100"/>
            <a:ext cx="1168977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Primary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AB88F67-91B3-4A34-A9C9-17005ADD6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86025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850"/>
          </a:solidFill>
          <a:ln xmlns:a="http://schemas.openxmlformats.org/drawingml/2006/main" w="0">
            <a:solidFill>
              <a:srgbClr val="16385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AA420D1-955D-432A-BCF0-B088BEF19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33650"/>
            <a:ext cx="20435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9AA8FB9-E17E-4089-AFA5-46361146B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655" y="2533650"/>
            <a:ext cx="1685059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Execute Revision Plan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EBF11FF-64BD-4DDC-943C-1749F278F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1914" y="2533650"/>
            <a:ext cx="1685059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765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Overachiever +2, Strategist +1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C678E14-8D45-41DD-A980-3D93B7AA3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3173" y="2533650"/>
            <a:ext cx="1092777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765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Overachiever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45550E6-D0F0-4889-8ED0-513D83C27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09875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850"/>
          </a:solidFill>
          <a:ln xmlns:a="http://schemas.openxmlformats.org/drawingml/2006/main" w="0">
            <a:solidFill>
              <a:srgbClr val="16385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EF33671-27D5-4DFB-BF02-69937F55D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57500"/>
            <a:ext cx="20435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B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4F5349B-CB18-4AE9-A521-F30F26E52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655" y="2857500"/>
            <a:ext cx="1685059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Balance Study and Side Quest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8BC92D2-0008-4F70-96C0-99F16D14D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1914" y="2857500"/>
            <a:ext cx="1685059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765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Social +2, Lost +1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FB86A5C-FAD6-43AA-BB81-39475CB9B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3173" y="2857500"/>
            <a:ext cx="1092777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765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Social Butterfly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6B3BF32-7558-4FAE-BA23-8B2D5ED3C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33725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850"/>
          </a:solidFill>
          <a:ln xmlns:a="http://schemas.openxmlformats.org/drawingml/2006/main" w="0">
            <a:solidFill>
              <a:srgbClr val="163850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18532E6-3C38-478F-A60D-CA4602087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81350"/>
            <a:ext cx="20435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C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8DFC3B6-B624-4650-9D6E-ACE1C4B45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655" y="3181350"/>
            <a:ext cx="1685059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Delay the Countdown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A44701E-F20D-42F4-B757-36DD884F1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1914" y="3181350"/>
            <a:ext cx="1685059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765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Lost +2, We Ball +1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298EB18-6F60-4342-AB7F-86AF921D3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3173" y="3181350"/>
            <a:ext cx="1092777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765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Lost but Vibing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3752E22-4E58-4E12-ADBF-50CFBD6C8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57575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850"/>
          </a:solidFill>
          <a:ln xmlns:a="http://schemas.openxmlformats.org/drawingml/2006/main" w="0">
            <a:solidFill>
              <a:srgbClr val="163850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1036D81-E2C0-4F6D-97B7-396FB93E7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05200"/>
            <a:ext cx="20435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D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CB1BB6B-431D-49E3-AAF9-E265571DC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655" y="3505200"/>
            <a:ext cx="1685059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Enter Spiral Cutscene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42CDDD7-3A5C-44FA-90E1-EFA3DE445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1914" y="3505200"/>
            <a:ext cx="1685059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765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We Ball +2, Supporter +1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A6EE31A-CFF9-4C8E-BBAB-8AC225A09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3173" y="3505200"/>
            <a:ext cx="1092777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765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We Ball Agent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B4CE531-6B61-486F-8955-A69EB2488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24050"/>
            <a:ext cx="5143500" cy="318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523"/>
          </a:solidFill>
          <a:ln xmlns:a="http://schemas.openxmlformats.org/drawingml/2006/main" w="9525">
            <a:solidFill>
              <a:srgbClr val="244B63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2618E61-C36E-424F-ADA2-54818AD97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38350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Q8 - Weekend Portal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BB93C5E-215B-45B9-8F03-BEB7C2C57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24100"/>
            <a:ext cx="28055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Input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C8D26CA-A807-42AB-ADC6-E81F946A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5655" y="2324100"/>
            <a:ext cx="1761259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Action title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BF841BE-9DE7-4189-9441-3748B3629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6914" y="2324100"/>
            <a:ext cx="1761259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Hidden score output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3D449CB-7848-442A-84C2-D55726AC7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8173" y="2324100"/>
            <a:ext cx="1168977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Primary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98123DE-56F6-43BD-AF80-829A3150D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486025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850"/>
          </a:solidFill>
          <a:ln xmlns:a="http://schemas.openxmlformats.org/drawingml/2006/main" w="0">
            <a:solidFill>
              <a:srgbClr val="163850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A76FCC3-5181-4E7D-80F8-3B6F9A100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33650"/>
            <a:ext cx="20435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A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25A19B8-2B1D-4C0C-97D6-2CA77F97B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5655" y="2533650"/>
            <a:ext cx="1685059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Preload Next Week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2609A83-8B77-44E6-AC23-3975915AE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6914" y="2533650"/>
            <a:ext cx="1685059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765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Overachiever +2, Strategist +1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4D1999B-A835-4997-854B-38C1F089E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8173" y="2533650"/>
            <a:ext cx="1092777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765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Overachiever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FBFAC96-196B-4DA8-A386-B7BD3AAF9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809875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850"/>
          </a:solidFill>
          <a:ln xmlns:a="http://schemas.openxmlformats.org/drawingml/2006/main" w="0">
            <a:solidFill>
              <a:srgbClr val="163850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400E8AE-52A4-4D7D-BC8D-F01240940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857500"/>
            <a:ext cx="20435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B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52D468C-BFB0-4B1B-B042-C8022A3BC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5655" y="2857500"/>
            <a:ext cx="1685059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Enter Social Free Roam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550F0FD-D8DC-467D-9A98-7A3678F87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6914" y="2857500"/>
            <a:ext cx="1685059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765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Social +2, We Ball +1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AEBE842-F81C-4F82-A514-44094259D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8173" y="2857500"/>
            <a:ext cx="1092777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765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Social Butterfly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01FCF17-0D68-4621-B484-B0EA105C3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33725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850"/>
          </a:solidFill>
          <a:ln xmlns:a="http://schemas.openxmlformats.org/drawingml/2006/main" w="0">
            <a:solidFill>
              <a:srgbClr val="163850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C77D156-E318-44AC-A1AB-635390F96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81350"/>
            <a:ext cx="20435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C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DF0CF0A-EDE0-47CE-ACC4-8BFEA26B7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5655" y="3181350"/>
            <a:ext cx="1685059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Restore HP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74435B0-D6C7-45AD-9BD6-A3EB22C59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6914" y="3181350"/>
            <a:ext cx="1685059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765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Supporter +2, Lost +1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EE0A3B6-F059-4596-B204-731EFFCB7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8173" y="3181350"/>
            <a:ext cx="1092777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765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Soft Supporter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1BFF62D-7578-4995-990D-8AAB065F0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457575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850"/>
          </a:solidFill>
          <a:ln xmlns:a="http://schemas.openxmlformats.org/drawingml/2006/main" w="0">
            <a:solidFill>
              <a:srgbClr val="163850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69AC2EA2-09E1-47D5-8B3E-1FEA152BC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05200"/>
            <a:ext cx="20435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D16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FD166"/>
                </a:solidFill>
                <a:latin typeface="Aptos Mono"/>
                <a:ea typeface="Aptos Mono"/>
                <a:cs typeface="Aptos Mono"/>
              </a:rPr>
              <a:t>D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D7127277-1A6A-47B2-AAB0-CD7F12A54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5655" y="3505200"/>
            <a:ext cx="1685059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Open Productivity Mirage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E2E6FD3B-750A-42EE-BF52-7EE9198D6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6914" y="3505200"/>
            <a:ext cx="1685059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765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Lost +2, We Ball +1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F43E5712-2603-4796-84C6-45D72C30B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8173" y="3505200"/>
            <a:ext cx="1092777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765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Lost but Vibing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80D8913A-21C0-4486-8C59-B9D8CF349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809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36B7C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536B7C"/>
                </a:solidFill>
                <a:latin typeface="Aptos Mono"/>
                <a:ea typeface="Aptos Mono"/>
                <a:cs typeface="Aptos Mono"/>
              </a:rPr>
              <a:t>NBS Freshman Quiz storyboard - first draft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0FD9368D-4A7D-42F8-9C54-3A7F54EEC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59090322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96CA9D8-B346-418B-AFCC-9EB31EB49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2E367E-8AFF-4D64-8562-59F798E40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626"/>
          </a:solidFill>
          <a:ln xmlns:a="http://schemas.openxmlformats.org/drawingml/2006/main" w="0">
            <a:solidFill>
              <a:srgbClr val="0A162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C3C12E-50B0-4105-82F1-99F109FA7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564A94-5FC5-4D6A-8B51-004243F95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15F0D8-7076-49AC-86F2-F15C505C1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C5EB2D-616B-466B-A86F-B8E67C157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0C471C-6144-4EB5-87DD-122CA6427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437053-2062-4EE5-8F5B-7FC31A3F5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61B818-85A6-41FC-BD5A-4BD445712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1D15E3-3D5E-44E8-A2D9-C8D55AE30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F955EB-9293-460A-831E-98A3B9CED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D2B5CF-1F61-47BE-8D43-C7EF3DADB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43BF20-B401-43D4-B50B-1EBBBA85B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5DA2D8-8832-4DE1-8849-FF94B7238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C3BD1E-B817-45B6-B7D7-741670CAE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7B2B87-7F00-4CAE-82C3-37C1CFE4E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7809D1-EF8E-473D-81AA-3FC81A2D8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35D1F6-4F21-4896-9972-46B0DA6B0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4"/>
          </a:solidFill>
          <a:ln xmlns:a="http://schemas.openxmlformats.org/drawingml/2006/main" w="0">
            <a:solidFill>
              <a:srgbClr val="102D4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107C48-1F92-4B31-91F9-EEB7515BC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8288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4"/>
          </a:solidFill>
          <a:ln xmlns:a="http://schemas.openxmlformats.org/drawingml/2006/main" w="0">
            <a:solidFill>
              <a:srgbClr val="102D4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B7A68D-C557-4C24-B0B7-0163F5C6F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5146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4"/>
          </a:solidFill>
          <a:ln xmlns:a="http://schemas.openxmlformats.org/drawingml/2006/main" w="0">
            <a:solidFill>
              <a:srgbClr val="102D4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326E10-4153-4017-850E-9C7526848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2004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4"/>
          </a:solidFill>
          <a:ln xmlns:a="http://schemas.openxmlformats.org/drawingml/2006/main" w="0">
            <a:solidFill>
              <a:srgbClr val="102D4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B8D9DB-1C8D-4D85-AB32-AA40AE9FF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8862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4"/>
          </a:solidFill>
          <a:ln xmlns:a="http://schemas.openxmlformats.org/drawingml/2006/main" w="0">
            <a:solidFill>
              <a:srgbClr val="102D4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D6D778-4520-45B1-9801-23CC6A0D4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5720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4"/>
          </a:solidFill>
          <a:ln xmlns:a="http://schemas.openxmlformats.org/drawingml/2006/main" w="0">
            <a:solidFill>
              <a:srgbClr val="102D4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2FA2C3-C40A-41D1-96DD-7F9D31609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2578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4"/>
          </a:solidFill>
          <a:ln xmlns:a="http://schemas.openxmlformats.org/drawingml/2006/main" w="0">
            <a:solidFill>
              <a:srgbClr val="102D4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125FBA-08B5-4B76-BB70-831C8E1F1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9436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4"/>
          </a:solidFill>
          <a:ln xmlns:a="http://schemas.openxmlformats.org/drawingml/2006/main" w="0">
            <a:solidFill>
              <a:srgbClr val="102D4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5D1230-BB14-4C3E-9520-866C281A4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RESULT OUTPUTS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A2AE1EE-E531-4A37-9E62-AE3FBA3F8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7FF"/>
          </a:solidFill>
          <a:ln xmlns:a="http://schemas.openxmlformats.org/drawingml/2006/main" w="0">
            <a:solidFill>
              <a:srgbClr val="35E7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05AED44-CA0F-4C87-BB7D-06C320A65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8191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FB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4FBFF"/>
                </a:solidFill>
                <a:latin typeface="Aptos Display"/>
                <a:ea typeface="Aptos Display"/>
                <a:cs typeface="Aptos Display"/>
              </a:rPr>
              <a:t>The quiz ends in one of six freshman build profile cards.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832EEDC-29C0-4E7E-ABBD-37E7AAFA4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85900"/>
            <a:ext cx="838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BB7C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BB7C9"/>
                </a:solidFill>
                <a:latin typeface="Aptos"/>
                <a:ea typeface="Aptos"/>
                <a:cs typeface="Aptos"/>
              </a:rPr>
              <a:t>Each result includes motto, traits, profile description, tags, wellbeing tips, and Replay Arc.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42C7D9F-BB55-4B3C-84F8-4EB8DA66E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33337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827"/>
          </a:solidFill>
          <a:ln xmlns:a="http://schemas.openxmlformats.org/drawingml/2006/main" w="9525">
            <a:solidFill>
              <a:srgbClr val="FFD16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D87CA3E-ED5B-4B27-B39D-719EDE30F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57400"/>
            <a:ext cx="2952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D16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D166"/>
                </a:solidFill>
                <a:latin typeface="Aptos"/>
                <a:ea typeface="Aptos"/>
                <a:cs typeface="Aptos"/>
              </a:rPr>
              <a:t>The Overachiever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E8243AC-C100-4BF1-9FAA-7A7E0175A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24100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"If I am here, I am going to excel."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6870390-0347-4E4A-B9A6-1D880C2BE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2952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BB7C9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BB7C9"/>
                </a:solidFill>
                <a:latin typeface="Aptos"/>
                <a:ea typeface="Aptos"/>
                <a:cs typeface="Aptos"/>
              </a:rPr>
              <a:t>Driven / Organised / Ambitious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931F234-5F46-4C47-8D11-4556B0847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2952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Rest is allowed. Productivity is not self-worth.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6D4C0FA-88BB-440F-82CE-AC082ECDC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924050"/>
            <a:ext cx="33337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827"/>
          </a:solidFill>
          <a:ln xmlns:a="http://schemas.openxmlformats.org/drawingml/2006/main" w="9525">
            <a:solidFill>
              <a:srgbClr val="35E7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5B8029D-5989-4B5A-823D-D720D423C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57400"/>
            <a:ext cx="2952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5E7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35E7FF"/>
                </a:solidFill>
                <a:latin typeface="Aptos"/>
                <a:ea typeface="Aptos"/>
                <a:cs typeface="Aptos"/>
              </a:rPr>
              <a:t>The Social Butterfly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2ADE691-DF08-42C8-8693-73784E430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324100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"Connections are everything."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7E4CA4F-CF3B-46AB-BCDC-70B8A76E5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647950"/>
            <a:ext cx="2952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BB7C9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BB7C9"/>
                </a:solidFill>
                <a:latin typeface="Aptos"/>
                <a:ea typeface="Aptos"/>
                <a:cs typeface="Aptos"/>
              </a:rPr>
              <a:t>Outgoing / Friendly / Energetic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C70C482-5E64-491B-A14A-08BD89886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914650"/>
            <a:ext cx="2952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Protect your energy. Not every event is a must-go.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C4FA89E-C6E0-4418-8AF6-F5ED9C754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24050"/>
            <a:ext cx="33337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827"/>
          </a:solidFill>
          <a:ln xmlns:a="http://schemas.openxmlformats.org/drawingml/2006/main" w="9525">
            <a:solidFill>
              <a:srgbClr val="B68CF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2BCACA0-D575-43A8-A2C2-74752FDF2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57400"/>
            <a:ext cx="2952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68C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B68CFF"/>
                </a:solidFill>
                <a:latin typeface="Aptos"/>
                <a:ea typeface="Aptos"/>
                <a:cs typeface="Aptos"/>
              </a:rPr>
              <a:t>The Lost but Vibing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942A94A-2E25-44DF-981E-A567C3DB0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24100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"I will figure it out... eventually."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2D4F78A-EB6E-4ADC-B1F5-994B82E25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647950"/>
            <a:ext cx="2952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BB7C9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BB7C9"/>
                </a:solidFill>
                <a:latin typeface="Aptos"/>
                <a:ea typeface="Aptos"/>
                <a:cs typeface="Aptos"/>
              </a:rPr>
              <a:t>Chill / Adaptable / Go-with-the-flow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7F3D74A-2662-4E0E-8DA8-AB907164A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914650"/>
            <a:ext cx="2952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A little structure can go a long way.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0411516-07CD-4D50-9B09-4E932C895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76650"/>
            <a:ext cx="33337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827"/>
          </a:solidFill>
          <a:ln xmlns:a="http://schemas.openxmlformats.org/drawingml/2006/main" w="9525">
            <a:solidFill>
              <a:srgbClr val="9DFFB0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3DE5F29-E825-46BC-8E67-0D0B25DF5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0000"/>
            <a:ext cx="2952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DFFB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9DFFB0"/>
                </a:solidFill>
                <a:latin typeface="Aptos"/>
                <a:ea typeface="Aptos"/>
                <a:cs typeface="Aptos"/>
              </a:rPr>
              <a:t>The Soft Supporter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95E8F37-5D15-4E4D-BECE-E716E7845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76700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"We will get through this together."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1839571-A13B-46C6-B38F-6B3F85FAF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00550"/>
            <a:ext cx="2952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BB7C9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BB7C9"/>
                </a:solidFill>
                <a:latin typeface="Aptos"/>
                <a:ea typeface="Aptos"/>
                <a:cs typeface="Aptos"/>
              </a:rPr>
              <a:t>Caring / Dependable / Emotionally aware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1058CC9-E9BC-472E-A014-F4C402E42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0"/>
            <a:ext cx="2952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Set boundaries. You do not have to carry everyone.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C47B302-1E3B-43B2-B90C-1967BFA2E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676650"/>
            <a:ext cx="33337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827"/>
          </a:solidFill>
          <a:ln xmlns:a="http://schemas.openxmlformats.org/drawingml/2006/main" w="9525">
            <a:solidFill>
              <a:srgbClr val="FF9F6E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1A3E469-2538-4199-A68A-9F0F1FE5E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810000"/>
            <a:ext cx="2952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9F6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9F6E"/>
                </a:solidFill>
                <a:latin typeface="Aptos"/>
                <a:ea typeface="Aptos"/>
                <a:cs typeface="Aptos"/>
              </a:rPr>
              <a:t>The We Ball Agent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9CE6983-BB2E-41FF-AF2D-F4C890E86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076700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"No plan."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18723BB-5B9C-4EFF-BEEA-3494185B2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400550"/>
            <a:ext cx="2952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BB7C9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BB7C9"/>
                </a:solidFill>
                <a:latin typeface="Aptos"/>
                <a:ea typeface="Aptos"/>
                <a:cs typeface="Aptos"/>
              </a:rPr>
              <a:t>Spontaneous / Chaotic / Bold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35FB082-7DA6-4999-94A8-5BCDA128D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667250"/>
            <a:ext cx="2952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Start slightly earlier. Burnout is not fun.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E5D3F83-EA9E-45EA-BD88-E9E8D9490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76650"/>
            <a:ext cx="33337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827"/>
          </a:solidFill>
          <a:ln xmlns:a="http://schemas.openxmlformats.org/drawingml/2006/main" w="9525">
            <a:solidFill>
              <a:srgbClr val="7AE7C7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3A33F22-535C-4CFE-BCE8-FE37C797F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810000"/>
            <a:ext cx="2952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AE7C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7AE7C7"/>
                </a:solidFill>
                <a:latin typeface="Aptos"/>
                <a:ea typeface="Aptos"/>
                <a:cs typeface="Aptos"/>
              </a:rPr>
              <a:t>The Lowkey Strategist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00B9E6E-4A1D-4D6F-A075-DDD4305F1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076700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F4FBFF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F4FBFF"/>
                </a:solidFill>
                <a:latin typeface="Aptos Mono"/>
                <a:ea typeface="Aptos Mono"/>
                <a:cs typeface="Aptos Mono"/>
              </a:rPr>
              <a:t>"Work smart, not loud."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A8FD048-C842-4C3A-9706-F4AC1464F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400550"/>
            <a:ext cx="2952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BB7C9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BB7C9"/>
                </a:solidFill>
                <a:latin typeface="Aptos"/>
                <a:ea typeface="Aptos"/>
                <a:cs typeface="Aptos"/>
              </a:rPr>
              <a:t>Observant / Calculated / Efficient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040AAD1-DBEE-4D63-A171-69455BE29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667250"/>
            <a:ext cx="2952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FBFF"/>
                </a:solidFill>
                <a:latin typeface="Aptos"/>
                <a:ea typeface="Aptos"/>
                <a:cs typeface="Aptos"/>
              </a:rPr>
              <a:t>Balance efficiency with connection.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3A65B67-E2B7-4FCB-89BF-50ED97478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809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36B7C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536B7C"/>
                </a:solidFill>
                <a:latin typeface="Aptos Mono"/>
                <a:ea typeface="Aptos Mono"/>
                <a:cs typeface="Aptos Mono"/>
              </a:rPr>
              <a:t>NBS Freshman Quiz storyboard - first draft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4DAC87B-CBA9-44EF-AA02-D259ADB51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108992401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498C071-8275-4C22-ACE1-C76FCEE2B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95E1A3-8EAC-4E16-80EA-4379ACF53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626"/>
          </a:solidFill>
          <a:ln xmlns:a="http://schemas.openxmlformats.org/drawingml/2006/main" w="0">
            <a:solidFill>
              <a:srgbClr val="0A162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E96172-15D3-4139-AE15-28419A89B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C104A5-4BF9-4337-92F7-075EC2428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DB953D-A88A-44AF-ABB9-F36A10B57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30022D-70B2-4310-BA77-4C452E953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17B81E-E566-4355-9988-3D20558E2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242A08-3D5E-4CF9-A28D-AC0260DE0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DDA5F7-94C0-45C8-A229-E3801B3E9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C4BEB1-A874-406E-B846-0D523DBF1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280B59-22E9-455A-AEA0-AEC6A157B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297BD7-0F82-46E1-BDFE-C121A6E35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91B15E-F432-41EF-9968-7BA7A4B98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8F2981-DB04-418F-A042-CEF2DC67F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05DC8C-9A45-474C-AE5E-55AE9559A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A669C4-803F-4B04-B5E5-06AD9115A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379BF8-835D-4044-B5AB-DB5D77E44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093790-02CA-4767-BD18-8C48DDB23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4"/>
          </a:solidFill>
          <a:ln xmlns:a="http://schemas.openxmlformats.org/drawingml/2006/main" w="0">
            <a:solidFill>
              <a:srgbClr val="102D4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A637C0-7A32-43A1-B752-43130DB2A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8288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4"/>
          </a:solidFill>
          <a:ln xmlns:a="http://schemas.openxmlformats.org/drawingml/2006/main" w="0">
            <a:solidFill>
              <a:srgbClr val="102D4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235C16-A582-4068-965D-C1E5DBD66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5146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4"/>
          </a:solidFill>
          <a:ln xmlns:a="http://schemas.openxmlformats.org/drawingml/2006/main" w="0">
            <a:solidFill>
              <a:srgbClr val="102D4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99B32E-A2FC-4B63-BF36-38BB45DEB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2004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4"/>
          </a:solidFill>
          <a:ln xmlns:a="http://schemas.openxmlformats.org/drawingml/2006/main" w="0">
            <a:solidFill>
              <a:srgbClr val="102D4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403234-012E-4A3E-A337-1DA94E2FD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8862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4"/>
          </a:solidFill>
          <a:ln xmlns:a="http://schemas.openxmlformats.org/drawingml/2006/main" w="0">
            <a:solidFill>
              <a:srgbClr val="102D4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E22B80-A9B0-47B4-84D5-9ED3675FE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5720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4"/>
          </a:solidFill>
          <a:ln xmlns:a="http://schemas.openxmlformats.org/drawingml/2006/main" w="0">
            <a:solidFill>
              <a:srgbClr val="102D4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847095-4602-4CD2-A068-8CAB5CDAA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2578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4"/>
          </a:solidFill>
          <a:ln xmlns:a="http://schemas.openxmlformats.org/drawingml/2006/main" w="0">
            <a:solidFill>
              <a:srgbClr val="102D4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D356B1-F1A6-4A66-A5C2-D9A3CFD33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9436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4"/>
          </a:solidFill>
          <a:ln xmlns:a="http://schemas.openxmlformats.org/drawingml/2006/main" w="0">
            <a:solidFill>
              <a:srgbClr val="102D4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67E20DA-84B7-4AB3-964D-5AD738D46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GRAPHICS PRODUCTION BRIEF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EA3C5D2-DFBA-4D2A-8539-E754F2D09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7FF"/>
          </a:solidFill>
          <a:ln xmlns:a="http://schemas.openxmlformats.org/drawingml/2006/main" w="0">
            <a:solidFill>
              <a:srgbClr val="35E7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D31A5AA-34CC-44DA-9396-0174AE383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8191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FB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4FBFF"/>
                </a:solidFill>
                <a:latin typeface="Aptos Display"/>
                <a:ea typeface="Aptos Display"/>
                <a:cs typeface="Aptos Display"/>
              </a:rPr>
              <a:t>Final art should replace placeholders while preserving the RPG state flow.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9A775DC-400A-49C8-94BC-38E08998D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85900"/>
            <a:ext cx="838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BB7C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BB7C9"/>
                </a:solidFill>
                <a:latin typeface="Aptos"/>
                <a:ea typeface="Aptos"/>
                <a:cs typeface="Aptos"/>
              </a:rPr>
              <a:t>Prioritise assets that affect story comprehension and atmosphere.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FA96479-706F-4CCA-93F6-673BF4DD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3143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2B"/>
          </a:solidFill>
          <a:ln xmlns:a="http://schemas.openxmlformats.org/drawingml/2006/main" w="11430">
            <a:solidFill>
              <a:srgbClr val="35E7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170F0D9-3885-4A60-B160-94B06B40D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2876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FBFF"/>
                </a:solidFill>
                <a:latin typeface="Aptos"/>
                <a:ea typeface="Aptos"/>
                <a:cs typeface="Aptos"/>
              </a:rPr>
              <a:t>Backgrounds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FF2B39B-1BA3-4100-9D31-F47E5E41B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24100"/>
            <a:ext cx="287655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BB7C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BB7C9"/>
                </a:solidFill>
                <a:latin typeface="Aptos"/>
                <a:ea typeface="Aptos"/>
                <a:cs typeface="Aptos"/>
              </a:rPr>
              <a:t>bg-title-screen</a:t>
            </a:r>
          </a:p>
          <a:p xmlns:a="http://schemas.openxmlformats.org/drawingml/2006/main">
            <a:pPr algn="l">
              <a:defRPr sz="1125" b="0">
                <a:solidFill>
                  <a:srgbClr val="9BB7C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BB7C9"/>
                </a:solidFill>
                <a:latin typeface="Aptos"/>
                <a:ea typeface="Aptos"/>
                <a:cs typeface="Aptos"/>
              </a:rPr>
              <a:t>bg-wcy-plaza-gate</a:t>
            </a:r>
          </a:p>
          <a:p xmlns:a="http://schemas.openxmlformats.org/drawingml/2006/main">
            <a:pPr algn="l">
              <a:defRPr sz="1125" b="0">
                <a:solidFill>
                  <a:srgbClr val="9BB7C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BB7C9"/>
                </a:solidFill>
                <a:latin typeface="Aptos"/>
                <a:ea typeface="Aptos"/>
                <a:cs typeface="Aptos"/>
              </a:rPr>
              <a:t>bg-orientation-arena</a:t>
            </a:r>
          </a:p>
          <a:p xmlns:a="http://schemas.openxmlformats.org/drawingml/2006/main">
            <a:pPr algn="l">
              <a:defRPr sz="1125" b="0">
                <a:solidFill>
                  <a:srgbClr val="9BB7C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BB7C9"/>
                </a:solidFill>
                <a:latin typeface="Aptos"/>
                <a:ea typeface="Aptos"/>
                <a:cs typeface="Aptos"/>
              </a:rPr>
              <a:t>bg-classroom</a:t>
            </a:r>
          </a:p>
          <a:p xmlns:a="http://schemas.openxmlformats.org/drawingml/2006/main">
            <a:pPr algn="l">
              <a:defRPr sz="1125" b="0">
                <a:solidFill>
                  <a:srgbClr val="9BB7C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BB7C9"/>
                </a:solidFill>
                <a:latin typeface="Aptos"/>
                <a:ea typeface="Aptos"/>
                <a:cs typeface="Aptos"/>
              </a:rPr>
              <a:t>bg-cca-fair</a:t>
            </a:r>
          </a:p>
          <a:p xmlns:a="http://schemas.openxmlformats.org/drawingml/2006/main">
            <a:pPr algn="l">
              <a:defRPr sz="1125" b="0">
                <a:solidFill>
                  <a:srgbClr val="9BB7C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BB7C9"/>
                </a:solidFill>
                <a:latin typeface="Aptos"/>
                <a:ea typeface="Aptos"/>
                <a:cs typeface="Aptos"/>
              </a:rPr>
              <a:t>bg-burnout-lair</a:t>
            </a:r>
          </a:p>
          <a:p xmlns:a="http://schemas.openxmlformats.org/drawingml/2006/main">
            <a:pPr algn="l">
              <a:defRPr sz="1125" b="0">
                <a:solidFill>
                  <a:srgbClr val="9BB7C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BB7C9"/>
                </a:solidFill>
                <a:latin typeface="Aptos"/>
                <a:ea typeface="Aptos"/>
                <a:cs typeface="Aptos"/>
              </a:rPr>
              <a:t>bg-weekend-portal-dimension</a:t>
            </a:r>
          </a:p>
          <a:p xmlns:a="http://schemas.openxmlformats.org/drawingml/2006/main">
            <a:pPr algn="l">
              <a:defRPr sz="1125" b="0">
                <a:solidFill>
                  <a:srgbClr val="9BB7C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BB7C9"/>
                </a:solidFill>
                <a:latin typeface="Aptos"/>
                <a:ea typeface="Aptos"/>
                <a:cs typeface="Aptos"/>
              </a:rPr>
              <a:t>bg-result-reveal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4E1A615-3BAB-49FF-9FB7-50D6C0E68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943100"/>
            <a:ext cx="3143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2B"/>
          </a:solidFill>
          <a:ln xmlns:a="http://schemas.openxmlformats.org/drawingml/2006/main" w="11430">
            <a:solidFill>
              <a:srgbClr val="FFD16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CED247D-D389-4A4F-93C1-A4D6AC32D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057400"/>
            <a:ext cx="2876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FBFF"/>
                </a:solidFill>
                <a:latin typeface="Aptos"/>
                <a:ea typeface="Aptos"/>
                <a:cs typeface="Aptos"/>
              </a:rPr>
              <a:t>Foreground artifacts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342A184-6DB8-432B-8672-1D532C6C3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324100"/>
            <a:ext cx="287655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BB7C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BB7C9"/>
                </a:solidFill>
                <a:latin typeface="Aptos"/>
                <a:ea typeface="Aptos"/>
                <a:cs typeface="Aptos"/>
              </a:rPr>
              <a:t>fg-group-chat-biz-case-grp-3</a:t>
            </a:r>
          </a:p>
          <a:p xmlns:a="http://schemas.openxmlformats.org/drawingml/2006/main">
            <a:pPr algn="l">
              <a:defRPr sz="1125" b="0">
                <a:solidFill>
                  <a:srgbClr val="9BB7C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BB7C9"/>
                </a:solidFill>
                <a:latin typeface="Aptos"/>
                <a:ea typeface="Aptos"/>
                <a:cs typeface="Aptos"/>
              </a:rPr>
              <a:t>fg-burnout-monster-idle</a:t>
            </a:r>
          </a:p>
          <a:p xmlns:a="http://schemas.openxmlformats.org/drawingml/2006/main">
            <a:pPr algn="l">
              <a:defRPr sz="1125" b="0">
                <a:solidFill>
                  <a:srgbClr val="9BB7C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BB7C9"/>
                </a:solidFill>
                <a:latin typeface="Aptos"/>
                <a:ea typeface="Aptos"/>
                <a:cs typeface="Aptos"/>
              </a:rPr>
              <a:t>fg-burnout-monster-disappear</a:t>
            </a:r>
          </a:p>
          <a:p xmlns:a="http://schemas.openxmlformats.org/drawingml/2006/main">
            <a:pPr algn="l">
              <a:defRPr sz="1125" b="0">
                <a:solidFill>
                  <a:srgbClr val="9BB7C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BB7C9"/>
                </a:solidFill>
                <a:latin typeface="Aptos"/>
                <a:ea typeface="Aptos"/>
                <a:cs typeface="Aptos"/>
              </a:rPr>
              <a:t>fg-weekend-portal</a:t>
            </a:r>
          </a:p>
          <a:p xmlns:a="http://schemas.openxmlformats.org/drawingml/2006/main">
            <a:pPr algn="l">
              <a:defRPr sz="1125" b="0">
                <a:solidFill>
                  <a:srgbClr val="9BB7C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BB7C9"/>
                </a:solidFill>
                <a:latin typeface="Aptos"/>
                <a:ea typeface="Aptos"/>
                <a:cs typeface="Aptos"/>
              </a:rPr>
              <a:t>fg-notification-deadline</a:t>
            </a:r>
          </a:p>
          <a:p xmlns:a="http://schemas.openxmlformats.org/drawingml/2006/main">
            <a:pPr algn="l">
              <a:defRPr sz="1125" b="0">
                <a:solidFill>
                  <a:srgbClr val="9BB7C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BB7C9"/>
                </a:solidFill>
                <a:latin typeface="Aptos"/>
                <a:ea typeface="Aptos"/>
                <a:cs typeface="Aptos"/>
              </a:rPr>
              <a:t>fg-notification-meeting</a:t>
            </a:r>
          </a:p>
          <a:p xmlns:a="http://schemas.openxmlformats.org/drawingml/2006/main">
            <a:pPr algn="l">
              <a:defRPr sz="1125" b="0">
                <a:solidFill>
                  <a:srgbClr val="9BB7C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BB7C9"/>
                </a:solidFill>
                <a:latin typeface="Aptos"/>
                <a:ea typeface="Aptos"/>
                <a:cs typeface="Aptos"/>
              </a:rPr>
              <a:t>fg-notification-unread</a:t>
            </a:r>
          </a:p>
          <a:p xmlns:a="http://schemas.openxmlformats.org/drawingml/2006/main">
            <a:pPr algn="l">
              <a:defRPr sz="1125" b="0">
                <a:solidFill>
                  <a:srgbClr val="9BB7C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BB7C9"/>
                </a:solidFill>
                <a:latin typeface="Aptos"/>
                <a:ea typeface="Aptos"/>
                <a:cs typeface="Aptos"/>
              </a:rPr>
              <a:t>fg-notification-are-you-free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DFAB96E-169C-4F71-9A9D-81F8CE038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943100"/>
            <a:ext cx="3143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2B"/>
          </a:solidFill>
          <a:ln xmlns:a="http://schemas.openxmlformats.org/drawingml/2006/main" w="11430">
            <a:solidFill>
              <a:srgbClr val="9DFFB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C72856A-9BC6-4258-9CB0-FCF648274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057400"/>
            <a:ext cx="2876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FBFF"/>
                </a:solidFill>
                <a:latin typeface="Aptos"/>
                <a:ea typeface="Aptos"/>
                <a:cs typeface="Aptos"/>
              </a:rPr>
              <a:t>Delivery specs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AE0F0A5-54D3-4066-B7B7-098404563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24100"/>
            <a:ext cx="287655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BB7C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9BB7C9"/>
                </a:solidFill>
                <a:latin typeface="Aptos"/>
                <a:ea typeface="Aptos"/>
                <a:cs typeface="Aptos"/>
              </a:rPr>
              <a:t>16:9 backgrounds at 1920x1080 minimum.</a:t>
            </a:r>
          </a:p>
          <a:p xmlns:a="http://schemas.openxmlformats.org/drawingml/2006/main">
            <a:pPr algn="l">
              <a:defRPr sz="1200" b="0">
                <a:solidFill>
                  <a:srgbClr val="9BB7C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9BB7C9"/>
                </a:solidFill>
                <a:latin typeface="Aptos"/>
                <a:ea typeface="Aptos"/>
                <a:cs typeface="Aptos"/>
              </a:rPr>
              <a:t>Foregrounds as transparent PNG/WebP.</a:t>
            </a:r>
          </a:p>
          <a:p xmlns:a="http://schemas.openxmlformats.org/drawingml/2006/main">
            <a:pPr algn="l">
              <a:defRPr sz="1200" b="0">
                <a:solidFill>
                  <a:srgbClr val="9BB7C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9BB7C9"/>
                </a:solidFill>
                <a:latin typeface="Aptos"/>
                <a:ea typeface="Aptos"/>
                <a:cs typeface="Aptos"/>
              </a:rPr>
              <a:t>Keep editable UI text out of images.</a:t>
            </a:r>
          </a:p>
          <a:p xmlns:a="http://schemas.openxmlformats.org/drawingml/2006/main">
            <a:pPr algn="l">
              <a:defRPr sz="1200" b="0">
                <a:solidFill>
                  <a:srgbClr val="9BB7C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9BB7C9"/>
                </a:solidFill>
                <a:latin typeface="Aptos"/>
                <a:ea typeface="Aptos"/>
                <a:cs typeface="Aptos"/>
              </a:rPr>
              <a:t>Avoid modern emoji in final art.</a:t>
            </a:r>
          </a:p>
          <a:p xmlns:a="http://schemas.openxmlformats.org/drawingml/2006/main">
            <a:pPr algn="l">
              <a:defRPr sz="1200" b="0">
                <a:solidFill>
                  <a:srgbClr val="9BB7C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9BB7C9"/>
                </a:solidFill>
                <a:latin typeface="Aptos"/>
                <a:ea typeface="Aptos"/>
                <a:cs typeface="Aptos"/>
              </a:rPr>
              <a:t>Make every asset readable when scaled down.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35D94A4-A876-4284-AB25-AA9BFCE91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809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36B7C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536B7C"/>
                </a:solidFill>
                <a:latin typeface="Aptos Mono"/>
                <a:ea typeface="Aptos Mono"/>
                <a:cs typeface="Aptos Mono"/>
              </a:rPr>
              <a:t>NBS Freshman Quiz storyboard - first draft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BFC40F8-1238-4C90-8302-A5DAB47F5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951140721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8540642-B1F2-40F9-9ADC-2BE6A3F4A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17F9E7-C602-46F7-86F2-3B77B0321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626"/>
          </a:solidFill>
          <a:ln xmlns:a="http://schemas.openxmlformats.org/drawingml/2006/main" w="0">
            <a:solidFill>
              <a:srgbClr val="0A162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1DFF68-7B93-4FA9-9A80-A23FF2084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50F782-5B94-42E8-966F-27A1CC411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7242B8-5152-45FB-8681-E3662B355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F6193A-3119-467B-A918-19D7A9A3F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FC4646-9A50-41A2-9BC3-25DE9A55D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822459-48D0-4594-B1AD-10B8D1F99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493BCE-DEE3-467F-958C-FD3C5729D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F71854-775D-4CC9-AEA8-3E394EBB9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562499-F110-4AFA-825C-EA2356BCE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A4B8E4-B64D-4242-AFF9-67A523EF6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40EACB-7A7B-4F98-B7CD-1560EFBEB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798C87-9889-4B9D-B87D-BB98FCB84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4D32C4-461A-4E94-B0C9-C8D0B481E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61C2CE-6EC4-4E6E-9EAD-986FF32F6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1570B0-F32B-4514-A4C9-F84F0C6FB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895350"/>
            <a:ext cx="9525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12314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F79FC7-FF41-4961-A716-2791BE226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4"/>
          </a:solidFill>
          <a:ln xmlns:a="http://schemas.openxmlformats.org/drawingml/2006/main" w="0">
            <a:solidFill>
              <a:srgbClr val="102D4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DB9A7F-E6E8-456F-A1D6-AD931D973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8288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4"/>
          </a:solidFill>
          <a:ln xmlns:a="http://schemas.openxmlformats.org/drawingml/2006/main" w="0">
            <a:solidFill>
              <a:srgbClr val="102D4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ED9517-F991-479D-9D85-D7D1F3961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5146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4"/>
          </a:solidFill>
          <a:ln xmlns:a="http://schemas.openxmlformats.org/drawingml/2006/main" w="0">
            <a:solidFill>
              <a:srgbClr val="102D4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995024-1507-4B19-BAFA-725BECC1A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2004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4"/>
          </a:solidFill>
          <a:ln xmlns:a="http://schemas.openxmlformats.org/drawingml/2006/main" w="0">
            <a:solidFill>
              <a:srgbClr val="102D4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4DA2E8-426A-4D62-89CF-AB016D55B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8862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4"/>
          </a:solidFill>
          <a:ln xmlns:a="http://schemas.openxmlformats.org/drawingml/2006/main" w="0">
            <a:solidFill>
              <a:srgbClr val="102D4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3C5196-4430-4C19-85F8-1732AA4A8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5720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4"/>
          </a:solidFill>
          <a:ln xmlns:a="http://schemas.openxmlformats.org/drawingml/2006/main" w="0">
            <a:solidFill>
              <a:srgbClr val="102D4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08EE74-D524-476B-AA76-0179EA7CD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2578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4"/>
          </a:solidFill>
          <a:ln xmlns:a="http://schemas.openxmlformats.org/drawingml/2006/main" w="0">
            <a:solidFill>
              <a:srgbClr val="102D4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C2C054-C555-459C-B404-A315CC852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943600"/>
            <a:ext cx="1143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44"/>
          </a:solidFill>
          <a:ln xmlns:a="http://schemas.openxmlformats.org/drawingml/2006/main" w="0">
            <a:solidFill>
              <a:srgbClr val="102D4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083411-1EC3-4CE5-8966-7547CAEAF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UI AND SFX HANDOFF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CF92B9-7A16-47D8-9B3C-E1FEF31C4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7FF"/>
          </a:solidFill>
          <a:ln xmlns:a="http://schemas.openxmlformats.org/drawingml/2006/main" w="0">
            <a:solidFill>
              <a:srgbClr val="35E7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8A9F5F-82D6-474A-86F4-D1AB32026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8191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FB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4FBFF"/>
                </a:solidFill>
                <a:latin typeface="Aptos Display"/>
                <a:ea typeface="Aptos Display"/>
                <a:cs typeface="Aptos Display"/>
              </a:rPr>
              <a:t>The final polish comes from consistent HUD frames, interaction states, and audio cues.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5274EE2-F2A5-4BE2-8AC5-C84345DF4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85900"/>
            <a:ext cx="838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BB7C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BB7C9"/>
                </a:solidFill>
                <a:latin typeface="Aptos"/>
                <a:ea typeface="Aptos"/>
                <a:cs typeface="Aptos"/>
              </a:rPr>
              <a:t>These can be produced after the main scene and artifact assets are approved.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584CE7D-297F-4CB8-9B4D-C1146A9BD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43100"/>
            <a:ext cx="32385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2B"/>
          </a:solidFill>
          <a:ln xmlns:a="http://schemas.openxmlformats.org/drawingml/2006/main" w="11430">
            <a:solidFill>
              <a:srgbClr val="35E7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352C990-34FD-42F3-B468-D41FD71D0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57400"/>
            <a:ext cx="2971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FBFF"/>
                </a:solidFill>
                <a:latin typeface="Aptos"/>
                <a:ea typeface="Aptos"/>
                <a:cs typeface="Aptos"/>
              </a:rPr>
              <a:t>HUD/UI frames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6ACED74-4951-488C-956F-D29999A48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24100"/>
            <a:ext cx="297180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9BB7C9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9BB7C9"/>
                </a:solidFill>
                <a:latin typeface="Aptos"/>
                <a:ea typeface="Aptos"/>
                <a:cs typeface="Aptos"/>
              </a:rPr>
              <a:t>ui-narrative-dialogue-frame</a:t>
            </a:r>
          </a:p>
          <a:p xmlns:a="http://schemas.openxmlformats.org/drawingml/2006/main">
            <a:pPr algn="l">
              <a:defRPr sz="1088" b="0">
                <a:solidFill>
                  <a:srgbClr val="9BB7C9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9BB7C9"/>
                </a:solidFill>
                <a:latin typeface="Aptos"/>
                <a:ea typeface="Aptos"/>
                <a:cs typeface="Aptos"/>
              </a:rPr>
              <a:t>ui-system-hud-info</a:t>
            </a:r>
          </a:p>
          <a:p xmlns:a="http://schemas.openxmlformats.org/drawingml/2006/main">
            <a:pPr algn="l">
              <a:defRPr sz="1088" b="0">
                <a:solidFill>
                  <a:srgbClr val="9BB7C9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9BB7C9"/>
                </a:solidFill>
                <a:latin typeface="Aptos"/>
                <a:ea typeface="Aptos"/>
                <a:cs typeface="Aptos"/>
              </a:rPr>
              <a:t>ui-system-hud-event</a:t>
            </a:r>
          </a:p>
          <a:p xmlns:a="http://schemas.openxmlformats.org/drawingml/2006/main">
            <a:pPr algn="l">
              <a:defRPr sz="1088" b="0">
                <a:solidFill>
                  <a:srgbClr val="9BB7C9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9BB7C9"/>
                </a:solidFill>
                <a:latin typeface="Aptos"/>
                <a:ea typeface="Aptos"/>
                <a:cs typeface="Aptos"/>
              </a:rPr>
              <a:t>ui-system-hud-warning</a:t>
            </a:r>
          </a:p>
          <a:p xmlns:a="http://schemas.openxmlformats.org/drawingml/2006/main">
            <a:pPr algn="l">
              <a:defRPr sz="1088" b="0">
                <a:solidFill>
                  <a:srgbClr val="9BB7C9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9BB7C9"/>
                </a:solidFill>
                <a:latin typeface="Aptos"/>
                <a:ea typeface="Aptos"/>
                <a:cs typeface="Aptos"/>
              </a:rPr>
              <a:t>ui-option-button</a:t>
            </a:r>
          </a:p>
          <a:p xmlns:a="http://schemas.openxmlformats.org/drawingml/2006/main">
            <a:pPr algn="l">
              <a:defRPr sz="1088" b="0">
                <a:solidFill>
                  <a:srgbClr val="9BB7C9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9BB7C9"/>
                </a:solidFill>
                <a:latin typeface="Aptos"/>
                <a:ea typeface="Aptos"/>
                <a:cs typeface="Aptos"/>
              </a:rPr>
              <a:t>ui-quest-status-rail</a:t>
            </a:r>
          </a:p>
          <a:p xmlns:a="http://schemas.openxmlformats.org/drawingml/2006/main">
            <a:pPr algn="l">
              <a:defRPr sz="1088" b="0">
                <a:solidFill>
                  <a:srgbClr val="9BB7C9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9BB7C9"/>
                </a:solidFill>
                <a:latin typeface="Aptos"/>
                <a:ea typeface="Aptos"/>
                <a:cs typeface="Aptos"/>
              </a:rPr>
              <a:t>ui-quest-archive-modal</a:t>
            </a:r>
          </a:p>
          <a:p xmlns:a="http://schemas.openxmlformats.org/drawingml/2006/main">
            <a:pPr algn="l">
              <a:defRPr sz="1088" b="0">
                <a:solidFill>
                  <a:srgbClr val="9BB7C9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9BB7C9"/>
                </a:solidFill>
                <a:latin typeface="Aptos"/>
                <a:ea typeface="Aptos"/>
                <a:cs typeface="Aptos"/>
              </a:rPr>
              <a:t>ui-artifact-token</a:t>
            </a:r>
          </a:p>
          <a:p xmlns:a="http://schemas.openxmlformats.org/drawingml/2006/main">
            <a:pPr algn="l">
              <a:defRPr sz="1088" b="0">
                <a:solidFill>
                  <a:srgbClr val="9BB7C9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9BB7C9"/>
                </a:solidFill>
                <a:latin typeface="Aptos"/>
                <a:ea typeface="Aptos"/>
                <a:cs typeface="Aptos"/>
              </a:rPr>
              <a:t>ui-result-profile-card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D4DA62E-6401-4BD7-AC4A-E67837528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43100"/>
            <a:ext cx="32385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2B"/>
          </a:solidFill>
          <a:ln xmlns:a="http://schemas.openxmlformats.org/drawingml/2006/main" w="11430">
            <a:solidFill>
              <a:srgbClr val="FFD16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CFC4C01-BFB2-478E-9D32-AFB0E04EF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057400"/>
            <a:ext cx="2971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FBFF"/>
                </a:solidFill>
                <a:latin typeface="Aptos"/>
                <a:ea typeface="Aptos"/>
                <a:cs typeface="Aptos"/>
              </a:rPr>
              <a:t>Effect references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0D7E3FB-10E4-4561-8F4D-3C3739A16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324100"/>
            <a:ext cx="297180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9BB7C9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9BB7C9"/>
                </a:solidFill>
                <a:latin typeface="Aptos"/>
                <a:ea typeface="Aptos"/>
                <a:cs typeface="Aptos"/>
              </a:rPr>
              <a:t>System boot scan</a:t>
            </a:r>
          </a:p>
          <a:p xmlns:a="http://schemas.openxmlformats.org/drawingml/2006/main">
            <a:pPr algn="l">
              <a:defRPr sz="1088" b="0">
                <a:solidFill>
                  <a:srgbClr val="9BB7C9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9BB7C9"/>
                </a:solidFill>
                <a:latin typeface="Aptos"/>
                <a:ea typeface="Aptos"/>
                <a:cs typeface="Aptos"/>
              </a:rPr>
              <a:t>Scene crossfade mood</a:t>
            </a:r>
          </a:p>
          <a:p xmlns:a="http://schemas.openxmlformats.org/drawingml/2006/main">
            <a:pPr algn="l">
              <a:defRPr sz="1088" b="0">
                <a:solidFill>
                  <a:srgbClr val="9BB7C9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9BB7C9"/>
                </a:solidFill>
                <a:latin typeface="Aptos"/>
                <a:ea typeface="Aptos"/>
                <a:cs typeface="Aptos"/>
              </a:rPr>
              <a:t>WCY ambient flicker</a:t>
            </a:r>
          </a:p>
          <a:p xmlns:a="http://schemas.openxmlformats.org/drawingml/2006/main">
            <a:pPr algn="l">
              <a:defRPr sz="1088" b="0">
                <a:solidFill>
                  <a:srgbClr val="9BB7C9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9BB7C9"/>
                </a:solidFill>
                <a:latin typeface="Aptos"/>
                <a:ea typeface="Aptos"/>
                <a:cs typeface="Aptos"/>
              </a:rPr>
              <a:t>Few Days Later timeline sync</a:t>
            </a:r>
          </a:p>
          <a:p xmlns:a="http://schemas.openxmlformats.org/drawingml/2006/main">
            <a:pPr algn="l">
              <a:defRPr sz="1088" b="0">
                <a:solidFill>
                  <a:srgbClr val="9BB7C9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9BB7C9"/>
                </a:solidFill>
                <a:latin typeface="Aptos"/>
                <a:ea typeface="Aptos"/>
                <a:cs typeface="Aptos"/>
              </a:rPr>
              <a:t>Reroute glitch</a:t>
            </a:r>
          </a:p>
          <a:p xmlns:a="http://schemas.openxmlformats.org/drawingml/2006/main">
            <a:pPr algn="l">
              <a:defRPr sz="1088" b="0">
                <a:solidFill>
                  <a:srgbClr val="9BB7C9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9BB7C9"/>
                </a:solidFill>
                <a:latin typeface="Aptos"/>
                <a:ea typeface="Aptos"/>
                <a:cs typeface="Aptos"/>
              </a:rPr>
              <a:t>Burnout notification attack</a:t>
            </a:r>
          </a:p>
          <a:p xmlns:a="http://schemas.openxmlformats.org/drawingml/2006/main">
            <a:pPr algn="l">
              <a:defRPr sz="1088" b="0">
                <a:solidFill>
                  <a:srgbClr val="9BB7C9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9BB7C9"/>
                </a:solidFill>
                <a:latin typeface="Aptos"/>
                <a:ea typeface="Aptos"/>
                <a:cs typeface="Aptos"/>
              </a:rPr>
              <a:t>Threat warning shake</a:t>
            </a:r>
          </a:p>
          <a:p xmlns:a="http://schemas.openxmlformats.org/drawingml/2006/main">
            <a:pPr algn="l">
              <a:defRPr sz="1088" b="0">
                <a:solidFill>
                  <a:srgbClr val="9BB7C9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9BB7C9"/>
                </a:solidFill>
                <a:latin typeface="Aptos"/>
                <a:ea typeface="Aptos"/>
                <a:cs typeface="Aptos"/>
              </a:rPr>
              <a:t>Portal pulse</a:t>
            </a:r>
          </a:p>
          <a:p xmlns:a="http://schemas.openxmlformats.org/drawingml/2006/main">
            <a:pPr algn="l">
              <a:defRPr sz="1088" b="0">
                <a:solidFill>
                  <a:srgbClr val="9BB7C9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9BB7C9"/>
                </a:solidFill>
                <a:latin typeface="Aptos"/>
                <a:ea typeface="Aptos"/>
                <a:cs typeface="Aptos"/>
              </a:rPr>
              <a:t>Result reveal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BA0B7F2-BCE7-4873-97ED-42F274EAF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43100"/>
            <a:ext cx="32385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2B"/>
          </a:solidFill>
          <a:ln xmlns:a="http://schemas.openxmlformats.org/drawingml/2006/main" w="11430">
            <a:solidFill>
              <a:srgbClr val="9DFFB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1673605-A3B7-4AF6-92EA-CA2D3BF80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57400"/>
            <a:ext cx="2971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B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FBFF"/>
                </a:solidFill>
                <a:latin typeface="Aptos"/>
                <a:ea typeface="Aptos"/>
                <a:cs typeface="Aptos"/>
              </a:rPr>
              <a:t>SFX list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7B5609B-1432-436D-AC82-26C860F8A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24100"/>
            <a:ext cx="297180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9BB7C9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9BB7C9"/>
                </a:solidFill>
                <a:latin typeface="Aptos"/>
                <a:ea typeface="Aptos"/>
                <a:cs typeface="Aptos"/>
              </a:rPr>
              <a:t>system boot</a:t>
            </a:r>
          </a:p>
          <a:p xmlns:a="http://schemas.openxmlformats.org/drawingml/2006/main">
            <a:pPr algn="l">
              <a:defRPr sz="1088" b="0">
                <a:solidFill>
                  <a:srgbClr val="9BB7C9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9BB7C9"/>
                </a:solidFill>
                <a:latin typeface="Aptos"/>
                <a:ea typeface="Aptos"/>
                <a:cs typeface="Aptos"/>
              </a:rPr>
              <a:t>text beep</a:t>
            </a:r>
          </a:p>
          <a:p xmlns:a="http://schemas.openxmlformats.org/drawingml/2006/main">
            <a:pPr algn="l">
              <a:defRPr sz="1088" b="0">
                <a:solidFill>
                  <a:srgbClr val="9BB7C9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9BB7C9"/>
                </a:solidFill>
                <a:latin typeface="Aptos"/>
                <a:ea typeface="Aptos"/>
                <a:cs typeface="Aptos"/>
              </a:rPr>
              <a:t>option select</a:t>
            </a:r>
          </a:p>
          <a:p xmlns:a="http://schemas.openxmlformats.org/drawingml/2006/main">
            <a:pPr algn="l">
              <a:defRPr sz="1088" b="0">
                <a:solidFill>
                  <a:srgbClr val="9BB7C9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9BB7C9"/>
                </a:solidFill>
                <a:latin typeface="Aptos"/>
                <a:ea typeface="Aptos"/>
                <a:cs typeface="Aptos"/>
              </a:rPr>
              <a:t>quest toast</a:t>
            </a:r>
          </a:p>
          <a:p xmlns:a="http://schemas.openxmlformats.org/drawingml/2006/main">
            <a:pPr algn="l">
              <a:defRPr sz="1088" b="0">
                <a:solidFill>
                  <a:srgbClr val="9BB7C9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9BB7C9"/>
                </a:solidFill>
                <a:latin typeface="Aptos"/>
                <a:ea typeface="Aptos"/>
                <a:cs typeface="Aptos"/>
              </a:rPr>
              <a:t>navigation toast</a:t>
            </a:r>
          </a:p>
          <a:p xmlns:a="http://schemas.openxmlformats.org/drawingml/2006/main">
            <a:pPr algn="l">
              <a:defRPr sz="1088" b="0">
                <a:solidFill>
                  <a:srgbClr val="9BB7C9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9BB7C9"/>
                </a:solidFill>
                <a:latin typeface="Aptos"/>
                <a:ea typeface="Aptos"/>
                <a:cs typeface="Aptos"/>
              </a:rPr>
              <a:t>warning</a:t>
            </a:r>
          </a:p>
          <a:p xmlns:a="http://schemas.openxmlformats.org/drawingml/2006/main">
            <a:pPr algn="l">
              <a:defRPr sz="1088" b="0">
                <a:solidFill>
                  <a:srgbClr val="9BB7C9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9BB7C9"/>
                </a:solidFill>
                <a:latin typeface="Aptos"/>
                <a:ea typeface="Aptos"/>
                <a:cs typeface="Aptos"/>
              </a:rPr>
              <a:t>notification stack</a:t>
            </a:r>
          </a:p>
          <a:p xmlns:a="http://schemas.openxmlformats.org/drawingml/2006/main">
            <a:pPr algn="l">
              <a:defRPr sz="1088" b="0">
                <a:solidFill>
                  <a:srgbClr val="9BB7C9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9BB7C9"/>
                </a:solidFill>
                <a:latin typeface="Aptos"/>
                <a:ea typeface="Aptos"/>
                <a:cs typeface="Aptos"/>
              </a:rPr>
              <a:t>monster spawn</a:t>
            </a:r>
          </a:p>
          <a:p xmlns:a="http://schemas.openxmlformats.org/drawingml/2006/main">
            <a:pPr algn="l">
              <a:defRPr sz="1088" b="0">
                <a:solidFill>
                  <a:srgbClr val="9BB7C9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9BB7C9"/>
                </a:solidFill>
                <a:latin typeface="Aptos"/>
                <a:ea typeface="Aptos"/>
                <a:cs typeface="Aptos"/>
              </a:rPr>
              <a:t>monster disappear</a:t>
            </a:r>
          </a:p>
          <a:p xmlns:a="http://schemas.openxmlformats.org/drawingml/2006/main">
            <a:pPr algn="l">
              <a:defRPr sz="1088" b="0">
                <a:solidFill>
                  <a:srgbClr val="9BB7C9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9BB7C9"/>
                </a:solidFill>
                <a:latin typeface="Aptos"/>
                <a:ea typeface="Aptos"/>
                <a:cs typeface="Aptos"/>
              </a:rPr>
              <a:t>portal open</a:t>
            </a:r>
          </a:p>
          <a:p xmlns:a="http://schemas.openxmlformats.org/drawingml/2006/main">
            <a:pPr algn="l">
              <a:defRPr sz="1088" b="0">
                <a:solidFill>
                  <a:srgbClr val="9BB7C9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9BB7C9"/>
                </a:solidFill>
                <a:latin typeface="Aptos"/>
                <a:ea typeface="Aptos"/>
                <a:cs typeface="Aptos"/>
              </a:rPr>
              <a:t>result reveal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9CB3FFF-940B-4E2C-9404-408B547A4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772150"/>
            <a:ext cx="923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F4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0">
                <a:solidFill>
                  <a:srgbClr val="F4FBFF"/>
                </a:solidFill>
                <a:latin typeface="Aptos Display"/>
                <a:ea typeface="Aptos Display"/>
                <a:cs typeface="Aptos Display"/>
              </a:rPr>
              <a:t>Recommended next step: review this deck with supervisor, lock the final flow, then assign designer work by asset ID.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DBCEB1B-B7EB-445A-8CEC-26993A6AB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809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36B7C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536B7C"/>
                </a:solidFill>
                <a:latin typeface="Aptos Mono"/>
                <a:ea typeface="Aptos Mono"/>
                <a:cs typeface="Aptos Mono"/>
              </a:rPr>
              <a:t>NBS Freshman Quiz storyboard - first draft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C103BDB-308A-4C88-9750-0C1BDF2CE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5E7FF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35E7FF"/>
                </a:solidFill>
                <a:latin typeface="Aptos Mono"/>
                <a:ea typeface="Aptos Mono"/>
                <a:cs typeface="Aptos Mono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3675898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2026-06-11T13:05:24.0630000Z</dcterms:created>
  <dcterms:modified xsi:type="dcterms:W3CDTF">2026-06-11T13:05:24.0630000Z</dcterms:modified>
</coreProperties>
</file>